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FF3FAB-C6B4-48A2-AA39-4A7A18F2585B}" v="288" dt="2025-10-26T09:26:36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矢口勇一" userId="912075d5-8e90-457e-8e5d-489657d52d38" providerId="ADAL" clId="{4FB184D2-FBAD-4CF9-95E9-846A50F32774}"/>
    <pc:docChg chg="custSel delSld modSld">
      <pc:chgData name="矢口勇一" userId="912075d5-8e90-457e-8e5d-489657d52d38" providerId="ADAL" clId="{4FB184D2-FBAD-4CF9-95E9-846A50F32774}" dt="2025-10-22T00:56:57.347" v="31" actId="20577"/>
      <pc:docMkLst>
        <pc:docMk/>
      </pc:docMkLst>
      <pc:sldChg chg="modSp mod">
        <pc:chgData name="矢口勇一" userId="912075d5-8e90-457e-8e5d-489657d52d38" providerId="ADAL" clId="{4FB184D2-FBAD-4CF9-95E9-846A50F32774}" dt="2025-10-22T00:56:57.347" v="31" actId="20577"/>
        <pc:sldMkLst>
          <pc:docMk/>
          <pc:sldMk cId="409426368" sldId="258"/>
        </pc:sldMkLst>
        <pc:spChg chg="mod">
          <ac:chgData name="矢口勇一" userId="912075d5-8e90-457e-8e5d-489657d52d38" providerId="ADAL" clId="{4FB184D2-FBAD-4CF9-95E9-846A50F32774}" dt="2025-10-22T00:56:57.347" v="31" actId="20577"/>
          <ac:spMkLst>
            <pc:docMk/>
            <pc:sldMk cId="409426368" sldId="258"/>
            <ac:spMk id="3" creationId="{4F2E0356-A0E4-3154-FF8D-59106A4ADBC3}"/>
          </ac:spMkLst>
        </pc:spChg>
      </pc:sldChg>
      <pc:sldChg chg="delSp modSp del mod">
        <pc:chgData name="矢口勇一" userId="912075d5-8e90-457e-8e5d-489657d52d38" providerId="ADAL" clId="{4FB184D2-FBAD-4CF9-95E9-846A50F32774}" dt="2025-10-22T00:56:28.097" v="2" actId="47"/>
        <pc:sldMkLst>
          <pc:docMk/>
          <pc:sldMk cId="1239887232" sldId="260"/>
        </pc:sldMkLst>
        <pc:spChg chg="del mod">
          <ac:chgData name="矢口勇一" userId="912075d5-8e90-457e-8e5d-489657d52d38" providerId="ADAL" clId="{4FB184D2-FBAD-4CF9-95E9-846A50F32774}" dt="2025-10-22T00:56:26.009" v="1" actId="478"/>
          <ac:spMkLst>
            <pc:docMk/>
            <pc:sldMk cId="1239887232" sldId="260"/>
            <ac:spMk id="4" creationId="{65A9A877-E93B-B24D-C7F6-FB2EDFEE4215}"/>
          </ac:spMkLst>
        </pc:spChg>
      </pc:sldChg>
    </pc:docChg>
  </pc:docChgLst>
  <pc:docChgLst>
    <pc:chgData name="矢口勇一" userId="912075d5-8e90-457e-8e5d-489657d52d38" providerId="ADAL" clId="{85AA8867-8CB9-4548-8D55-5814589BB9F7}"/>
    <pc:docChg chg="undo custSel addSld delSld modSld">
      <pc:chgData name="矢口勇一" userId="912075d5-8e90-457e-8e5d-489657d52d38" providerId="ADAL" clId="{85AA8867-8CB9-4548-8D55-5814589BB9F7}" dt="2025-10-26T09:26:36.973" v="301" actId="47"/>
      <pc:docMkLst>
        <pc:docMk/>
      </pc:docMkLst>
      <pc:sldChg chg="addSp modSp new mod">
        <pc:chgData name="矢口勇一" userId="912075d5-8e90-457e-8e5d-489657d52d38" providerId="ADAL" clId="{85AA8867-8CB9-4548-8D55-5814589BB9F7}" dt="2025-10-26T09:07:42.572" v="60" actId="1076"/>
        <pc:sldMkLst>
          <pc:docMk/>
          <pc:sldMk cId="3616468325" sldId="281"/>
        </pc:sldMkLst>
        <pc:spChg chg="mod">
          <ac:chgData name="矢口勇一" userId="912075d5-8e90-457e-8e5d-489657d52d38" providerId="ADAL" clId="{85AA8867-8CB9-4548-8D55-5814589BB9F7}" dt="2025-10-26T09:05:17.031" v="35" actId="20577"/>
          <ac:spMkLst>
            <pc:docMk/>
            <pc:sldMk cId="3616468325" sldId="281"/>
            <ac:spMk id="2" creationId="{093E3B1E-2C96-3FA8-1779-574A508E6939}"/>
          </ac:spMkLst>
        </pc:spChg>
        <pc:spChg chg="mod">
          <ac:chgData name="矢口勇一" userId="912075d5-8e90-457e-8e5d-489657d52d38" providerId="ADAL" clId="{85AA8867-8CB9-4548-8D55-5814589BB9F7}" dt="2025-10-26T09:07:26.207" v="53" actId="27636"/>
          <ac:spMkLst>
            <pc:docMk/>
            <pc:sldMk cId="3616468325" sldId="281"/>
            <ac:spMk id="3" creationId="{181F5AF0-B887-6EBD-F305-0B9D489156CE}"/>
          </ac:spMkLst>
        </pc:spChg>
        <pc:spChg chg="add mod">
          <ac:chgData name="矢口勇一" userId="912075d5-8e90-457e-8e5d-489657d52d38" providerId="ADAL" clId="{85AA8867-8CB9-4548-8D55-5814589BB9F7}" dt="2025-10-26T09:07:42.572" v="60" actId="1076"/>
          <ac:spMkLst>
            <pc:docMk/>
            <pc:sldMk cId="3616468325" sldId="281"/>
            <ac:spMk id="4" creationId="{F035BB03-29C5-1A3A-5C6A-080D07E0988D}"/>
          </ac:spMkLst>
        </pc:spChg>
      </pc:sldChg>
      <pc:sldChg chg="addSp modSp new mod">
        <pc:chgData name="矢口勇一" userId="912075d5-8e90-457e-8e5d-489657d52d38" providerId="ADAL" clId="{85AA8867-8CB9-4548-8D55-5814589BB9F7}" dt="2025-10-26T09:08:41.828" v="76" actId="1076"/>
        <pc:sldMkLst>
          <pc:docMk/>
          <pc:sldMk cId="2072183438" sldId="282"/>
        </pc:sldMkLst>
        <pc:spChg chg="mod">
          <ac:chgData name="矢口勇一" userId="912075d5-8e90-457e-8e5d-489657d52d38" providerId="ADAL" clId="{85AA8867-8CB9-4548-8D55-5814589BB9F7}" dt="2025-10-26T09:07:56.585" v="62"/>
          <ac:spMkLst>
            <pc:docMk/>
            <pc:sldMk cId="2072183438" sldId="282"/>
            <ac:spMk id="2" creationId="{497530FB-3CC8-2135-1E9C-B9B3E9508E9C}"/>
          </ac:spMkLst>
        </pc:spChg>
        <pc:spChg chg="mod">
          <ac:chgData name="矢口勇一" userId="912075d5-8e90-457e-8e5d-489657d52d38" providerId="ADAL" clId="{85AA8867-8CB9-4548-8D55-5814589BB9F7}" dt="2025-10-26T09:08:10.755" v="69" actId="27636"/>
          <ac:spMkLst>
            <pc:docMk/>
            <pc:sldMk cId="2072183438" sldId="282"/>
            <ac:spMk id="3" creationId="{E8808E22-1779-2AFE-AB08-2DA97DC93FF7}"/>
          </ac:spMkLst>
        </pc:spChg>
        <pc:spChg chg="add mod">
          <ac:chgData name="矢口勇一" userId="912075d5-8e90-457e-8e5d-489657d52d38" providerId="ADAL" clId="{85AA8867-8CB9-4548-8D55-5814589BB9F7}" dt="2025-10-26T09:08:41.828" v="76" actId="1076"/>
          <ac:spMkLst>
            <pc:docMk/>
            <pc:sldMk cId="2072183438" sldId="282"/>
            <ac:spMk id="4" creationId="{3C09E4C8-9888-2E9E-7698-4002CAE8E6CC}"/>
          </ac:spMkLst>
        </pc:spChg>
      </pc:sldChg>
      <pc:sldChg chg="addSp delSp modSp new mod">
        <pc:chgData name="矢口勇一" userId="912075d5-8e90-457e-8e5d-489657d52d38" providerId="ADAL" clId="{85AA8867-8CB9-4548-8D55-5814589BB9F7}" dt="2025-10-26T09:14:33.637" v="86"/>
        <pc:sldMkLst>
          <pc:docMk/>
          <pc:sldMk cId="950136552" sldId="283"/>
        </pc:sldMkLst>
        <pc:spChg chg="mod">
          <ac:chgData name="矢口勇一" userId="912075d5-8e90-457e-8e5d-489657d52d38" providerId="ADAL" clId="{85AA8867-8CB9-4548-8D55-5814589BB9F7}" dt="2025-10-26T09:09:03.058" v="80"/>
          <ac:spMkLst>
            <pc:docMk/>
            <pc:sldMk cId="950136552" sldId="283"/>
            <ac:spMk id="2" creationId="{2BFAEDE2-4CF6-226F-9B00-5F4F80E02CED}"/>
          </ac:spMkLst>
        </pc:spChg>
        <pc:spChg chg="mod">
          <ac:chgData name="矢口勇一" userId="912075d5-8e90-457e-8e5d-489657d52d38" providerId="ADAL" clId="{85AA8867-8CB9-4548-8D55-5814589BB9F7}" dt="2025-10-26T09:09:12.215" v="84" actId="27636"/>
          <ac:spMkLst>
            <pc:docMk/>
            <pc:sldMk cId="950136552" sldId="283"/>
            <ac:spMk id="3" creationId="{42667F64-3AAD-AC8C-6215-5B20558AFA78}"/>
          </ac:spMkLst>
        </pc:spChg>
        <pc:spChg chg="add del">
          <ac:chgData name="矢口勇一" userId="912075d5-8e90-457e-8e5d-489657d52d38" providerId="ADAL" clId="{85AA8867-8CB9-4548-8D55-5814589BB9F7}" dt="2025-10-26T09:09:02.494" v="79" actId="22"/>
          <ac:spMkLst>
            <pc:docMk/>
            <pc:sldMk cId="950136552" sldId="283"/>
            <ac:spMk id="5" creationId="{B3999873-2FC5-8ABD-6097-6D79A004D1A3}"/>
          </ac:spMkLst>
        </pc:spChg>
        <pc:spChg chg="add mod">
          <ac:chgData name="矢口勇一" userId="912075d5-8e90-457e-8e5d-489657d52d38" providerId="ADAL" clId="{85AA8867-8CB9-4548-8D55-5814589BB9F7}" dt="2025-10-26T09:14:33.637" v="86"/>
          <ac:spMkLst>
            <pc:docMk/>
            <pc:sldMk cId="950136552" sldId="283"/>
            <ac:spMk id="6" creationId="{AD886837-709A-0032-074E-13C98CAC9A27}"/>
          </ac:spMkLst>
        </pc:spChg>
      </pc:sldChg>
      <pc:sldChg chg="addSp modSp new mod">
        <pc:chgData name="矢口勇一" userId="912075d5-8e90-457e-8e5d-489657d52d38" providerId="ADAL" clId="{85AA8867-8CB9-4548-8D55-5814589BB9F7}" dt="2025-10-26T09:15:14.512" v="114" actId="1076"/>
        <pc:sldMkLst>
          <pc:docMk/>
          <pc:sldMk cId="2227622789" sldId="284"/>
        </pc:sldMkLst>
        <pc:spChg chg="mod">
          <ac:chgData name="矢口勇一" userId="912075d5-8e90-457e-8e5d-489657d52d38" providerId="ADAL" clId="{85AA8867-8CB9-4548-8D55-5814589BB9F7}" dt="2025-10-26T09:14:43.556" v="109" actId="20577"/>
          <ac:spMkLst>
            <pc:docMk/>
            <pc:sldMk cId="2227622789" sldId="284"/>
            <ac:spMk id="2" creationId="{2D6F99B0-F62B-0B7F-4902-562D4099921A}"/>
          </ac:spMkLst>
        </pc:spChg>
        <pc:spChg chg="mod">
          <ac:chgData name="矢口勇一" userId="912075d5-8e90-457e-8e5d-489657d52d38" providerId="ADAL" clId="{85AA8867-8CB9-4548-8D55-5814589BB9F7}" dt="2025-10-26T09:14:50.448" v="111" actId="5793"/>
          <ac:spMkLst>
            <pc:docMk/>
            <pc:sldMk cId="2227622789" sldId="284"/>
            <ac:spMk id="3" creationId="{231D97C6-1398-0546-E771-41658541986A}"/>
          </ac:spMkLst>
        </pc:spChg>
        <pc:spChg chg="add mod">
          <ac:chgData name="矢口勇一" userId="912075d5-8e90-457e-8e5d-489657d52d38" providerId="ADAL" clId="{85AA8867-8CB9-4548-8D55-5814589BB9F7}" dt="2025-10-26T09:15:14.512" v="114" actId="1076"/>
          <ac:spMkLst>
            <pc:docMk/>
            <pc:sldMk cId="2227622789" sldId="284"/>
            <ac:spMk id="4" creationId="{37FD1C60-8D37-E3F1-2ADE-5323E6DA103B}"/>
          </ac:spMkLst>
        </pc:spChg>
      </pc:sldChg>
      <pc:sldChg chg="modSp new mod">
        <pc:chgData name="矢口勇一" userId="912075d5-8e90-457e-8e5d-489657d52d38" providerId="ADAL" clId="{85AA8867-8CB9-4548-8D55-5814589BB9F7}" dt="2025-10-26T09:15:32.168" v="118" actId="5793"/>
        <pc:sldMkLst>
          <pc:docMk/>
          <pc:sldMk cId="725441940" sldId="285"/>
        </pc:sldMkLst>
        <pc:spChg chg="mod">
          <ac:chgData name="矢口勇一" userId="912075d5-8e90-457e-8e5d-489657d52d38" providerId="ADAL" clId="{85AA8867-8CB9-4548-8D55-5814589BB9F7}" dt="2025-10-26T09:15:26.355" v="116"/>
          <ac:spMkLst>
            <pc:docMk/>
            <pc:sldMk cId="725441940" sldId="285"/>
            <ac:spMk id="2" creationId="{FFD540A5-BA74-B484-9E3A-61D1DD04C030}"/>
          </ac:spMkLst>
        </pc:spChg>
        <pc:spChg chg="mod">
          <ac:chgData name="矢口勇一" userId="912075d5-8e90-457e-8e5d-489657d52d38" providerId="ADAL" clId="{85AA8867-8CB9-4548-8D55-5814589BB9F7}" dt="2025-10-26T09:15:32.168" v="118" actId="5793"/>
          <ac:spMkLst>
            <pc:docMk/>
            <pc:sldMk cId="725441940" sldId="285"/>
            <ac:spMk id="3" creationId="{17C999D6-3266-C247-B328-3AE50004985E}"/>
          </ac:spMkLst>
        </pc:spChg>
      </pc:sldChg>
      <pc:sldChg chg="modSp new mod">
        <pc:chgData name="矢口勇一" userId="912075d5-8e90-457e-8e5d-489657d52d38" providerId="ADAL" clId="{85AA8867-8CB9-4548-8D55-5814589BB9F7}" dt="2025-10-26T09:15:55.136" v="128" actId="5793"/>
        <pc:sldMkLst>
          <pc:docMk/>
          <pc:sldMk cId="3304317439" sldId="286"/>
        </pc:sldMkLst>
        <pc:spChg chg="mod">
          <ac:chgData name="矢口勇一" userId="912075d5-8e90-457e-8e5d-489657d52d38" providerId="ADAL" clId="{85AA8867-8CB9-4548-8D55-5814589BB9F7}" dt="2025-10-26T09:15:48.403" v="126" actId="20577"/>
          <ac:spMkLst>
            <pc:docMk/>
            <pc:sldMk cId="3304317439" sldId="286"/>
            <ac:spMk id="2" creationId="{9FA31982-929A-91A6-00F9-4BE084181913}"/>
          </ac:spMkLst>
        </pc:spChg>
        <pc:spChg chg="mod">
          <ac:chgData name="矢口勇一" userId="912075d5-8e90-457e-8e5d-489657d52d38" providerId="ADAL" clId="{85AA8867-8CB9-4548-8D55-5814589BB9F7}" dt="2025-10-26T09:15:55.136" v="128" actId="5793"/>
          <ac:spMkLst>
            <pc:docMk/>
            <pc:sldMk cId="3304317439" sldId="286"/>
            <ac:spMk id="3" creationId="{2E865B3F-C1C6-75E0-0D84-A09F6BE7FF90}"/>
          </ac:spMkLst>
        </pc:spChg>
      </pc:sldChg>
      <pc:sldChg chg="addSp delSp modSp new mod">
        <pc:chgData name="矢口勇一" userId="912075d5-8e90-457e-8e5d-489657d52d38" providerId="ADAL" clId="{85AA8867-8CB9-4548-8D55-5814589BB9F7}" dt="2025-10-26T09:17:00.460" v="142" actId="1076"/>
        <pc:sldMkLst>
          <pc:docMk/>
          <pc:sldMk cId="1787260698" sldId="287"/>
        </pc:sldMkLst>
        <pc:spChg chg="mod">
          <ac:chgData name="矢口勇一" userId="912075d5-8e90-457e-8e5d-489657d52d38" providerId="ADAL" clId="{85AA8867-8CB9-4548-8D55-5814589BB9F7}" dt="2025-10-26T09:16:12.492" v="130"/>
          <ac:spMkLst>
            <pc:docMk/>
            <pc:sldMk cId="1787260698" sldId="287"/>
            <ac:spMk id="2" creationId="{BB8DF01A-DB67-09E3-27F3-4042FEDD4E5C}"/>
          </ac:spMkLst>
        </pc:spChg>
        <pc:spChg chg="del">
          <ac:chgData name="矢口勇一" userId="912075d5-8e90-457e-8e5d-489657d52d38" providerId="ADAL" clId="{85AA8867-8CB9-4548-8D55-5814589BB9F7}" dt="2025-10-26T09:16:17.021" v="131"/>
          <ac:spMkLst>
            <pc:docMk/>
            <pc:sldMk cId="1787260698" sldId="287"/>
            <ac:spMk id="3" creationId="{41D90C17-7DF4-77BF-CDAB-1D5D219E6A63}"/>
          </ac:spMkLst>
        </pc:spChg>
        <pc:spChg chg="add mod">
          <ac:chgData name="矢口勇一" userId="912075d5-8e90-457e-8e5d-489657d52d38" providerId="ADAL" clId="{85AA8867-8CB9-4548-8D55-5814589BB9F7}" dt="2025-10-26T09:17:00.460" v="142" actId="1076"/>
          <ac:spMkLst>
            <pc:docMk/>
            <pc:sldMk cId="1787260698" sldId="287"/>
            <ac:spMk id="5" creationId="{B51710D7-4164-9528-0B13-F3A7889C5051}"/>
          </ac:spMkLst>
        </pc:spChg>
        <pc:graphicFrameChg chg="add mod modGraphic">
          <ac:chgData name="矢口勇一" userId="912075d5-8e90-457e-8e5d-489657d52d38" providerId="ADAL" clId="{85AA8867-8CB9-4548-8D55-5814589BB9F7}" dt="2025-10-26T09:16:41.172" v="139" actId="1076"/>
          <ac:graphicFrameMkLst>
            <pc:docMk/>
            <pc:sldMk cId="1787260698" sldId="287"/>
            <ac:graphicFrameMk id="4" creationId="{FFDA5C51-6801-43AC-2D71-1BBDA5928BC5}"/>
          </ac:graphicFrameMkLst>
        </pc:graphicFrameChg>
      </pc:sldChg>
      <pc:sldChg chg="addSp modSp new mod">
        <pc:chgData name="矢口勇一" userId="912075d5-8e90-457e-8e5d-489657d52d38" providerId="ADAL" clId="{85AA8867-8CB9-4548-8D55-5814589BB9F7}" dt="2025-10-26T09:17:28.920" v="149" actId="1076"/>
        <pc:sldMkLst>
          <pc:docMk/>
          <pc:sldMk cId="1373606914" sldId="288"/>
        </pc:sldMkLst>
        <pc:spChg chg="mod">
          <ac:chgData name="矢口勇一" userId="912075d5-8e90-457e-8e5d-489657d52d38" providerId="ADAL" clId="{85AA8867-8CB9-4548-8D55-5814589BB9F7}" dt="2025-10-26T09:17:11.916" v="144"/>
          <ac:spMkLst>
            <pc:docMk/>
            <pc:sldMk cId="1373606914" sldId="288"/>
            <ac:spMk id="2" creationId="{E9DA9277-0036-AD2D-AA56-DEAEC4D2E0FF}"/>
          </ac:spMkLst>
        </pc:spChg>
        <pc:spChg chg="mod">
          <ac:chgData name="矢口勇一" userId="912075d5-8e90-457e-8e5d-489657d52d38" providerId="ADAL" clId="{85AA8867-8CB9-4548-8D55-5814589BB9F7}" dt="2025-10-26T09:17:17.871" v="146" actId="5793"/>
          <ac:spMkLst>
            <pc:docMk/>
            <pc:sldMk cId="1373606914" sldId="288"/>
            <ac:spMk id="3" creationId="{20492559-8D53-EA48-A445-10A4C7CECE9A}"/>
          </ac:spMkLst>
        </pc:spChg>
        <pc:spChg chg="add mod">
          <ac:chgData name="矢口勇一" userId="912075d5-8e90-457e-8e5d-489657d52d38" providerId="ADAL" clId="{85AA8867-8CB9-4548-8D55-5814589BB9F7}" dt="2025-10-26T09:17:28.920" v="149" actId="1076"/>
          <ac:spMkLst>
            <pc:docMk/>
            <pc:sldMk cId="1373606914" sldId="288"/>
            <ac:spMk id="4" creationId="{5F8017F4-6452-1131-67D6-08002ECD15D2}"/>
          </ac:spMkLst>
        </pc:spChg>
      </pc:sldChg>
      <pc:sldChg chg="addSp modSp new mod">
        <pc:chgData name="矢口勇一" userId="912075d5-8e90-457e-8e5d-489657d52d38" providerId="ADAL" clId="{85AA8867-8CB9-4548-8D55-5814589BB9F7}" dt="2025-10-26T09:18:07.151" v="159"/>
        <pc:sldMkLst>
          <pc:docMk/>
          <pc:sldMk cId="2232769936" sldId="289"/>
        </pc:sldMkLst>
        <pc:spChg chg="mod">
          <ac:chgData name="矢口勇一" userId="912075d5-8e90-457e-8e5d-489657d52d38" providerId="ADAL" clId="{85AA8867-8CB9-4548-8D55-5814589BB9F7}" dt="2025-10-26T09:17:42.924" v="154"/>
          <ac:spMkLst>
            <pc:docMk/>
            <pc:sldMk cId="2232769936" sldId="289"/>
            <ac:spMk id="2" creationId="{9DB7435A-6295-EAF6-E20F-AB1413209861}"/>
          </ac:spMkLst>
        </pc:spChg>
        <pc:spChg chg="mod">
          <ac:chgData name="矢口勇一" userId="912075d5-8e90-457e-8e5d-489657d52d38" providerId="ADAL" clId="{85AA8867-8CB9-4548-8D55-5814589BB9F7}" dt="2025-10-26T09:17:56.407" v="157" actId="5793"/>
          <ac:spMkLst>
            <pc:docMk/>
            <pc:sldMk cId="2232769936" sldId="289"/>
            <ac:spMk id="3" creationId="{36B4FC05-B13F-962C-AE3E-CFBEE85FC09A}"/>
          </ac:spMkLst>
        </pc:spChg>
        <pc:spChg chg="add mod">
          <ac:chgData name="矢口勇一" userId="912075d5-8e90-457e-8e5d-489657d52d38" providerId="ADAL" clId="{85AA8867-8CB9-4548-8D55-5814589BB9F7}" dt="2025-10-26T09:18:07.151" v="159"/>
          <ac:spMkLst>
            <pc:docMk/>
            <pc:sldMk cId="2232769936" sldId="289"/>
            <ac:spMk id="4" creationId="{11ADDE4F-D40A-B997-D05E-A98AB987570B}"/>
          </ac:spMkLst>
        </pc:spChg>
      </pc:sldChg>
      <pc:sldChg chg="addSp delSp modSp new mod">
        <pc:chgData name="矢口勇一" userId="912075d5-8e90-457e-8e5d-489657d52d38" providerId="ADAL" clId="{85AA8867-8CB9-4548-8D55-5814589BB9F7}" dt="2025-10-26T09:22:19.750" v="254" actId="20577"/>
        <pc:sldMkLst>
          <pc:docMk/>
          <pc:sldMk cId="4238611135" sldId="290"/>
        </pc:sldMkLst>
        <pc:spChg chg="mod">
          <ac:chgData name="矢口勇一" userId="912075d5-8e90-457e-8e5d-489657d52d38" providerId="ADAL" clId="{85AA8867-8CB9-4548-8D55-5814589BB9F7}" dt="2025-10-26T09:21:47.229" v="251" actId="20577"/>
          <ac:spMkLst>
            <pc:docMk/>
            <pc:sldMk cId="4238611135" sldId="290"/>
            <ac:spMk id="2" creationId="{F3F62A96-D289-3F0E-3CD6-80D63E7D5370}"/>
          </ac:spMkLst>
        </pc:spChg>
        <pc:spChg chg="del">
          <ac:chgData name="矢口勇一" userId="912075d5-8e90-457e-8e5d-489657d52d38" providerId="ADAL" clId="{85AA8867-8CB9-4548-8D55-5814589BB9F7}" dt="2025-10-26T09:19:28.905" v="161"/>
          <ac:spMkLst>
            <pc:docMk/>
            <pc:sldMk cId="4238611135" sldId="290"/>
            <ac:spMk id="3" creationId="{4D3CA4AB-68EE-14B2-E285-F258400E39CB}"/>
          </ac:spMkLst>
        </pc:spChg>
        <pc:spChg chg="add mod">
          <ac:chgData name="矢口勇一" userId="912075d5-8e90-457e-8e5d-489657d52d38" providerId="ADAL" clId="{85AA8867-8CB9-4548-8D55-5814589BB9F7}" dt="2025-10-26T09:19:28.905" v="161"/>
          <ac:spMkLst>
            <pc:docMk/>
            <pc:sldMk cId="4238611135" sldId="290"/>
            <ac:spMk id="5" creationId="{EA7C6BFC-B87E-9D94-2160-1F86D297B677}"/>
          </ac:spMkLst>
        </pc:spChg>
        <pc:spChg chg="add mod">
          <ac:chgData name="矢口勇一" userId="912075d5-8e90-457e-8e5d-489657d52d38" providerId="ADAL" clId="{85AA8867-8CB9-4548-8D55-5814589BB9F7}" dt="2025-10-26T09:21:32.752" v="200" actId="1076"/>
          <ac:spMkLst>
            <pc:docMk/>
            <pc:sldMk cId="4238611135" sldId="290"/>
            <ac:spMk id="7" creationId="{098C8772-B021-5F5A-64B3-02767720412F}"/>
          </ac:spMkLst>
        </pc:spChg>
        <pc:spChg chg="add mod">
          <ac:chgData name="矢口勇一" userId="912075d5-8e90-457e-8e5d-489657d52d38" providerId="ADAL" clId="{85AA8867-8CB9-4548-8D55-5814589BB9F7}" dt="2025-10-26T09:21:38.705" v="208" actId="20577"/>
          <ac:spMkLst>
            <pc:docMk/>
            <pc:sldMk cId="4238611135" sldId="290"/>
            <ac:spMk id="8" creationId="{0E26AF3B-9A9C-9D1F-E107-CD325C9A8813}"/>
          </ac:spMkLst>
        </pc:spChg>
        <pc:spChg chg="add mod">
          <ac:chgData name="矢口勇一" userId="912075d5-8e90-457e-8e5d-489657d52d38" providerId="ADAL" clId="{85AA8867-8CB9-4548-8D55-5814589BB9F7}" dt="2025-10-26T09:22:19.750" v="254" actId="20577"/>
          <ac:spMkLst>
            <pc:docMk/>
            <pc:sldMk cId="4238611135" sldId="290"/>
            <ac:spMk id="10" creationId="{E6E915FD-6679-EF57-04E8-EEDA1FDC12D9}"/>
          </ac:spMkLst>
        </pc:spChg>
        <pc:graphicFrameChg chg="add mod modGraphic">
          <ac:chgData name="矢口勇一" userId="912075d5-8e90-457e-8e5d-489657d52d38" providerId="ADAL" clId="{85AA8867-8CB9-4548-8D55-5814589BB9F7}" dt="2025-10-26T09:21:11.922" v="183" actId="14100"/>
          <ac:graphicFrameMkLst>
            <pc:docMk/>
            <pc:sldMk cId="4238611135" sldId="290"/>
            <ac:graphicFrameMk id="4" creationId="{31271374-8C71-D4D7-6EF7-465A6B248914}"/>
          </ac:graphicFrameMkLst>
        </pc:graphicFrameChg>
        <pc:graphicFrameChg chg="add mod modGraphic">
          <ac:chgData name="矢口勇一" userId="912075d5-8e90-457e-8e5d-489657d52d38" providerId="ADAL" clId="{85AA8867-8CB9-4548-8D55-5814589BB9F7}" dt="2025-10-26T09:21:18.643" v="185" actId="14100"/>
          <ac:graphicFrameMkLst>
            <pc:docMk/>
            <pc:sldMk cId="4238611135" sldId="290"/>
            <ac:graphicFrameMk id="6" creationId="{8778BAA5-E275-16EB-BA61-8F9686F93F1B}"/>
          </ac:graphicFrameMkLst>
        </pc:graphicFrameChg>
      </pc:sldChg>
      <pc:sldChg chg="addSp modSp new mod">
        <pc:chgData name="矢口勇一" userId="912075d5-8e90-457e-8e5d-489657d52d38" providerId="ADAL" clId="{85AA8867-8CB9-4548-8D55-5814589BB9F7}" dt="2025-10-26T09:23:32.176" v="266"/>
        <pc:sldMkLst>
          <pc:docMk/>
          <pc:sldMk cId="1382813194" sldId="291"/>
        </pc:sldMkLst>
        <pc:spChg chg="mod">
          <ac:chgData name="矢口勇一" userId="912075d5-8e90-457e-8e5d-489657d52d38" providerId="ADAL" clId="{85AA8867-8CB9-4548-8D55-5814589BB9F7}" dt="2025-10-26T09:23:03.795" v="256"/>
          <ac:spMkLst>
            <pc:docMk/>
            <pc:sldMk cId="1382813194" sldId="291"/>
            <ac:spMk id="2" creationId="{B2BA1A71-6FAD-5C89-0DF7-6501B849EE63}"/>
          </ac:spMkLst>
        </pc:spChg>
        <pc:spChg chg="mod">
          <ac:chgData name="矢口勇一" userId="912075d5-8e90-457e-8e5d-489657d52d38" providerId="ADAL" clId="{85AA8867-8CB9-4548-8D55-5814589BB9F7}" dt="2025-10-26T09:23:23.770" v="264"/>
          <ac:spMkLst>
            <pc:docMk/>
            <pc:sldMk cId="1382813194" sldId="291"/>
            <ac:spMk id="3" creationId="{7D0B54D2-E244-9DEE-9BB4-50C66EDA162B}"/>
          </ac:spMkLst>
        </pc:spChg>
        <pc:spChg chg="add mod">
          <ac:chgData name="矢口勇一" userId="912075d5-8e90-457e-8e5d-489657d52d38" providerId="ADAL" clId="{85AA8867-8CB9-4548-8D55-5814589BB9F7}" dt="2025-10-26T09:23:32.176" v="266"/>
          <ac:spMkLst>
            <pc:docMk/>
            <pc:sldMk cId="1382813194" sldId="291"/>
            <ac:spMk id="4" creationId="{C4BEBCEF-88DD-69A9-9F27-146EC9CA01FD}"/>
          </ac:spMkLst>
        </pc:spChg>
      </pc:sldChg>
      <pc:sldChg chg="addSp modSp new mod">
        <pc:chgData name="矢口勇一" userId="912075d5-8e90-457e-8e5d-489657d52d38" providerId="ADAL" clId="{85AA8867-8CB9-4548-8D55-5814589BB9F7}" dt="2025-10-26T09:24:31.226" v="280" actId="1076"/>
        <pc:sldMkLst>
          <pc:docMk/>
          <pc:sldMk cId="949417914" sldId="292"/>
        </pc:sldMkLst>
        <pc:spChg chg="mod">
          <ac:chgData name="矢口勇一" userId="912075d5-8e90-457e-8e5d-489657d52d38" providerId="ADAL" clId="{85AA8867-8CB9-4548-8D55-5814589BB9F7}" dt="2025-10-26T09:23:51.977" v="268"/>
          <ac:spMkLst>
            <pc:docMk/>
            <pc:sldMk cId="949417914" sldId="292"/>
            <ac:spMk id="2" creationId="{662D1E34-7E7F-7E43-4913-E8B5AB48A813}"/>
          </ac:spMkLst>
        </pc:spChg>
        <pc:spChg chg="mod">
          <ac:chgData name="矢口勇一" userId="912075d5-8e90-457e-8e5d-489657d52d38" providerId="ADAL" clId="{85AA8867-8CB9-4548-8D55-5814589BB9F7}" dt="2025-10-26T09:24:04.350" v="272" actId="27636"/>
          <ac:spMkLst>
            <pc:docMk/>
            <pc:sldMk cId="949417914" sldId="292"/>
            <ac:spMk id="3" creationId="{64FB3131-E7CD-AF8B-DBD9-D9E42B8D82B0}"/>
          </ac:spMkLst>
        </pc:spChg>
        <pc:spChg chg="add mod">
          <ac:chgData name="矢口勇一" userId="912075d5-8e90-457e-8e5d-489657d52d38" providerId="ADAL" clId="{85AA8867-8CB9-4548-8D55-5814589BB9F7}" dt="2025-10-26T09:24:31.226" v="280" actId="1076"/>
          <ac:spMkLst>
            <pc:docMk/>
            <pc:sldMk cId="949417914" sldId="292"/>
            <ac:spMk id="4" creationId="{DD9E22D4-994D-971F-43E2-221FEA746629}"/>
          </ac:spMkLst>
        </pc:spChg>
      </pc:sldChg>
      <pc:sldChg chg="addSp delSp modSp new mod">
        <pc:chgData name="矢口勇一" userId="912075d5-8e90-457e-8e5d-489657d52d38" providerId="ADAL" clId="{85AA8867-8CB9-4548-8D55-5814589BB9F7}" dt="2025-10-26T09:25:35.253" v="291" actId="1076"/>
        <pc:sldMkLst>
          <pc:docMk/>
          <pc:sldMk cId="2069670443" sldId="293"/>
        </pc:sldMkLst>
        <pc:spChg chg="mod">
          <ac:chgData name="矢口勇一" userId="912075d5-8e90-457e-8e5d-489657d52d38" providerId="ADAL" clId="{85AA8867-8CB9-4548-8D55-5814589BB9F7}" dt="2025-10-26T09:24:46.931" v="282"/>
          <ac:spMkLst>
            <pc:docMk/>
            <pc:sldMk cId="2069670443" sldId="293"/>
            <ac:spMk id="2" creationId="{6966505B-389F-C772-A06F-D17395078D07}"/>
          </ac:spMkLst>
        </pc:spChg>
        <pc:spChg chg="del">
          <ac:chgData name="矢口勇一" userId="912075d5-8e90-457e-8e5d-489657d52d38" providerId="ADAL" clId="{85AA8867-8CB9-4548-8D55-5814589BB9F7}" dt="2025-10-26T09:24:53.178" v="283"/>
          <ac:spMkLst>
            <pc:docMk/>
            <pc:sldMk cId="2069670443" sldId="293"/>
            <ac:spMk id="3" creationId="{F3CC309D-2E3B-12E0-665E-D53CC2A74CE2}"/>
          </ac:spMkLst>
        </pc:spChg>
        <pc:spChg chg="add del">
          <ac:chgData name="矢口勇一" userId="912075d5-8e90-457e-8e5d-489657d52d38" providerId="ADAL" clId="{85AA8867-8CB9-4548-8D55-5814589BB9F7}" dt="2025-10-26T09:25:20.638" v="288" actId="22"/>
          <ac:spMkLst>
            <pc:docMk/>
            <pc:sldMk cId="2069670443" sldId="293"/>
            <ac:spMk id="6" creationId="{CB305086-E96F-C21C-9790-B6FE1E988382}"/>
          </ac:spMkLst>
        </pc:spChg>
        <pc:spChg chg="add mod">
          <ac:chgData name="矢口勇一" userId="912075d5-8e90-457e-8e5d-489657d52d38" providerId="ADAL" clId="{85AA8867-8CB9-4548-8D55-5814589BB9F7}" dt="2025-10-26T09:25:35.253" v="291" actId="1076"/>
          <ac:spMkLst>
            <pc:docMk/>
            <pc:sldMk cId="2069670443" sldId="293"/>
            <ac:spMk id="7" creationId="{84F22E9E-8106-C96F-FFE0-D6C1A07682AD}"/>
          </ac:spMkLst>
        </pc:spChg>
        <pc:graphicFrameChg chg="add mod">
          <ac:chgData name="矢口勇一" userId="912075d5-8e90-457e-8e5d-489657d52d38" providerId="ADAL" clId="{85AA8867-8CB9-4548-8D55-5814589BB9F7}" dt="2025-10-26T09:25:19.804" v="286" actId="1076"/>
          <ac:graphicFrameMkLst>
            <pc:docMk/>
            <pc:sldMk cId="2069670443" sldId="293"/>
            <ac:graphicFrameMk id="4" creationId="{EB9EB1E3-C88D-37E9-E6CC-A31EDFACD415}"/>
          </ac:graphicFrameMkLst>
        </pc:graphicFrameChg>
      </pc:sldChg>
      <pc:sldChg chg="modSp new mod">
        <pc:chgData name="矢口勇一" userId="912075d5-8e90-457e-8e5d-489657d52d38" providerId="ADAL" clId="{85AA8867-8CB9-4548-8D55-5814589BB9F7}" dt="2025-10-26T09:25:57.947" v="295" actId="5793"/>
        <pc:sldMkLst>
          <pc:docMk/>
          <pc:sldMk cId="972929550" sldId="294"/>
        </pc:sldMkLst>
        <pc:spChg chg="mod">
          <ac:chgData name="矢口勇一" userId="912075d5-8e90-457e-8e5d-489657d52d38" providerId="ADAL" clId="{85AA8867-8CB9-4548-8D55-5814589BB9F7}" dt="2025-10-26T09:25:44.419" v="292"/>
          <ac:spMkLst>
            <pc:docMk/>
            <pc:sldMk cId="972929550" sldId="294"/>
            <ac:spMk id="2" creationId="{3BA5508F-FFA4-9DA6-4948-2D520C319A9D}"/>
          </ac:spMkLst>
        </pc:spChg>
        <pc:spChg chg="mod">
          <ac:chgData name="矢口勇一" userId="912075d5-8e90-457e-8e5d-489657d52d38" providerId="ADAL" clId="{85AA8867-8CB9-4548-8D55-5814589BB9F7}" dt="2025-10-26T09:25:57.947" v="295" actId="5793"/>
          <ac:spMkLst>
            <pc:docMk/>
            <pc:sldMk cId="972929550" sldId="294"/>
            <ac:spMk id="3" creationId="{EF3D73F3-5142-7FFA-B6A3-5BAB5564F73A}"/>
          </ac:spMkLst>
        </pc:spChg>
      </pc:sldChg>
      <pc:sldChg chg="modSp new mod">
        <pc:chgData name="矢口勇一" userId="912075d5-8e90-457e-8e5d-489657d52d38" providerId="ADAL" clId="{85AA8867-8CB9-4548-8D55-5814589BB9F7}" dt="2025-10-26T09:26:23.499" v="299" actId="27636"/>
        <pc:sldMkLst>
          <pc:docMk/>
          <pc:sldMk cId="2901983689" sldId="295"/>
        </pc:sldMkLst>
        <pc:spChg chg="mod">
          <ac:chgData name="矢口勇一" userId="912075d5-8e90-457e-8e5d-489657d52d38" providerId="ADAL" clId="{85AA8867-8CB9-4548-8D55-5814589BB9F7}" dt="2025-10-26T09:26:14.598" v="297"/>
          <ac:spMkLst>
            <pc:docMk/>
            <pc:sldMk cId="2901983689" sldId="295"/>
            <ac:spMk id="2" creationId="{B3A18CE3-2DCB-96C9-FEAA-F25CF26BA248}"/>
          </ac:spMkLst>
        </pc:spChg>
        <pc:spChg chg="mod">
          <ac:chgData name="矢口勇一" userId="912075d5-8e90-457e-8e5d-489657d52d38" providerId="ADAL" clId="{85AA8867-8CB9-4548-8D55-5814589BB9F7}" dt="2025-10-26T09:26:23.499" v="299" actId="27636"/>
          <ac:spMkLst>
            <pc:docMk/>
            <pc:sldMk cId="2901983689" sldId="295"/>
            <ac:spMk id="3" creationId="{560D7E94-DA66-4684-B024-A5DE12C2F924}"/>
          </ac:spMkLst>
        </pc:spChg>
      </pc:sldChg>
      <pc:sldChg chg="new del">
        <pc:chgData name="矢口勇一" userId="912075d5-8e90-457e-8e5d-489657d52d38" providerId="ADAL" clId="{85AA8867-8CB9-4548-8D55-5814589BB9F7}" dt="2025-10-26T09:26:36.973" v="301" actId="47"/>
        <pc:sldMkLst>
          <pc:docMk/>
          <pc:sldMk cId="4164250793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486B73-72E4-D6F2-1FB9-EC35CF911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0DEC446-8658-42FA-77C5-C6374C80A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5262BC-F041-D441-543F-2607C980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B314-2750-4AF3-B772-C1D56A99657B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49A66D-471B-4610-5BE2-98817D7A1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4EE91D-989C-EB62-743D-2C9327D4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640B-6C80-412F-AF7E-5744EA08A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042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C58746-C2D5-9370-8C72-2F6BD56E6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29A576-6B44-C3B1-379A-41718367D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703D3F-B84A-8EC4-9F9D-3C7AA3BF1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B314-2750-4AF3-B772-C1D56A99657B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FA12D8-F429-43EA-7590-0623DDDAB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15A203-768D-C803-CB4E-6AFFD41B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640B-6C80-412F-AF7E-5744EA08A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209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9128CD-8CC3-8B50-50A3-602D8A968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BD9016-94A9-0342-2352-98837C7E8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0C075B-D27C-D772-F16B-7D07135E6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B314-2750-4AF3-B772-C1D56A99657B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C3FA89-F009-7759-126E-0BC12728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629992-A159-6DCA-B300-DC473BB6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640B-6C80-412F-AF7E-5744EA08A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719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1473DB-3D4E-B6B7-23B0-4D2E7B56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A8D565-AC43-6F99-10AC-61701701D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17539E-C2B4-B1D9-D1B6-A2555DE43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F5A1FE-781A-918E-5809-D124ED5F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B314-2750-4AF3-B772-C1D56A99657B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69FDBE-E5C9-6676-A2C6-04365AC29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DA8C9B-921B-18EA-33CC-7B195FE55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640B-6C80-412F-AF7E-5744EA08A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161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B1BEF5-0C91-7A6F-5FCC-E1B35CC4E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9121C4-B37B-300E-3FE2-169F7D6B1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A9E25A-CC74-CCC2-A002-292110131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552D3E3-B719-88FB-17F6-54A576C3E6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227E68A-77F0-E6F8-4118-DB9751EDF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57AF7A2-AE69-7A44-0E52-C0AA45B25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B314-2750-4AF3-B772-C1D56A99657B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6950C45-EEC3-9019-DC41-60D5C8FE3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E9818D7-AAB0-98EE-848E-27DB7C50B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640B-6C80-412F-AF7E-5744EA08A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991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EDC781-3201-33F8-028E-A35395A97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3124FB-195C-73D3-2097-0375D70F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B314-2750-4AF3-B772-C1D56A99657B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FAF811D-9382-9608-E2CF-42542E38D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0DF86E-52A0-2314-2D33-A61B3FDF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640B-6C80-412F-AF7E-5744EA08A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020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6C0ACAF-8361-A9C5-9394-ADC521CE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B314-2750-4AF3-B772-C1D56A99657B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26B637-64DE-46F8-35F3-FC63C858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F1BA29-98E2-9FCC-8FB3-47E9C9F53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640B-6C80-412F-AF7E-5744EA08A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93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780D94-C9EE-CE33-A65A-A7E796890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DE552F-CE63-821D-DDC8-8DEC42D0C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096C03-AC34-29BF-C8A6-617CE7D3B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94690E-5E05-820B-DA74-387A56EF7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B314-2750-4AF3-B772-C1D56A99657B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7BFC9B-A13A-CBCE-74A6-6A25747A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24C484-216D-D70E-2972-7B62B8F4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640B-6C80-412F-AF7E-5744EA08A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239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0DAC77-0E4B-9897-AFCF-D155C9275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E5C98DA-9BF8-F6AB-61E1-7EAD943A7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316DAF-6A88-EC64-39A6-57D42E5BA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0ED132-F9A2-436F-BD78-52235CBB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B314-2750-4AF3-B772-C1D56A99657B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12502A-7123-773B-D286-0515A0C4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C48420-4BE4-6B29-5285-AFC2CB12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640B-6C80-412F-AF7E-5744EA08A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232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DBDA38-ED3B-22C1-0373-C8FB2D35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4A1A954-0879-5240-9B2D-FE8AE472B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FB65DE-40D1-FF07-06D2-0ECD6476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B314-2750-4AF3-B772-C1D56A99657B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F051D8-946B-4FB4-4653-66EDF2F7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C3D405-E43C-32FE-6F7E-EBC047AE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640B-6C80-412F-AF7E-5744EA08A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1011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8EBC622-DE86-DBA4-95A7-287437F09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96C022-1642-5D77-842A-99774E5B3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3FEB5E-BBD9-B027-216A-1F8F41E0E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B314-2750-4AF3-B772-C1D56A99657B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50912D-97BF-1484-196F-7E1D3237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253BDB-E4BF-D01D-60A8-9827D517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640B-6C80-412F-AF7E-5744EA08A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3878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86CDE95-880E-17E4-F2D9-4CE052B84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3FD764-15B7-004E-D9FE-BD91861FC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A4A1BA-4544-B7F6-853F-45824BB3E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0B314-2750-4AF3-B772-C1D56A99657B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520CEC-B726-ADCE-7710-8E9B2177B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EE5EBB-EDE0-A4D6-EE1B-8910B5DB4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FE640B-6C80-412F-AF7E-5744EA08A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891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A07608-E54A-0BCA-36EF-034DCCEF0F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Lecture 6/Exercise 2</a:t>
            </a:r>
            <a:br>
              <a:rPr lang="en-US" altLang="ja-JP" dirty="0"/>
            </a:br>
            <a:r>
              <a:rPr lang="en-US" altLang="ja-JP" dirty="0"/>
              <a:t>Semantic Bible Search with </a:t>
            </a:r>
            <a:r>
              <a:rPr lang="en-US" altLang="ja-JP" dirty="0" err="1"/>
              <a:t>BiLSTM</a:t>
            </a:r>
            <a:r>
              <a:rPr lang="en-US" altLang="ja-JP" dirty="0"/>
              <a:t> </a:t>
            </a:r>
            <a:r>
              <a:rPr lang="en-US" altLang="ja-JP" dirty="0" err="1"/>
              <a:t>Workthrough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9FC3FEC-3B36-72F7-566C-9697605DCD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ITA17 Natural Language Processing with Deep Learning</a:t>
            </a:r>
          </a:p>
          <a:p>
            <a:r>
              <a:rPr lang="en-US" altLang="ja-JP" dirty="0"/>
              <a:t>Yuichi Yaguchi</a:t>
            </a:r>
          </a:p>
          <a:p>
            <a:endParaRPr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82704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44040-64A9-FA62-9904-36D6EA7B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Agenda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180228-A5B5-9534-4D4E-1DD4F539C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Overview</a:t>
            </a:r>
          </a:p>
          <a:p>
            <a:r>
              <a:rPr lang="en-US" altLang="ja-JP" dirty="0"/>
              <a:t>Dataset &amp; Pre-processing</a:t>
            </a:r>
          </a:p>
          <a:p>
            <a:r>
              <a:rPr kumimoji="1" lang="en-US" altLang="ja-JP" dirty="0"/>
              <a:t>Model Design</a:t>
            </a:r>
          </a:p>
          <a:p>
            <a:r>
              <a:rPr lang="en-US" altLang="ja-JP" dirty="0"/>
              <a:t>Training Process</a:t>
            </a:r>
          </a:p>
          <a:p>
            <a:r>
              <a:rPr kumimoji="1" lang="en-US" altLang="ja-JP" dirty="0"/>
              <a:t>Evaluation </a:t>
            </a:r>
            <a:r>
              <a:rPr lang="en-US" altLang="ja-JP" dirty="0"/>
              <a:t>&amp; Visualization</a:t>
            </a:r>
          </a:p>
          <a:p>
            <a:r>
              <a:rPr kumimoji="1" lang="en-US" altLang="ja-JP" dirty="0"/>
              <a:t>Bible Semantic Search</a:t>
            </a:r>
          </a:p>
          <a:p>
            <a:r>
              <a:rPr lang="en-US" altLang="ja-JP" dirty="0"/>
              <a:t>Modifiable Components</a:t>
            </a:r>
          </a:p>
          <a:p>
            <a:r>
              <a:rPr kumimoji="1" lang="en-US" altLang="ja-JP" dirty="0"/>
              <a:t>Summary and Bridge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84112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1B5BF4-DC55-5A3A-38CB-D02201FF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Semantic Bible Search with </a:t>
            </a:r>
            <a:r>
              <a:rPr lang="en-US" altLang="ja-JP" dirty="0" err="1"/>
              <a:t>BiLSTM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2E0356-A0E4-3154-FF8D-59106A4AD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ja-JP" i="1" dirty="0"/>
              <a:t>(Practical Walkthrough of NLPDL_Ex2 Notebook)</a:t>
            </a:r>
            <a:endParaRPr lang="en-US" altLang="ja-JP" dirty="0"/>
          </a:p>
          <a:p>
            <a:r>
              <a:rPr lang="en-US" altLang="ja-JP" dirty="0"/>
              <a:t>Today we connect theory → practice:</a:t>
            </a:r>
          </a:p>
          <a:p>
            <a:pPr lvl="1"/>
            <a:r>
              <a:rPr lang="en-US" altLang="ja-JP" dirty="0"/>
              <a:t>NLPDL_Ex2.ipynb </a:t>
            </a:r>
          </a:p>
          <a:p>
            <a:pPr lvl="2"/>
            <a:r>
              <a:rPr lang="en-US" altLang="ja-JP" dirty="0"/>
              <a:t>trains a </a:t>
            </a:r>
            <a:r>
              <a:rPr lang="en-US" altLang="ja-JP" dirty="0" err="1"/>
              <a:t>BiLSTM</a:t>
            </a:r>
            <a:r>
              <a:rPr lang="en-US" altLang="ja-JP" dirty="0"/>
              <a:t> encoder</a:t>
            </a:r>
          </a:p>
          <a:p>
            <a:pPr lvl="2"/>
            <a:r>
              <a:rPr lang="en-US" altLang="ja-JP" dirty="0"/>
              <a:t>uses that encoder for semantic retrieval.</a:t>
            </a:r>
          </a:p>
          <a:p>
            <a:r>
              <a:rPr lang="en-US" altLang="ja-JP" dirty="0"/>
              <a:t>Core idea : represent sentences as dense vectors that capture </a:t>
            </a:r>
            <a:r>
              <a:rPr lang="en-US" altLang="ja-JP" b="1" dirty="0"/>
              <a:t>meaning</a:t>
            </a:r>
            <a:r>
              <a:rPr lang="en-US" altLang="ja-JP" dirty="0"/>
              <a:t>, not just words.</a:t>
            </a:r>
          </a:p>
          <a:p>
            <a:pPr lvl="1"/>
            <a:r>
              <a:rPr lang="en-US" altLang="ja-JP" dirty="0"/>
              <a:t>We will follow each code block line by line to understand how training and inference work.</a:t>
            </a:r>
          </a:p>
          <a:p>
            <a:r>
              <a:rPr lang="en-US" altLang="ja-JP" dirty="0"/>
              <a:t>End goal : a system that answers a query like</a:t>
            </a:r>
          </a:p>
          <a:p>
            <a:pPr lvl="1"/>
            <a:r>
              <a:rPr lang="en-US" altLang="ja-JP" dirty="0"/>
              <a:t>“God is love” → returns verses with similar semantic meaning.</a:t>
            </a:r>
            <a:br>
              <a:rPr lang="en-US" altLang="ja-JP" dirty="0"/>
            </a:b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9426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9F7965-75AA-09D3-1FC2-3B2F7088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Goal and Motivation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07231C-A8AF-D818-01E1-8A27C17AF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70126"/>
          </a:xfrm>
        </p:spPr>
        <p:txBody>
          <a:bodyPr>
            <a:normAutofit fontScale="77500" lnSpcReduction="20000"/>
          </a:bodyPr>
          <a:lstStyle/>
          <a:p>
            <a:r>
              <a:rPr lang="en-US" altLang="ja-JP" b="1"/>
              <a:t>Why BiLSTM Semantic Search?</a:t>
            </a:r>
            <a:endParaRPr lang="en-US" altLang="ja-JP"/>
          </a:p>
          <a:p>
            <a:r>
              <a:rPr lang="en-US" altLang="ja-JP"/>
              <a:t>Keyword search (e.g., TF-IDF) matches surface forms only.</a:t>
            </a:r>
            <a:br>
              <a:rPr lang="en-US" altLang="ja-JP"/>
            </a:br>
            <a:r>
              <a:rPr lang="en-US" altLang="ja-JP"/>
              <a:t>→ fails on phrasing variations (“love of God” ≠ “God is love”).</a:t>
            </a:r>
          </a:p>
          <a:p>
            <a:r>
              <a:rPr lang="en-US" altLang="ja-JP"/>
              <a:t>Deep models encode </a:t>
            </a:r>
            <a:r>
              <a:rPr lang="en-US" altLang="ja-JP" i="1"/>
              <a:t>context</a:t>
            </a:r>
            <a:r>
              <a:rPr lang="en-US" altLang="ja-JP"/>
              <a:t> through sequential structure of language.</a:t>
            </a:r>
          </a:p>
          <a:p>
            <a:r>
              <a:rPr lang="en-US" altLang="ja-JP" b="1"/>
              <a:t>Objective:</a:t>
            </a:r>
            <a:r>
              <a:rPr lang="en-US" altLang="ja-JP"/>
              <a:t> learn a sentence embedding function f(text) → ℝ²⁵⁶ where</a:t>
            </a:r>
            <a:br>
              <a:rPr lang="en-US" altLang="ja-JP"/>
            </a:br>
            <a:r>
              <a:rPr lang="en-US" altLang="ja-JP"/>
              <a:t>similar meanings → close vectors (by cosine similarity).</a:t>
            </a:r>
          </a:p>
          <a:p>
            <a:r>
              <a:rPr lang="en-US" altLang="ja-JP" b="1"/>
              <a:t>Training target:</a:t>
            </a:r>
            <a:r>
              <a:rPr lang="en-US" altLang="ja-JP"/>
              <a:t> minimize distance for positive pairs, maximize for negative.</a:t>
            </a:r>
          </a:p>
          <a:p>
            <a:r>
              <a:rPr lang="en-US" altLang="ja-JP" b="1"/>
              <a:t>Inference:</a:t>
            </a:r>
            <a:r>
              <a:rPr lang="en-US" altLang="ja-JP"/>
              <a:t> given query q, find top-k verses with highest similarity to f(q).</a:t>
            </a:r>
          </a:p>
          <a:p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A461060-A461-A8BD-1654-7D0CDD2D65B5}"/>
              </a:ext>
            </a:extLst>
          </p:cNvPr>
          <p:cNvSpPr txBox="1"/>
          <p:nvPr/>
        </p:nvSpPr>
        <p:spPr>
          <a:xfrm>
            <a:off x="1279567" y="4862485"/>
            <a:ext cx="9598230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ja-JP" altLang="en-US" dirty="0">
                <a:latin typeface="Consolas" panose="020B0609020204030204" pitchFamily="49" charset="0"/>
              </a:rPr>
              <a:t>criterion = ContrastiveLoss(margin=1.0)</a:t>
            </a:r>
          </a:p>
          <a:p>
            <a:r>
              <a:rPr lang="ja-JP" altLang="en-US" dirty="0">
                <a:latin typeface="Consolas" panose="020B0609020204030204" pitchFamily="49" charset="0"/>
              </a:rPr>
              <a:t>sim = F.cosine_similarity(z1, z2)</a:t>
            </a:r>
          </a:p>
          <a:p>
            <a:r>
              <a:rPr lang="ja-JP" altLang="en-US" dirty="0">
                <a:latin typeface="Consolas" panose="020B0609020204030204" pitchFamily="49" charset="0"/>
              </a:rPr>
              <a:t>loss = criterion(sim, label)   # label = 1 (good) or 0 (bad)</a:t>
            </a:r>
          </a:p>
        </p:txBody>
      </p:sp>
    </p:spTree>
    <p:extLst>
      <p:ext uri="{BB962C8B-B14F-4D97-AF65-F5344CB8AC3E}">
        <p14:creationId xmlns:p14="http://schemas.microsoft.com/office/powerpoint/2010/main" val="4260929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4A0EF-0442-8524-070E-4BA4AADC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Training vs Inference Pipeline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A74B7C-4DFD-5476-C51D-78C924CB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Unified Semantic Representation Process</a:t>
            </a:r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lang="en-US" altLang="ja-JP" dirty="0"/>
              <a:t>Simplified</a:t>
            </a:r>
            <a:r>
              <a:rPr lang="ja-JP" altLang="en-US" dirty="0"/>
              <a:t> </a:t>
            </a:r>
            <a:r>
              <a:rPr lang="en-US" altLang="ja-JP" dirty="0"/>
              <a:t>End-to-End</a:t>
            </a:r>
            <a:r>
              <a:rPr lang="ja-JP" altLang="en-US" dirty="0"/>
              <a:t> </a:t>
            </a:r>
            <a:r>
              <a:rPr lang="en-US" altLang="ja-JP" dirty="0"/>
              <a:t>Example</a:t>
            </a:r>
            <a:endParaRPr kumimoji="1" lang="en-US" altLang="ja-JP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AFF25D7A-5040-D5E4-D34B-91F8269F5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7326"/>
              </p:ext>
            </p:extLst>
          </p:nvPr>
        </p:nvGraphicFramePr>
        <p:xfrm>
          <a:off x="838200" y="2256810"/>
          <a:ext cx="10515600" cy="2072640"/>
        </p:xfrm>
        <a:graphic>
          <a:graphicData uri="http://schemas.openxmlformats.org/drawingml/2006/table">
            <a:tbl>
              <a:tblPr/>
              <a:tblGrid>
                <a:gridCol w="1356360">
                  <a:extLst>
                    <a:ext uri="{9D8B030D-6E8A-4147-A177-3AD203B41FA5}">
                      <a16:colId xmlns:a16="http://schemas.microsoft.com/office/drawing/2014/main" val="3904056371"/>
                    </a:ext>
                  </a:extLst>
                </a:gridCol>
                <a:gridCol w="2686198">
                  <a:extLst>
                    <a:ext uri="{9D8B030D-6E8A-4147-A177-3AD203B41FA5}">
                      <a16:colId xmlns:a16="http://schemas.microsoft.com/office/drawing/2014/main" val="4010018052"/>
                    </a:ext>
                  </a:extLst>
                </a:gridCol>
                <a:gridCol w="2612572">
                  <a:extLst>
                    <a:ext uri="{9D8B030D-6E8A-4147-A177-3AD203B41FA5}">
                      <a16:colId xmlns:a16="http://schemas.microsoft.com/office/drawing/2014/main" val="2509160938"/>
                    </a:ext>
                  </a:extLst>
                </a:gridCol>
                <a:gridCol w="3860470">
                  <a:extLst>
                    <a:ext uri="{9D8B030D-6E8A-4147-A177-3AD203B41FA5}">
                      <a16:colId xmlns:a16="http://schemas.microsoft.com/office/drawing/2014/main" val="1029671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Operation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Example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523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/>
                        <a:t>Training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Sentence pairs → </a:t>
                      </a:r>
                      <a:r>
                        <a:rPr lang="en-US" sz="1600" dirty="0" err="1"/>
                        <a:t>BiLSTM</a:t>
                      </a:r>
                      <a:r>
                        <a:rPr lang="en-US" sz="1600" dirty="0"/>
                        <a:t> →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/>
                        <a:t>Learn semantic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loss = criterion(sim,label)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425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/>
                        <a:t>Saving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/>
                        <a:t>Store model weights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/>
                        <a:t>Reuse encoder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torch.save(model.state_dict(), 'bilstm_encoder.pt')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341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/>
                        <a:t>Inference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/>
                        <a:t>Encode query + verses → compare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Retrieve semantically close texts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600" dirty="0" err="1">
                          <a:latin typeface="Courier New" panose="02070309020205020404" pitchFamily="49" charset="0"/>
                        </a:rPr>
                        <a:t>F.cosine_similarity</a:t>
                      </a:r>
                      <a:r>
                        <a:rPr lang="it-IT" sz="160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it-IT" sz="1600" dirty="0" err="1">
                          <a:latin typeface="Courier New" panose="02070309020205020404" pitchFamily="49" charset="0"/>
                        </a:rPr>
                        <a:t>q_vec,d_vec</a:t>
                      </a:r>
                      <a:r>
                        <a:rPr lang="it-IT" sz="1600" dirty="0">
                          <a:latin typeface="Courier New" panose="02070309020205020404" pitchFamily="49" charset="0"/>
                        </a:rPr>
                        <a:t>)</a:t>
                      </a:r>
                      <a:endParaRPr lang="it-IT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456379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216D4E-F97B-61F0-F0AB-F8DA0333049F}"/>
              </a:ext>
            </a:extLst>
          </p:cNvPr>
          <p:cNvSpPr txBox="1"/>
          <p:nvPr/>
        </p:nvSpPr>
        <p:spPr>
          <a:xfrm>
            <a:off x="1296885" y="4853822"/>
            <a:ext cx="9598230" cy="1754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# Encode &amp; compare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query = "God is love"</a:t>
            </a:r>
          </a:p>
          <a:p>
            <a:r>
              <a:rPr lang="en-US" altLang="ja-JP" dirty="0" err="1">
                <a:latin typeface="Consolas" panose="020B0609020204030204" pitchFamily="49" charset="0"/>
              </a:rPr>
              <a:t>q_vec</a:t>
            </a:r>
            <a:r>
              <a:rPr lang="en-US" altLang="ja-JP" dirty="0">
                <a:latin typeface="Consolas" panose="020B0609020204030204" pitchFamily="49" charset="0"/>
              </a:rPr>
              <a:t> = encoder(tokenize(query))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scores = </a:t>
            </a:r>
            <a:r>
              <a:rPr lang="en-US" altLang="ja-JP" dirty="0" err="1">
                <a:latin typeface="Consolas" panose="020B0609020204030204" pitchFamily="49" charset="0"/>
              </a:rPr>
              <a:t>F.cosine_similarity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q_vec</a:t>
            </a:r>
            <a:r>
              <a:rPr lang="en-US" altLang="ja-JP" dirty="0">
                <a:latin typeface="Consolas" panose="020B0609020204030204" pitchFamily="49" charset="0"/>
              </a:rPr>
              <a:t>, </a:t>
            </a:r>
            <a:r>
              <a:rPr lang="en-US" altLang="ja-JP" dirty="0" err="1">
                <a:latin typeface="Consolas" panose="020B0609020204030204" pitchFamily="49" charset="0"/>
              </a:rPr>
              <a:t>corpus_vecs</a:t>
            </a:r>
            <a:r>
              <a:rPr lang="en-US" altLang="ja-JP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ja-JP" dirty="0" err="1">
                <a:latin typeface="Consolas" panose="020B0609020204030204" pitchFamily="49" charset="0"/>
              </a:rPr>
              <a:t>best_idx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torch.argmax</a:t>
            </a:r>
            <a:r>
              <a:rPr lang="en-US" altLang="ja-JP" dirty="0">
                <a:latin typeface="Consolas" panose="020B0609020204030204" pitchFamily="49" charset="0"/>
              </a:rPr>
              <a:t>(scores)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print(verses[</a:t>
            </a:r>
            <a:r>
              <a:rPr lang="en-US" altLang="ja-JP" dirty="0" err="1">
                <a:latin typeface="Consolas" panose="020B0609020204030204" pitchFamily="49" charset="0"/>
              </a:rPr>
              <a:t>best_idx</a:t>
            </a:r>
            <a:r>
              <a:rPr lang="en-US" altLang="ja-JP" dirty="0"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38120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18A104-A342-B6CE-0E92-EA9B99FE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Dataset Structure and Purpose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1BEA3B-D734-1292-C487-143F620D6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332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ja-JP" b="1" dirty="0"/>
              <a:t>Learning Semantic Relations from Sentence Pairs</a:t>
            </a:r>
            <a:endParaRPr lang="en-US" altLang="ja-JP" dirty="0"/>
          </a:p>
          <a:p>
            <a:r>
              <a:rPr lang="en-US" altLang="ja-JP" dirty="0"/>
              <a:t>Training data in </a:t>
            </a:r>
            <a:r>
              <a:rPr lang="en-US" altLang="ja-JP" dirty="0" err="1"/>
              <a:t>Bible_KJV_GoodBad_Search.ipynb</a:t>
            </a:r>
            <a:r>
              <a:rPr lang="en-US" altLang="ja-JP" dirty="0"/>
              <a:t>:</a:t>
            </a:r>
            <a:br>
              <a:rPr lang="en-US" altLang="ja-JP" dirty="0"/>
            </a:br>
            <a:r>
              <a:rPr lang="en-US" altLang="ja-JP" dirty="0"/>
              <a:t>each record = (sentence A, sentence B, label).</a:t>
            </a:r>
          </a:p>
          <a:p>
            <a:r>
              <a:rPr lang="en-US" altLang="ja-JP" b="1" dirty="0"/>
              <a:t>Positive pair (label = 1):</a:t>
            </a:r>
            <a:r>
              <a:rPr lang="en-US" altLang="ja-JP" dirty="0"/>
              <a:t> semantically similar verses.</a:t>
            </a:r>
          </a:p>
          <a:p>
            <a:pPr lvl="1"/>
            <a:r>
              <a:rPr lang="en-US" altLang="ja-JP" dirty="0"/>
              <a:t>(“God is love”, “He that loveth not </a:t>
            </a:r>
            <a:r>
              <a:rPr lang="en-US" altLang="ja-JP" dirty="0" err="1"/>
              <a:t>knoweth</a:t>
            </a:r>
            <a:r>
              <a:rPr lang="en-US" altLang="ja-JP" dirty="0"/>
              <a:t> not God”)</a:t>
            </a:r>
          </a:p>
          <a:p>
            <a:r>
              <a:rPr lang="en-US" altLang="ja-JP" b="1" dirty="0"/>
              <a:t>Negative pair (label = 0):</a:t>
            </a:r>
            <a:r>
              <a:rPr lang="en-US" altLang="ja-JP" dirty="0"/>
              <a:t> unrelated verses.</a:t>
            </a:r>
          </a:p>
          <a:p>
            <a:pPr lvl="1"/>
            <a:r>
              <a:rPr lang="en-US" altLang="ja-JP" dirty="0"/>
              <a:t>(“God is love”, “Abraham went to Egypt”)</a:t>
            </a:r>
          </a:p>
          <a:p>
            <a:r>
              <a:rPr lang="en-US" altLang="ja-JP" dirty="0"/>
              <a:t>Model learns to assign high similarity to positive pairs and low to negative.</a:t>
            </a:r>
          </a:p>
          <a:p>
            <a:r>
              <a:rPr lang="en-US" altLang="ja-JP" dirty="0"/>
              <a:t>Dataset may be small (≈ few thousand pairs) but rich in semantic contrast.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7C8150-CA21-546E-5E61-53A989C660A5}"/>
              </a:ext>
            </a:extLst>
          </p:cNvPr>
          <p:cNvSpPr txBox="1"/>
          <p:nvPr/>
        </p:nvSpPr>
        <p:spPr>
          <a:xfrm>
            <a:off x="1296885" y="5058888"/>
            <a:ext cx="9598230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import pandas as pd</a:t>
            </a:r>
          </a:p>
          <a:p>
            <a:r>
              <a:rPr lang="en-US" altLang="ja-JP" dirty="0" err="1">
                <a:latin typeface="Consolas" panose="020B0609020204030204" pitchFamily="49" charset="0"/>
              </a:rPr>
              <a:t>df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pd.read_csv</a:t>
            </a:r>
            <a:r>
              <a:rPr lang="en-US" altLang="ja-JP" dirty="0">
                <a:latin typeface="Consolas" panose="020B0609020204030204" pitchFamily="49" charset="0"/>
              </a:rPr>
              <a:t>('Bible_GoodBad_pairs.csv')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print(</a:t>
            </a:r>
            <a:r>
              <a:rPr lang="en-US" altLang="ja-JP" dirty="0" err="1">
                <a:latin typeface="Consolas" panose="020B0609020204030204" pitchFamily="49" charset="0"/>
              </a:rPr>
              <a:t>df.head</a:t>
            </a:r>
            <a:r>
              <a:rPr lang="en-US" altLang="ja-JP" dirty="0"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436995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7005E7-C0CC-40F3-1F4D-6B3FD528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Text Normalization and Tokenization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18EFA3-D354-756E-34B3-BD949660E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793"/>
            <a:ext cx="10515600" cy="247006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ja-JP" b="1" dirty="0"/>
              <a:t>Turning Raw Text into Tokens</a:t>
            </a:r>
            <a:endParaRPr lang="en-US" altLang="ja-JP" dirty="0"/>
          </a:p>
          <a:p>
            <a:r>
              <a:rPr lang="en-US" altLang="ja-JP" dirty="0"/>
              <a:t>Text → lowercase, remove punctuation and extra spaces.</a:t>
            </a:r>
          </a:p>
          <a:p>
            <a:r>
              <a:rPr lang="en-US" altLang="ja-JP" dirty="0"/>
              <a:t>Tokenization splits into word units; special tokens like &lt;PAD&gt; and &lt;UNK&gt; are added.</a:t>
            </a:r>
          </a:p>
          <a:p>
            <a:r>
              <a:rPr lang="en-US" altLang="ja-JP" dirty="0"/>
              <a:t>Vocabulary is built from training corpus and indexed by frequency.</a:t>
            </a:r>
          </a:p>
          <a:p>
            <a:r>
              <a:rPr lang="en-US" altLang="ja-JP" dirty="0"/>
              <a:t>Same tokenizer used for training and search to ensure consistency.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A3A7244-5029-CA7B-A6A9-476182F82F69}"/>
              </a:ext>
            </a:extLst>
          </p:cNvPr>
          <p:cNvSpPr txBox="1"/>
          <p:nvPr/>
        </p:nvSpPr>
        <p:spPr>
          <a:xfrm>
            <a:off x="1296885" y="4096987"/>
            <a:ext cx="9598230" cy="258532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from collections import Counter</a:t>
            </a:r>
          </a:p>
          <a:p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def </a:t>
            </a:r>
            <a:r>
              <a:rPr lang="en-US" altLang="ja-JP" dirty="0" err="1">
                <a:latin typeface="Consolas" panose="020B0609020204030204" pitchFamily="49" charset="0"/>
              </a:rPr>
              <a:t>build_vocab</a:t>
            </a:r>
            <a:r>
              <a:rPr lang="en-US" altLang="ja-JP" dirty="0">
                <a:latin typeface="Consolas" panose="020B0609020204030204" pitchFamily="49" charset="0"/>
              </a:rPr>
              <a:t>(texts, </a:t>
            </a:r>
            <a:r>
              <a:rPr lang="en-US" altLang="ja-JP" dirty="0" err="1">
                <a:latin typeface="Consolas" panose="020B0609020204030204" pitchFamily="49" charset="0"/>
              </a:rPr>
              <a:t>min_freq</a:t>
            </a:r>
            <a:r>
              <a:rPr lang="en-US" altLang="ja-JP" dirty="0">
                <a:latin typeface="Consolas" panose="020B0609020204030204" pitchFamily="49" charset="0"/>
              </a:rPr>
              <a:t>=2):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counter = Counter(</a:t>
            </a:r>
            <a:r>
              <a:rPr lang="en-US" altLang="ja-JP" dirty="0" err="1">
                <a:latin typeface="Consolas" panose="020B0609020204030204" pitchFamily="49" charset="0"/>
              </a:rPr>
              <a:t>tok</a:t>
            </a:r>
            <a:r>
              <a:rPr lang="en-US" altLang="ja-JP" dirty="0">
                <a:latin typeface="Consolas" panose="020B0609020204030204" pitchFamily="49" charset="0"/>
              </a:rPr>
              <a:t> for t in texts for </a:t>
            </a:r>
            <a:r>
              <a:rPr lang="en-US" altLang="ja-JP" dirty="0" err="1">
                <a:latin typeface="Consolas" panose="020B0609020204030204" pitchFamily="49" charset="0"/>
              </a:rPr>
              <a:t>tok</a:t>
            </a:r>
            <a:r>
              <a:rPr lang="en-US" altLang="ja-JP" dirty="0">
                <a:latin typeface="Consolas" panose="020B0609020204030204" pitchFamily="49" charset="0"/>
              </a:rPr>
              <a:t> in </a:t>
            </a:r>
            <a:r>
              <a:rPr lang="en-US" altLang="ja-JP" dirty="0" err="1">
                <a:latin typeface="Consolas" panose="020B0609020204030204" pitchFamily="49" charset="0"/>
              </a:rPr>
              <a:t>t.split</a:t>
            </a:r>
            <a:r>
              <a:rPr lang="en-US" altLang="ja-JP" dirty="0">
                <a:latin typeface="Consolas" panose="020B0609020204030204" pitchFamily="49" charset="0"/>
              </a:rPr>
              <a:t>())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vocab = {'&lt;PAD&gt;':0, '&lt;UNK&gt;':1}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for </a:t>
            </a:r>
            <a:r>
              <a:rPr lang="en-US" altLang="ja-JP" dirty="0" err="1">
                <a:latin typeface="Consolas" panose="020B0609020204030204" pitchFamily="49" charset="0"/>
              </a:rPr>
              <a:t>tok</a:t>
            </a:r>
            <a:r>
              <a:rPr lang="en-US" altLang="ja-JP" dirty="0">
                <a:latin typeface="Consolas" panose="020B0609020204030204" pitchFamily="49" charset="0"/>
              </a:rPr>
              <a:t>, </a:t>
            </a:r>
            <a:r>
              <a:rPr lang="en-US" altLang="ja-JP" dirty="0" err="1">
                <a:latin typeface="Consolas" panose="020B0609020204030204" pitchFamily="49" charset="0"/>
              </a:rPr>
              <a:t>freq</a:t>
            </a:r>
            <a:r>
              <a:rPr lang="en-US" altLang="ja-JP" dirty="0">
                <a:latin typeface="Consolas" panose="020B0609020204030204" pitchFamily="49" charset="0"/>
              </a:rPr>
              <a:t> in </a:t>
            </a:r>
            <a:r>
              <a:rPr lang="en-US" altLang="ja-JP" dirty="0" err="1">
                <a:latin typeface="Consolas" panose="020B0609020204030204" pitchFamily="49" charset="0"/>
              </a:rPr>
              <a:t>counter.items</a:t>
            </a:r>
            <a:r>
              <a:rPr lang="en-US" altLang="ja-JP" dirty="0">
                <a:latin typeface="Consolas" panose="020B0609020204030204" pitchFamily="49" charset="0"/>
              </a:rPr>
              <a:t>():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if </a:t>
            </a:r>
            <a:r>
              <a:rPr lang="en-US" altLang="ja-JP" dirty="0" err="1">
                <a:latin typeface="Consolas" panose="020B0609020204030204" pitchFamily="49" charset="0"/>
              </a:rPr>
              <a:t>freq</a:t>
            </a:r>
            <a:r>
              <a:rPr lang="en-US" altLang="ja-JP" dirty="0">
                <a:latin typeface="Consolas" panose="020B0609020204030204" pitchFamily="49" charset="0"/>
              </a:rPr>
              <a:t> &gt;= </a:t>
            </a:r>
            <a:r>
              <a:rPr lang="en-US" altLang="ja-JP" dirty="0" err="1">
                <a:latin typeface="Consolas" panose="020B0609020204030204" pitchFamily="49" charset="0"/>
              </a:rPr>
              <a:t>min_freq</a:t>
            </a:r>
            <a:r>
              <a:rPr lang="en-US" altLang="ja-JP" dirty="0">
                <a:latin typeface="Consolas" panose="020B0609020204030204" pitchFamily="49" charset="0"/>
              </a:rPr>
              <a:t>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    vocab[</a:t>
            </a:r>
            <a:r>
              <a:rPr lang="en-US" altLang="ja-JP" dirty="0" err="1">
                <a:latin typeface="Consolas" panose="020B0609020204030204" pitchFamily="49" charset="0"/>
              </a:rPr>
              <a:t>tok</a:t>
            </a:r>
            <a:r>
              <a:rPr lang="en-US" altLang="ja-JP" dirty="0">
                <a:latin typeface="Consolas" panose="020B0609020204030204" pitchFamily="49" charset="0"/>
              </a:rPr>
              <a:t>] = </a:t>
            </a:r>
            <a:r>
              <a:rPr lang="en-US" altLang="ja-JP" dirty="0" err="1">
                <a:latin typeface="Consolas" panose="020B0609020204030204" pitchFamily="49" charset="0"/>
              </a:rPr>
              <a:t>len</a:t>
            </a:r>
            <a:r>
              <a:rPr lang="en-US" altLang="ja-JP" dirty="0">
                <a:latin typeface="Consolas" panose="020B0609020204030204" pitchFamily="49" charset="0"/>
              </a:rPr>
              <a:t>(vocab)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return vocab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108C1C2-4BD2-1446-9F38-B1AB5C3B07D9}"/>
              </a:ext>
            </a:extLst>
          </p:cNvPr>
          <p:cNvSpPr txBox="1"/>
          <p:nvPr/>
        </p:nvSpPr>
        <p:spPr>
          <a:xfrm>
            <a:off x="6094022" y="6123543"/>
            <a:ext cx="6097978" cy="369332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dirty="0"/>
              <a:t>Raw text → Token list → ID sequence (vocab map)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7983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4F738B-6239-FEEE-8AB8-B474B99DC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Mapping to IDs and Padding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EE5559-4B15-6259-F61A-835160017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357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ja-JP" b="1" dirty="0"/>
              <a:t>Handling Variable Sentence Lengths</a:t>
            </a:r>
            <a:endParaRPr lang="en-US" altLang="ja-JP" dirty="0"/>
          </a:p>
          <a:p>
            <a:r>
              <a:rPr lang="en-US" altLang="ja-JP" dirty="0"/>
              <a:t>After tokenization, convert each token → integer ID using vocab[token].</a:t>
            </a:r>
          </a:p>
          <a:p>
            <a:r>
              <a:rPr lang="en-US" altLang="ja-JP" dirty="0"/>
              <a:t>Sentences differ in length → pad shorter ones with &lt;PAD&gt; to same T.</a:t>
            </a:r>
          </a:p>
          <a:p>
            <a:r>
              <a:rPr lang="en-US" altLang="ja-JP" dirty="0"/>
              <a:t>Padding mask lets the model ignore padding positions during pooling.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D6F52F-5CF4-059A-4502-1BDD2053A4AC}"/>
              </a:ext>
            </a:extLst>
          </p:cNvPr>
          <p:cNvSpPr txBox="1"/>
          <p:nvPr/>
        </p:nvSpPr>
        <p:spPr>
          <a:xfrm>
            <a:off x="1296885" y="4096987"/>
            <a:ext cx="9598230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import torch</a:t>
            </a:r>
          </a:p>
          <a:p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def </a:t>
            </a:r>
            <a:r>
              <a:rPr lang="en-US" altLang="ja-JP" dirty="0" err="1">
                <a:latin typeface="Consolas" panose="020B0609020204030204" pitchFamily="49" charset="0"/>
              </a:rPr>
              <a:t>pad_sequences</a:t>
            </a:r>
            <a:r>
              <a:rPr lang="en-US" altLang="ja-JP" dirty="0">
                <a:latin typeface="Consolas" panose="020B0609020204030204" pitchFamily="49" charset="0"/>
              </a:rPr>
              <a:t>(batch, </a:t>
            </a:r>
            <a:r>
              <a:rPr lang="en-US" altLang="ja-JP" dirty="0" err="1">
                <a:latin typeface="Consolas" panose="020B0609020204030204" pitchFamily="49" charset="0"/>
              </a:rPr>
              <a:t>pad_value</a:t>
            </a:r>
            <a:r>
              <a:rPr lang="en-US" altLang="ja-JP" dirty="0">
                <a:latin typeface="Consolas" panose="020B0609020204030204" pitchFamily="49" charset="0"/>
              </a:rPr>
              <a:t>=0):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</a:t>
            </a:r>
            <a:r>
              <a:rPr lang="en-US" altLang="ja-JP" dirty="0" err="1">
                <a:latin typeface="Consolas" panose="020B0609020204030204" pitchFamily="49" charset="0"/>
              </a:rPr>
              <a:t>max_len</a:t>
            </a:r>
            <a:r>
              <a:rPr lang="en-US" altLang="ja-JP" dirty="0">
                <a:latin typeface="Consolas" panose="020B0609020204030204" pitchFamily="49" charset="0"/>
              </a:rPr>
              <a:t> = max(</a:t>
            </a:r>
            <a:r>
              <a:rPr lang="en-US" altLang="ja-JP" dirty="0" err="1">
                <a:latin typeface="Consolas" panose="020B0609020204030204" pitchFamily="49" charset="0"/>
              </a:rPr>
              <a:t>len</a:t>
            </a:r>
            <a:r>
              <a:rPr lang="en-US" altLang="ja-JP" dirty="0">
                <a:latin typeface="Consolas" panose="020B0609020204030204" pitchFamily="49" charset="0"/>
              </a:rPr>
              <a:t>(x) for x in batch)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padded = [x + [</a:t>
            </a:r>
            <a:r>
              <a:rPr lang="en-US" altLang="ja-JP" dirty="0" err="1">
                <a:latin typeface="Consolas" panose="020B0609020204030204" pitchFamily="49" charset="0"/>
              </a:rPr>
              <a:t>pad_value</a:t>
            </a:r>
            <a:r>
              <a:rPr lang="en-US" altLang="ja-JP" dirty="0">
                <a:latin typeface="Consolas" panose="020B0609020204030204" pitchFamily="49" charset="0"/>
              </a:rPr>
              <a:t>]*(</a:t>
            </a:r>
            <a:r>
              <a:rPr lang="en-US" altLang="ja-JP" dirty="0" err="1">
                <a:latin typeface="Consolas" panose="020B0609020204030204" pitchFamily="49" charset="0"/>
              </a:rPr>
              <a:t>max_len</a:t>
            </a:r>
            <a:r>
              <a:rPr lang="en-US" altLang="ja-JP" dirty="0">
                <a:latin typeface="Consolas" panose="020B0609020204030204" pitchFamily="49" charset="0"/>
              </a:rPr>
              <a:t> - </a:t>
            </a:r>
            <a:r>
              <a:rPr lang="en-US" altLang="ja-JP" dirty="0" err="1">
                <a:latin typeface="Consolas" panose="020B0609020204030204" pitchFamily="49" charset="0"/>
              </a:rPr>
              <a:t>len</a:t>
            </a:r>
            <a:r>
              <a:rPr lang="en-US" altLang="ja-JP" dirty="0">
                <a:latin typeface="Consolas" panose="020B0609020204030204" pitchFamily="49" charset="0"/>
              </a:rPr>
              <a:t>(x)) for x in batch]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return </a:t>
            </a:r>
            <a:r>
              <a:rPr lang="en-US" altLang="ja-JP" dirty="0" err="1">
                <a:latin typeface="Consolas" panose="020B0609020204030204" pitchFamily="49" charset="0"/>
              </a:rPr>
              <a:t>torch.tensor</a:t>
            </a:r>
            <a:r>
              <a:rPr lang="en-US" altLang="ja-JP" dirty="0">
                <a:latin typeface="Consolas" panose="020B0609020204030204" pitchFamily="49" charset="0"/>
              </a:rPr>
              <a:t>(padded)</a:t>
            </a:r>
          </a:p>
          <a:p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mask = (inputs != 0)  # True = valid token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672D56-F01C-3BDD-E210-A5B94A9466D9}"/>
              </a:ext>
            </a:extLst>
          </p:cNvPr>
          <p:cNvSpPr txBox="1"/>
          <p:nvPr/>
        </p:nvSpPr>
        <p:spPr>
          <a:xfrm>
            <a:off x="7148944" y="6308209"/>
            <a:ext cx="5045033" cy="369332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dirty="0"/>
              <a:t>variable length → fixed matrix [B,T]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6724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AABC3F-9821-F92C-05F2-D8F12878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DataLoader</a:t>
            </a:r>
            <a:r>
              <a:rPr lang="en-US" altLang="ja-JP" dirty="0"/>
              <a:t> and Batching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4CFB37-605E-21B1-A932-99DA84796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331"/>
            <a:ext cx="10515600" cy="26776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ja-JP" b="1" dirty="0"/>
              <a:t>Preparing Training Batches</a:t>
            </a:r>
            <a:endParaRPr lang="en-US" altLang="ja-JP" dirty="0"/>
          </a:p>
          <a:p>
            <a:r>
              <a:rPr lang="en-US" altLang="ja-JP" dirty="0"/>
              <a:t>Dataset class returns tensor pairs (x₁, x₂, label).</a:t>
            </a:r>
          </a:p>
          <a:p>
            <a:r>
              <a:rPr lang="en-US" altLang="ja-JP" dirty="0" err="1"/>
              <a:t>DataLoader</a:t>
            </a:r>
            <a:r>
              <a:rPr lang="en-US" altLang="ja-JP" dirty="0"/>
              <a:t> creates mini-batches and shuffles for each epoch.</a:t>
            </a:r>
          </a:p>
          <a:p>
            <a:r>
              <a:rPr lang="en-US" altLang="ja-JP" dirty="0"/>
              <a:t>Batching reduces gradient variance and enables GPU parallelism.</a:t>
            </a:r>
          </a:p>
          <a:p>
            <a:r>
              <a:rPr lang="en-US" altLang="ja-JP" dirty="0"/>
              <a:t>Each batch shape:</a:t>
            </a:r>
          </a:p>
          <a:p>
            <a:pPr lvl="1"/>
            <a:r>
              <a:rPr lang="en-US" altLang="ja-JP" dirty="0"/>
              <a:t>x₁: [B,T] (first sentence)</a:t>
            </a:r>
          </a:p>
          <a:p>
            <a:pPr lvl="1"/>
            <a:r>
              <a:rPr lang="en-US" altLang="ja-JP" dirty="0"/>
              <a:t>x₂: [B,T] (second sentence)</a:t>
            </a:r>
          </a:p>
          <a:p>
            <a:pPr lvl="1"/>
            <a:r>
              <a:rPr lang="en-US" altLang="ja-JP" dirty="0"/>
              <a:t>label: [B] (0 or 1)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098E40B-DB10-BB40-8323-BD17F1A373B7}"/>
              </a:ext>
            </a:extLst>
          </p:cNvPr>
          <p:cNvSpPr txBox="1"/>
          <p:nvPr/>
        </p:nvSpPr>
        <p:spPr>
          <a:xfrm>
            <a:off x="1296885" y="4096987"/>
            <a:ext cx="9598230" cy="267765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sz="1400" dirty="0">
                <a:latin typeface="Consolas" panose="020B0609020204030204" pitchFamily="49" charset="0"/>
              </a:rPr>
              <a:t>from </a:t>
            </a:r>
            <a:r>
              <a:rPr lang="en-US" altLang="ja-JP" sz="1400" dirty="0" err="1">
                <a:latin typeface="Consolas" panose="020B0609020204030204" pitchFamily="49" charset="0"/>
              </a:rPr>
              <a:t>torch.utils.data</a:t>
            </a:r>
            <a:r>
              <a:rPr lang="en-US" altLang="ja-JP" sz="1400" dirty="0">
                <a:latin typeface="Consolas" panose="020B0609020204030204" pitchFamily="49" charset="0"/>
              </a:rPr>
              <a:t> import Dataset, </a:t>
            </a:r>
            <a:r>
              <a:rPr lang="en-US" altLang="ja-JP" sz="1400" dirty="0" err="1">
                <a:latin typeface="Consolas" panose="020B0609020204030204" pitchFamily="49" charset="0"/>
              </a:rPr>
              <a:t>DataLoader</a:t>
            </a:r>
            <a:endParaRPr lang="en-US" altLang="ja-JP" sz="1400" dirty="0">
              <a:latin typeface="Consolas" panose="020B0609020204030204" pitchFamily="49" charset="0"/>
            </a:endParaRPr>
          </a:p>
          <a:p>
            <a:endParaRPr lang="en-US" altLang="ja-JP" sz="1400" dirty="0">
              <a:latin typeface="Consolas" panose="020B0609020204030204" pitchFamily="49" charset="0"/>
            </a:endParaRPr>
          </a:p>
          <a:p>
            <a:r>
              <a:rPr lang="en-US" altLang="ja-JP" sz="1400" dirty="0">
                <a:latin typeface="Consolas" panose="020B0609020204030204" pitchFamily="49" charset="0"/>
              </a:rPr>
              <a:t>class </a:t>
            </a:r>
            <a:r>
              <a:rPr lang="en-US" altLang="ja-JP" sz="1400" dirty="0" err="1">
                <a:latin typeface="Consolas" panose="020B0609020204030204" pitchFamily="49" charset="0"/>
              </a:rPr>
              <a:t>PairDataset</a:t>
            </a:r>
            <a:r>
              <a:rPr lang="en-US" altLang="ja-JP" sz="1400" dirty="0">
                <a:latin typeface="Consolas" panose="020B0609020204030204" pitchFamily="49" charset="0"/>
              </a:rPr>
              <a:t>(Dataset):</a:t>
            </a:r>
          </a:p>
          <a:p>
            <a:r>
              <a:rPr lang="en-US" altLang="ja-JP" sz="1400" dirty="0">
                <a:latin typeface="Consolas" panose="020B0609020204030204" pitchFamily="49" charset="0"/>
              </a:rPr>
              <a:t>    def __</a:t>
            </a:r>
            <a:r>
              <a:rPr lang="en-US" altLang="ja-JP" sz="1400" dirty="0" err="1">
                <a:latin typeface="Consolas" panose="020B0609020204030204" pitchFamily="49" charset="0"/>
              </a:rPr>
              <a:t>init</a:t>
            </a:r>
            <a:r>
              <a:rPr lang="en-US" altLang="ja-JP" sz="1400" dirty="0">
                <a:latin typeface="Consolas" panose="020B0609020204030204" pitchFamily="49" charset="0"/>
              </a:rPr>
              <a:t>__(self, </a:t>
            </a:r>
            <a:r>
              <a:rPr lang="en-US" altLang="ja-JP" sz="1400" dirty="0" err="1">
                <a:latin typeface="Consolas" panose="020B0609020204030204" pitchFamily="49" charset="0"/>
              </a:rPr>
              <a:t>df</a:t>
            </a:r>
            <a:r>
              <a:rPr lang="en-US" altLang="ja-JP" sz="1400" dirty="0">
                <a:latin typeface="Consolas" panose="020B0609020204030204" pitchFamily="49" charset="0"/>
              </a:rPr>
              <a:t>, vocab):</a:t>
            </a:r>
          </a:p>
          <a:p>
            <a:r>
              <a:rPr lang="en-US" altLang="ja-JP" sz="1400" dirty="0">
                <a:latin typeface="Consolas" panose="020B0609020204030204" pitchFamily="49" charset="0"/>
              </a:rPr>
              <a:t>        </a:t>
            </a:r>
            <a:r>
              <a:rPr lang="en-US" altLang="ja-JP" sz="1400" dirty="0" err="1">
                <a:latin typeface="Consolas" panose="020B0609020204030204" pitchFamily="49" charset="0"/>
              </a:rPr>
              <a:t>self.data</a:t>
            </a:r>
            <a:r>
              <a:rPr lang="en-US" altLang="ja-JP" sz="1400" dirty="0">
                <a:latin typeface="Consolas" panose="020B0609020204030204" pitchFamily="49" charset="0"/>
              </a:rPr>
              <a:t> = [(t1.split(), t2.split(), l) for t1,t2,l in </a:t>
            </a:r>
            <a:r>
              <a:rPr lang="en-US" altLang="ja-JP" sz="1400" dirty="0" err="1">
                <a:latin typeface="Consolas" panose="020B0609020204030204" pitchFamily="49" charset="0"/>
              </a:rPr>
              <a:t>df.values</a:t>
            </a:r>
            <a:r>
              <a:rPr lang="en-US" altLang="ja-JP" sz="1400" dirty="0">
                <a:latin typeface="Consolas" panose="020B0609020204030204" pitchFamily="49" charset="0"/>
              </a:rPr>
              <a:t>]</a:t>
            </a:r>
          </a:p>
          <a:p>
            <a:r>
              <a:rPr lang="en-US" altLang="ja-JP" sz="1400" dirty="0">
                <a:latin typeface="Consolas" panose="020B0609020204030204" pitchFamily="49" charset="0"/>
              </a:rPr>
              <a:t>        </a:t>
            </a:r>
            <a:r>
              <a:rPr lang="en-US" altLang="ja-JP" sz="1400" dirty="0" err="1">
                <a:latin typeface="Consolas" panose="020B0609020204030204" pitchFamily="49" charset="0"/>
              </a:rPr>
              <a:t>self.vocab</a:t>
            </a:r>
            <a:r>
              <a:rPr lang="en-US" altLang="ja-JP" sz="1400" dirty="0">
                <a:latin typeface="Consolas" panose="020B0609020204030204" pitchFamily="49" charset="0"/>
              </a:rPr>
              <a:t> = vocab</a:t>
            </a:r>
          </a:p>
          <a:p>
            <a:r>
              <a:rPr lang="en-US" altLang="ja-JP" sz="1400" dirty="0">
                <a:latin typeface="Consolas" panose="020B0609020204030204" pitchFamily="49" charset="0"/>
              </a:rPr>
              <a:t>    def __</a:t>
            </a:r>
            <a:r>
              <a:rPr lang="en-US" altLang="ja-JP" sz="1400" dirty="0" err="1">
                <a:latin typeface="Consolas" panose="020B0609020204030204" pitchFamily="49" charset="0"/>
              </a:rPr>
              <a:t>getitem</a:t>
            </a:r>
            <a:r>
              <a:rPr lang="en-US" altLang="ja-JP" sz="1400" dirty="0">
                <a:latin typeface="Consolas" panose="020B0609020204030204" pitchFamily="49" charset="0"/>
              </a:rPr>
              <a:t>__(self, </a:t>
            </a:r>
            <a:r>
              <a:rPr lang="en-US" altLang="ja-JP" sz="1400" dirty="0" err="1">
                <a:latin typeface="Consolas" panose="020B0609020204030204" pitchFamily="49" charset="0"/>
              </a:rPr>
              <a:t>idx</a:t>
            </a:r>
            <a:r>
              <a:rPr lang="en-US" altLang="ja-JP" sz="1400" dirty="0">
                <a:latin typeface="Consolas" panose="020B0609020204030204" pitchFamily="49" charset="0"/>
              </a:rPr>
              <a:t>):</a:t>
            </a:r>
          </a:p>
          <a:p>
            <a:r>
              <a:rPr lang="en-US" altLang="ja-JP" sz="1400" dirty="0">
                <a:latin typeface="Consolas" panose="020B0609020204030204" pitchFamily="49" charset="0"/>
              </a:rPr>
              <a:t>        </a:t>
            </a:r>
            <a:r>
              <a:rPr lang="en-US" altLang="ja-JP" sz="1400" dirty="0" err="1">
                <a:latin typeface="Consolas" panose="020B0609020204030204" pitchFamily="49" charset="0"/>
              </a:rPr>
              <a:t>a,b,l</a:t>
            </a:r>
            <a:r>
              <a:rPr lang="en-US" altLang="ja-JP" sz="1400" dirty="0">
                <a:latin typeface="Consolas" panose="020B0609020204030204" pitchFamily="49" charset="0"/>
              </a:rPr>
              <a:t> = </a:t>
            </a:r>
            <a:r>
              <a:rPr lang="en-US" altLang="ja-JP" sz="1400" dirty="0" err="1">
                <a:latin typeface="Consolas" panose="020B0609020204030204" pitchFamily="49" charset="0"/>
              </a:rPr>
              <a:t>self.data</a:t>
            </a:r>
            <a:r>
              <a:rPr lang="en-US" altLang="ja-JP" sz="1400" dirty="0">
                <a:latin typeface="Consolas" panose="020B0609020204030204" pitchFamily="49" charset="0"/>
              </a:rPr>
              <a:t>[</a:t>
            </a:r>
            <a:r>
              <a:rPr lang="en-US" altLang="ja-JP" sz="1400" dirty="0" err="1">
                <a:latin typeface="Consolas" panose="020B0609020204030204" pitchFamily="49" charset="0"/>
              </a:rPr>
              <a:t>idx</a:t>
            </a:r>
            <a:r>
              <a:rPr lang="en-US" altLang="ja-JP" sz="1400" dirty="0">
                <a:latin typeface="Consolas" panose="020B0609020204030204" pitchFamily="49" charset="0"/>
              </a:rPr>
              <a:t>]</a:t>
            </a:r>
          </a:p>
          <a:p>
            <a:r>
              <a:rPr lang="en-US" altLang="ja-JP" sz="1400" dirty="0">
                <a:latin typeface="Consolas" panose="020B0609020204030204" pitchFamily="49" charset="0"/>
              </a:rPr>
              <a:t>        return [</a:t>
            </a:r>
            <a:r>
              <a:rPr lang="en-US" altLang="ja-JP" sz="1400" dirty="0" err="1">
                <a:latin typeface="Consolas" panose="020B0609020204030204" pitchFamily="49" charset="0"/>
              </a:rPr>
              <a:t>self.vocab.get</a:t>
            </a:r>
            <a:r>
              <a:rPr lang="en-US" altLang="ja-JP" sz="1400" dirty="0">
                <a:latin typeface="Consolas" panose="020B0609020204030204" pitchFamily="49" charset="0"/>
              </a:rPr>
              <a:t>(t,1) for t in a], [</a:t>
            </a:r>
            <a:r>
              <a:rPr lang="en-US" altLang="ja-JP" sz="1400" dirty="0" err="1">
                <a:latin typeface="Consolas" panose="020B0609020204030204" pitchFamily="49" charset="0"/>
              </a:rPr>
              <a:t>self.vocab.get</a:t>
            </a:r>
            <a:r>
              <a:rPr lang="en-US" altLang="ja-JP" sz="1400" dirty="0">
                <a:latin typeface="Consolas" panose="020B0609020204030204" pitchFamily="49" charset="0"/>
              </a:rPr>
              <a:t>(t,1) for t in b], l</a:t>
            </a:r>
          </a:p>
          <a:p>
            <a:r>
              <a:rPr lang="en-US" altLang="ja-JP" sz="1400" dirty="0">
                <a:latin typeface="Consolas" panose="020B0609020204030204" pitchFamily="49" charset="0"/>
              </a:rPr>
              <a:t>    def __</a:t>
            </a:r>
            <a:r>
              <a:rPr lang="en-US" altLang="ja-JP" sz="1400" dirty="0" err="1">
                <a:latin typeface="Consolas" panose="020B0609020204030204" pitchFamily="49" charset="0"/>
              </a:rPr>
              <a:t>len</a:t>
            </a:r>
            <a:r>
              <a:rPr lang="en-US" altLang="ja-JP" sz="1400" dirty="0">
                <a:latin typeface="Consolas" panose="020B0609020204030204" pitchFamily="49" charset="0"/>
              </a:rPr>
              <a:t>__(self): return </a:t>
            </a:r>
            <a:r>
              <a:rPr lang="en-US" altLang="ja-JP" sz="1400" dirty="0" err="1">
                <a:latin typeface="Consolas" panose="020B0609020204030204" pitchFamily="49" charset="0"/>
              </a:rPr>
              <a:t>len</a:t>
            </a:r>
            <a:r>
              <a:rPr lang="en-US" altLang="ja-JP" sz="1400" dirty="0">
                <a:latin typeface="Consolas" panose="020B0609020204030204" pitchFamily="49" charset="0"/>
              </a:rPr>
              <a:t>(</a:t>
            </a:r>
            <a:r>
              <a:rPr lang="en-US" altLang="ja-JP" sz="1400" dirty="0" err="1">
                <a:latin typeface="Consolas" panose="020B0609020204030204" pitchFamily="49" charset="0"/>
              </a:rPr>
              <a:t>self.data</a:t>
            </a:r>
            <a:r>
              <a:rPr lang="en-US" altLang="ja-JP" sz="1400" dirty="0">
                <a:latin typeface="Consolas" panose="020B0609020204030204" pitchFamily="49" charset="0"/>
              </a:rPr>
              <a:t>)</a:t>
            </a:r>
          </a:p>
          <a:p>
            <a:endParaRPr lang="en-US" altLang="ja-JP" sz="1400" dirty="0">
              <a:latin typeface="Consolas" panose="020B0609020204030204" pitchFamily="49" charset="0"/>
            </a:endParaRPr>
          </a:p>
          <a:p>
            <a:r>
              <a:rPr lang="en-US" altLang="ja-JP" sz="1400" dirty="0" err="1">
                <a:latin typeface="Consolas" panose="020B0609020204030204" pitchFamily="49" charset="0"/>
              </a:rPr>
              <a:t>train_loader</a:t>
            </a:r>
            <a:r>
              <a:rPr lang="en-US" altLang="ja-JP" sz="1400" dirty="0">
                <a:latin typeface="Consolas" panose="020B0609020204030204" pitchFamily="49" charset="0"/>
              </a:rPr>
              <a:t> = </a:t>
            </a:r>
            <a:r>
              <a:rPr lang="en-US" altLang="ja-JP" sz="1400" dirty="0" err="1">
                <a:latin typeface="Consolas" panose="020B0609020204030204" pitchFamily="49" charset="0"/>
              </a:rPr>
              <a:t>DataLoader</a:t>
            </a:r>
            <a:r>
              <a:rPr lang="en-US" altLang="ja-JP" sz="1400" dirty="0">
                <a:latin typeface="Consolas" panose="020B0609020204030204" pitchFamily="49" charset="0"/>
              </a:rPr>
              <a:t>(</a:t>
            </a:r>
            <a:r>
              <a:rPr lang="en-US" altLang="ja-JP" sz="1400" dirty="0" err="1">
                <a:latin typeface="Consolas" panose="020B0609020204030204" pitchFamily="49" charset="0"/>
              </a:rPr>
              <a:t>PairDataset</a:t>
            </a:r>
            <a:r>
              <a:rPr lang="en-US" altLang="ja-JP" sz="1400" dirty="0">
                <a:latin typeface="Consolas" panose="020B0609020204030204" pitchFamily="49" charset="0"/>
              </a:rPr>
              <a:t>(</a:t>
            </a:r>
            <a:r>
              <a:rPr lang="en-US" altLang="ja-JP" sz="1400" dirty="0" err="1">
                <a:latin typeface="Consolas" panose="020B0609020204030204" pitchFamily="49" charset="0"/>
              </a:rPr>
              <a:t>df</a:t>
            </a:r>
            <a:r>
              <a:rPr lang="en-US" altLang="ja-JP" sz="1400" dirty="0">
                <a:latin typeface="Consolas" panose="020B0609020204030204" pitchFamily="49" charset="0"/>
              </a:rPr>
              <a:t>, vocab), </a:t>
            </a:r>
            <a:r>
              <a:rPr lang="en-US" altLang="ja-JP" sz="1400" dirty="0" err="1">
                <a:latin typeface="Consolas" panose="020B0609020204030204" pitchFamily="49" charset="0"/>
              </a:rPr>
              <a:t>batch_size</a:t>
            </a:r>
            <a:r>
              <a:rPr lang="en-US" altLang="ja-JP" sz="1400" dirty="0">
                <a:latin typeface="Consolas" panose="020B0609020204030204" pitchFamily="49" charset="0"/>
              </a:rPr>
              <a:t>=32, shuffle=True)</a:t>
            </a:r>
          </a:p>
        </p:txBody>
      </p:sp>
    </p:spTree>
    <p:extLst>
      <p:ext uri="{BB962C8B-B14F-4D97-AF65-F5344CB8AC3E}">
        <p14:creationId xmlns:p14="http://schemas.microsoft.com/office/powerpoint/2010/main" val="3862444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7E54B8-CB50-43A7-D362-D6F938A5D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Input/Output Summary for Training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C11B330B-37E0-ED5E-5DD4-0539FC1170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682835"/>
              </p:ext>
            </p:extLst>
          </p:nvPr>
        </p:nvGraphicFramePr>
        <p:xfrm>
          <a:off x="838200" y="2218214"/>
          <a:ext cx="10515600" cy="3291840"/>
        </p:xfrm>
        <a:graphic>
          <a:graphicData uri="http://schemas.openxmlformats.org/drawingml/2006/table">
            <a:tbl>
              <a:tblPr/>
              <a:tblGrid>
                <a:gridCol w="1988127">
                  <a:extLst>
                    <a:ext uri="{9D8B030D-6E8A-4147-A177-3AD203B41FA5}">
                      <a16:colId xmlns:a16="http://schemas.microsoft.com/office/drawing/2014/main" val="2247903868"/>
                    </a:ext>
                  </a:extLst>
                </a:gridCol>
                <a:gridCol w="2218113">
                  <a:extLst>
                    <a:ext uri="{9D8B030D-6E8A-4147-A177-3AD203B41FA5}">
                      <a16:colId xmlns:a16="http://schemas.microsoft.com/office/drawing/2014/main" val="1530205836"/>
                    </a:ext>
                  </a:extLst>
                </a:gridCol>
                <a:gridCol w="1962002">
                  <a:extLst>
                    <a:ext uri="{9D8B030D-6E8A-4147-A177-3AD203B41FA5}">
                      <a16:colId xmlns:a16="http://schemas.microsoft.com/office/drawing/2014/main" val="3469604727"/>
                    </a:ext>
                  </a:extLst>
                </a:gridCol>
                <a:gridCol w="2042555">
                  <a:extLst>
                    <a:ext uri="{9D8B030D-6E8A-4147-A177-3AD203B41FA5}">
                      <a16:colId xmlns:a16="http://schemas.microsoft.com/office/drawing/2014/main" val="1883884267"/>
                    </a:ext>
                  </a:extLst>
                </a:gridCol>
                <a:gridCol w="2304803">
                  <a:extLst>
                    <a:ext uri="{9D8B030D-6E8A-4147-A177-3AD203B41FA5}">
                      <a16:colId xmlns:a16="http://schemas.microsoft.com/office/drawing/2014/main" val="3705673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Example Tensor 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495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Tokenizer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Raw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Token 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[T]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vocab indexing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056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Pad + Mask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Variable 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Fixed length tensor + mask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[B,T]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ignored tokens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21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DataLoader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Sent pairs + labels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Batch tensors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x₁,x₂,label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GPU ready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2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BiLSTM Encoder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Token 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256-dim vector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[B,256]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semantic embedding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270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Loss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Pair embeddings + 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scalar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>
                          <a:latin typeface="Courier New" panose="02070309020205020404" pitchFamily="49" charset="0"/>
                        </a:rPr>
                        <a:t>[1]</a:t>
                      </a:r>
                      <a:endParaRPr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optimize semantic 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409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38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4550B-A9CF-C474-2A8B-87CE7B31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Overall </a:t>
            </a:r>
            <a:r>
              <a:rPr kumimoji="1" lang="en-US" altLang="ja-JP" dirty="0" err="1"/>
              <a:t>BiLSTM</a:t>
            </a:r>
            <a:r>
              <a:rPr kumimoji="1" lang="en-US" altLang="ja-JP" dirty="0"/>
              <a:t> Encoder Structure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B2EB5E-6D08-A2FB-7090-9934BF878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32619"/>
          </a:xfrm>
        </p:spPr>
        <p:txBody>
          <a:bodyPr>
            <a:normAutofit fontScale="77500" lnSpcReduction="20000"/>
          </a:bodyPr>
          <a:lstStyle/>
          <a:p>
            <a:r>
              <a:rPr lang="en-US" altLang="ja-JP" b="1" dirty="0"/>
              <a:t>Goal:</a:t>
            </a:r>
            <a:r>
              <a:rPr lang="en-US" altLang="ja-JP" dirty="0"/>
              <a:t> Learn dense representations of sentences capturing context from both directions.</a:t>
            </a:r>
          </a:p>
          <a:p>
            <a:pPr lvl="1"/>
            <a:r>
              <a:rPr lang="en-US" altLang="ja-JP" dirty="0">
                <a:highlight>
                  <a:srgbClr val="FFCCFF"/>
                </a:highlight>
              </a:rPr>
              <a:t>Embedding → </a:t>
            </a:r>
            <a:r>
              <a:rPr lang="en-US" altLang="ja-JP" dirty="0" err="1">
                <a:highlight>
                  <a:srgbClr val="FFCCFF"/>
                </a:highlight>
              </a:rPr>
              <a:t>BiLSTM</a:t>
            </a:r>
            <a:r>
              <a:rPr lang="en-US" altLang="ja-JP" dirty="0">
                <a:highlight>
                  <a:srgbClr val="FFCCFF"/>
                </a:highlight>
              </a:rPr>
              <a:t> → Pooling → Projection → Normalization</a:t>
            </a:r>
          </a:p>
          <a:p>
            <a:r>
              <a:rPr lang="en-US" altLang="ja-JP" dirty="0"/>
              <a:t>Each sentence (sequence of token IDs) is transformed into a vector in ℝ²⁵⁶.</a:t>
            </a:r>
          </a:p>
          <a:p>
            <a:r>
              <a:rPr lang="en-US" altLang="ja-JP" dirty="0"/>
              <a:t>Two LSTM layers process forward and backward directions to capture context.</a:t>
            </a:r>
          </a:p>
          <a:p>
            <a:r>
              <a:rPr lang="en-US" altLang="ja-JP" dirty="0"/>
              <a:t>Mean pooling combines token representations into a single sentence vector.</a:t>
            </a:r>
          </a:p>
          <a:p>
            <a:r>
              <a:rPr lang="en-US" altLang="ja-JP" dirty="0"/>
              <a:t>Linear projection reduces dimension and aligns vectors for cosine similarity.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023EB0D-A789-1E4C-487E-D0AA779A3ACB}"/>
              </a:ext>
            </a:extLst>
          </p:cNvPr>
          <p:cNvSpPr txBox="1"/>
          <p:nvPr/>
        </p:nvSpPr>
        <p:spPr>
          <a:xfrm>
            <a:off x="1296885" y="4461550"/>
            <a:ext cx="9598230" cy="20313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class </a:t>
            </a:r>
            <a:r>
              <a:rPr lang="en-US" altLang="ja-JP" dirty="0" err="1">
                <a:latin typeface="Consolas" panose="020B0609020204030204" pitchFamily="49" charset="0"/>
              </a:rPr>
              <a:t>BiLSTMEncoder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nn.Module</a:t>
            </a:r>
            <a:r>
              <a:rPr lang="en-US" altLang="ja-JP" dirty="0">
                <a:latin typeface="Consolas" panose="020B0609020204030204" pitchFamily="49" charset="0"/>
              </a:rPr>
              <a:t>):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def __</a:t>
            </a:r>
            <a:r>
              <a:rPr lang="en-US" altLang="ja-JP" dirty="0" err="1">
                <a:latin typeface="Consolas" panose="020B0609020204030204" pitchFamily="49" charset="0"/>
              </a:rPr>
              <a:t>init</a:t>
            </a:r>
            <a:r>
              <a:rPr lang="en-US" altLang="ja-JP" dirty="0">
                <a:latin typeface="Consolas" panose="020B0609020204030204" pitchFamily="49" charset="0"/>
              </a:rPr>
              <a:t>__(self, </a:t>
            </a:r>
            <a:r>
              <a:rPr lang="en-US" altLang="ja-JP" dirty="0" err="1">
                <a:latin typeface="Consolas" panose="020B0609020204030204" pitchFamily="49" charset="0"/>
              </a:rPr>
              <a:t>vocab_size</a:t>
            </a:r>
            <a:r>
              <a:rPr lang="en-US" altLang="ja-JP" dirty="0">
                <a:latin typeface="Consolas" panose="020B0609020204030204" pitchFamily="49" charset="0"/>
              </a:rPr>
              <a:t>, </a:t>
            </a:r>
            <a:r>
              <a:rPr lang="en-US" altLang="ja-JP" dirty="0" err="1">
                <a:latin typeface="Consolas" panose="020B0609020204030204" pitchFamily="49" charset="0"/>
              </a:rPr>
              <a:t>emb_dim</a:t>
            </a:r>
            <a:r>
              <a:rPr lang="en-US" altLang="ja-JP" dirty="0">
                <a:latin typeface="Consolas" panose="020B0609020204030204" pitchFamily="49" charset="0"/>
              </a:rPr>
              <a:t>=128, </a:t>
            </a:r>
            <a:r>
              <a:rPr lang="en-US" altLang="ja-JP" dirty="0" err="1">
                <a:latin typeface="Consolas" panose="020B0609020204030204" pitchFamily="49" charset="0"/>
              </a:rPr>
              <a:t>hidden_dim</a:t>
            </a:r>
            <a:r>
              <a:rPr lang="en-US" altLang="ja-JP" dirty="0">
                <a:latin typeface="Consolas" panose="020B0609020204030204" pitchFamily="49" charset="0"/>
              </a:rPr>
              <a:t>=128):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super().__</a:t>
            </a:r>
            <a:r>
              <a:rPr lang="en-US" altLang="ja-JP" dirty="0" err="1">
                <a:latin typeface="Consolas" panose="020B0609020204030204" pitchFamily="49" charset="0"/>
              </a:rPr>
              <a:t>init</a:t>
            </a:r>
            <a:r>
              <a:rPr lang="en-US" altLang="ja-JP" dirty="0">
                <a:latin typeface="Consolas" panose="020B0609020204030204" pitchFamily="49" charset="0"/>
              </a:rPr>
              <a:t>__()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</a:t>
            </a:r>
            <a:r>
              <a:rPr lang="en-US" altLang="ja-JP" dirty="0" err="1">
                <a:latin typeface="Consolas" panose="020B0609020204030204" pitchFamily="49" charset="0"/>
              </a:rPr>
              <a:t>self.embedding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nn.Embedding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vocab_size</a:t>
            </a:r>
            <a:r>
              <a:rPr lang="en-US" altLang="ja-JP" dirty="0">
                <a:latin typeface="Consolas" panose="020B0609020204030204" pitchFamily="49" charset="0"/>
              </a:rPr>
              <a:t>, </a:t>
            </a:r>
            <a:r>
              <a:rPr lang="en-US" altLang="ja-JP" dirty="0" err="1">
                <a:latin typeface="Consolas" panose="020B0609020204030204" pitchFamily="49" charset="0"/>
              </a:rPr>
              <a:t>emb_dim</a:t>
            </a:r>
            <a:r>
              <a:rPr lang="en-US" altLang="ja-JP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</a:t>
            </a:r>
            <a:r>
              <a:rPr lang="en-US" altLang="ja-JP" dirty="0" err="1">
                <a:latin typeface="Consolas" panose="020B0609020204030204" pitchFamily="49" charset="0"/>
              </a:rPr>
              <a:t>self.lstm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nn.LSTM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emb_dim</a:t>
            </a:r>
            <a:r>
              <a:rPr lang="en-US" altLang="ja-JP" dirty="0">
                <a:latin typeface="Consolas" panose="020B0609020204030204" pitchFamily="49" charset="0"/>
              </a:rPr>
              <a:t>, </a:t>
            </a:r>
            <a:r>
              <a:rPr lang="en-US" altLang="ja-JP" dirty="0" err="1">
                <a:latin typeface="Consolas" panose="020B0609020204030204" pitchFamily="49" charset="0"/>
              </a:rPr>
              <a:t>hidden_dim</a:t>
            </a:r>
            <a:r>
              <a:rPr lang="en-US" altLang="ja-JP" dirty="0">
                <a:latin typeface="Consolas" panose="020B0609020204030204" pitchFamily="49" charset="0"/>
              </a:rPr>
              <a:t>, 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                    </a:t>
            </a:r>
            <a:r>
              <a:rPr lang="en-US" altLang="ja-JP" dirty="0" err="1">
                <a:latin typeface="Consolas" panose="020B0609020204030204" pitchFamily="49" charset="0"/>
              </a:rPr>
              <a:t>batch_first</a:t>
            </a:r>
            <a:r>
              <a:rPr lang="en-US" altLang="ja-JP" dirty="0">
                <a:latin typeface="Consolas" panose="020B0609020204030204" pitchFamily="49" charset="0"/>
              </a:rPr>
              <a:t>=True, bidirectional=True)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</a:t>
            </a:r>
            <a:r>
              <a:rPr lang="en-US" altLang="ja-JP" dirty="0" err="1">
                <a:latin typeface="Consolas" panose="020B0609020204030204" pitchFamily="49" charset="0"/>
              </a:rPr>
              <a:t>self.proj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nn.Linear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hidden_dim</a:t>
            </a:r>
            <a:r>
              <a:rPr lang="en-US" altLang="ja-JP" dirty="0">
                <a:latin typeface="Consolas" panose="020B0609020204030204" pitchFamily="49" charset="0"/>
              </a:rPr>
              <a:t>*2, 256)</a:t>
            </a:r>
          </a:p>
        </p:txBody>
      </p:sp>
    </p:spTree>
    <p:extLst>
      <p:ext uri="{BB962C8B-B14F-4D97-AF65-F5344CB8AC3E}">
        <p14:creationId xmlns:p14="http://schemas.microsoft.com/office/powerpoint/2010/main" val="3534733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3F2E1C-3E73-DFCE-BEEC-307DCC7A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Embedding Layer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E70711-E7F4-3A3C-B995-EDE058480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b="1"/>
              <a:t>Mapping Tokens → Vectors</a:t>
            </a:r>
            <a:endParaRPr lang="en-US" altLang="ja-JP"/>
          </a:p>
          <a:p>
            <a:r>
              <a:rPr lang="en-US" altLang="ja-JP"/>
              <a:t>The embedding matrix acts as a learnable lookup table.</a:t>
            </a:r>
          </a:p>
          <a:p>
            <a:r>
              <a:rPr lang="en-US" altLang="ja-JP"/>
              <a:t>Converts each word ID to a dense vector that captures semantic relationships.</a:t>
            </a:r>
          </a:p>
          <a:p>
            <a:r>
              <a:rPr lang="en-US" altLang="ja-JP"/>
              <a:t>This layer is updated during training — the model learns word semantics implicitly.</a:t>
            </a:r>
          </a:p>
          <a:p>
            <a:r>
              <a:rPr lang="en-US" altLang="ja-JP" b="1"/>
              <a:t>Embedding Operation</a:t>
            </a:r>
            <a:endParaRPr lang="en-US" altLang="ja-JP"/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95F41A-1BEE-BCD7-5A8B-B6E0F44E2D1A}"/>
              </a:ext>
            </a:extLst>
          </p:cNvPr>
          <p:cNvSpPr txBox="1"/>
          <p:nvPr/>
        </p:nvSpPr>
        <p:spPr>
          <a:xfrm>
            <a:off x="1296885" y="5138444"/>
            <a:ext cx="959823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x = </a:t>
            </a:r>
            <a:r>
              <a:rPr lang="en-US" altLang="ja-JP" dirty="0" err="1">
                <a:latin typeface="Consolas" panose="020B0609020204030204" pitchFamily="49" charset="0"/>
              </a:rPr>
              <a:t>self.embedding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input_ids</a:t>
            </a:r>
            <a:r>
              <a:rPr lang="en-US" altLang="ja-JP" dirty="0">
                <a:latin typeface="Consolas" panose="020B0609020204030204" pitchFamily="49" charset="0"/>
              </a:rPr>
              <a:t>)  # shape: [B, T, </a:t>
            </a:r>
            <a:r>
              <a:rPr lang="en-US" altLang="ja-JP" dirty="0" err="1">
                <a:latin typeface="Consolas" panose="020B0609020204030204" pitchFamily="49" charset="0"/>
              </a:rPr>
              <a:t>emb_dim</a:t>
            </a:r>
            <a:r>
              <a:rPr lang="en-US" altLang="ja-JP" dirty="0"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41F2B5-10FD-B310-0DF6-0692CF5D8410}"/>
              </a:ext>
            </a:extLst>
          </p:cNvPr>
          <p:cNvSpPr txBox="1"/>
          <p:nvPr/>
        </p:nvSpPr>
        <p:spPr>
          <a:xfrm>
            <a:off x="2624447" y="5911391"/>
            <a:ext cx="66293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ja-JP" sz="2000" dirty="0">
                <a:highlight>
                  <a:srgbClr val="FFCCFF"/>
                </a:highlight>
              </a:rPr>
              <a:t>tokens </a:t>
            </a:r>
            <a:r>
              <a:rPr lang="it-IT" altLang="ja-JP" sz="2000" dirty="0">
                <a:highlight>
                  <a:srgbClr val="FFCCFF"/>
                </a:highlight>
                <a:latin typeface="Courier New" panose="02070309020205020404" pitchFamily="49" charset="0"/>
              </a:rPr>
              <a:t>[w1 w2 w3]</a:t>
            </a:r>
            <a:r>
              <a:rPr lang="it-IT" altLang="ja-JP" sz="2000" dirty="0">
                <a:highlight>
                  <a:srgbClr val="FFCCFF"/>
                </a:highlight>
              </a:rPr>
              <a:t> → </a:t>
            </a:r>
            <a:r>
              <a:rPr lang="it-IT" altLang="ja-JP" sz="2000" dirty="0" err="1">
                <a:highlight>
                  <a:srgbClr val="FFCCFF"/>
                </a:highlight>
              </a:rPr>
              <a:t>vectors</a:t>
            </a:r>
            <a:r>
              <a:rPr lang="it-IT" altLang="ja-JP" sz="2000" dirty="0">
                <a:highlight>
                  <a:srgbClr val="FFCCFF"/>
                </a:highlight>
              </a:rPr>
              <a:t> </a:t>
            </a:r>
            <a:r>
              <a:rPr lang="it-IT" altLang="ja-JP" sz="2000" dirty="0">
                <a:highlight>
                  <a:srgbClr val="FFCCFF"/>
                </a:highlight>
                <a:latin typeface="Courier New" panose="02070309020205020404" pitchFamily="49" charset="0"/>
              </a:rPr>
              <a:t>[e1 e2 e3]</a:t>
            </a:r>
            <a:r>
              <a:rPr lang="it-IT" altLang="ja-JP" sz="2000" dirty="0">
                <a:highlight>
                  <a:srgbClr val="FFCCFF"/>
                </a:highlight>
              </a:rPr>
              <a:t> in ℝᵉᵐᵇ</a:t>
            </a:r>
            <a:endParaRPr lang="ja-JP" altLang="en-US" sz="2000" dirty="0">
              <a:highlight>
                <a:srgbClr val="FFCC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74824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029580-04D3-B985-6C9A-7AE0983C7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Bidirectional LSTM Layer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78A604-41C7-1B69-29F3-4721DF0B5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9838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ja-JP" b="1" dirty="0"/>
              <a:t>Capturing Context in Both Directions</a:t>
            </a:r>
            <a:endParaRPr lang="en-US" altLang="ja-JP" dirty="0"/>
          </a:p>
          <a:p>
            <a:r>
              <a:rPr lang="en-US" altLang="ja-JP" dirty="0"/>
              <a:t>Two LSTM cells run forward (x₁ → xₙ) and backward (xₙ → x₁).</a:t>
            </a:r>
          </a:p>
          <a:p>
            <a:r>
              <a:rPr lang="en-US" altLang="ja-JP" dirty="0"/>
              <a:t>Outputs from both directions are concatenated to form context-aware features.</a:t>
            </a:r>
          </a:p>
          <a:p>
            <a:r>
              <a:rPr lang="en-US" altLang="ja-JP" dirty="0"/>
              <a:t>This architecture enables the encoder to “see” both past and future words.</a:t>
            </a:r>
          </a:p>
          <a:p>
            <a:r>
              <a:rPr lang="en-US" altLang="ja-JP" b="1" dirty="0"/>
              <a:t>Forward Pass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DA5CEF5-3854-F583-EB18-9AE52620BF9E}"/>
              </a:ext>
            </a:extLst>
          </p:cNvPr>
          <p:cNvSpPr txBox="1"/>
          <p:nvPr/>
        </p:nvSpPr>
        <p:spPr>
          <a:xfrm>
            <a:off x="1391887" y="4624839"/>
            <a:ext cx="959823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>
                <a:latin typeface="Consolas" panose="020B0609020204030204" pitchFamily="49" charset="0"/>
              </a:rPr>
              <a:t>h, _ = self.lstm(x)  # h: [B, T, hidden_dim × 2]</a:t>
            </a:r>
            <a:endParaRPr lang="en-US" altLang="ja-JP" dirty="0">
              <a:latin typeface="Consolas" panose="020B0609020204030204" pitchFamily="49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DAF7827-68C2-E10D-4317-665BCFE202A7}"/>
              </a:ext>
            </a:extLst>
          </p:cNvPr>
          <p:cNvSpPr txBox="1"/>
          <p:nvPr/>
        </p:nvSpPr>
        <p:spPr>
          <a:xfrm>
            <a:off x="4034642" y="5345369"/>
            <a:ext cx="3945576" cy="923330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en-US" altLang="ja-JP" dirty="0">
                <a:latin typeface="Courier New" panose="02070309020205020404" pitchFamily="49" charset="0"/>
              </a:rPr>
              <a:t>x₁ → x₂ → x₃</a:t>
            </a:r>
            <a:r>
              <a:rPr lang="en-US" altLang="ja-JP" dirty="0"/>
              <a:t> → h→(forward)</a:t>
            </a:r>
            <a:br>
              <a:rPr lang="en-US" altLang="ja-JP" dirty="0"/>
            </a:br>
            <a:r>
              <a:rPr lang="en-US" altLang="ja-JP" dirty="0">
                <a:latin typeface="Courier New" panose="02070309020205020404" pitchFamily="49" charset="0"/>
              </a:rPr>
              <a:t>x₃ → x₂ → x₁</a:t>
            </a:r>
            <a:r>
              <a:rPr lang="en-US" altLang="ja-JP" dirty="0"/>
              <a:t> → h←(backward)</a:t>
            </a:r>
            <a:br>
              <a:rPr lang="en-US" altLang="ja-JP" dirty="0"/>
            </a:br>
            <a:r>
              <a:rPr lang="en-US" altLang="ja-JP" dirty="0"/>
              <a:t>then → </a:t>
            </a:r>
            <a:r>
              <a:rPr lang="en-US" altLang="ja-JP" dirty="0" err="1">
                <a:latin typeface="Courier New" panose="02070309020205020404" pitchFamily="49" charset="0"/>
              </a:rPr>
              <a:t>concat</a:t>
            </a:r>
            <a:r>
              <a:rPr lang="en-US" altLang="ja-JP" dirty="0">
                <a:latin typeface="Courier New" panose="02070309020205020404" pitchFamily="49" charset="0"/>
              </a:rPr>
              <a:t>(h→, h←)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79844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C8B809-4F2A-5D9F-2A00-7787CC7C7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Pooling Strategy (Mean Pooling)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D28602-131A-7C56-0ADB-C0EE0CFDA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088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ja-JP" b="1" dirty="0"/>
              <a:t>From Sequence → Sentence Vector</a:t>
            </a:r>
            <a:endParaRPr lang="en-US" altLang="ja-JP" dirty="0"/>
          </a:p>
          <a:p>
            <a:r>
              <a:rPr lang="en-US" altLang="ja-JP" dirty="0"/>
              <a:t>Sentences have different lengths; we need one fixed-length vector per sentence.</a:t>
            </a:r>
          </a:p>
          <a:p>
            <a:r>
              <a:rPr lang="en-US" altLang="ja-JP" dirty="0"/>
              <a:t>Simple and effective: take the mean of all valid token states (excluding padding).</a:t>
            </a:r>
          </a:p>
          <a:p>
            <a:r>
              <a:rPr lang="en-US" altLang="ja-JP" b="1" dirty="0"/>
              <a:t>Implementation (from NLPDL_Ex2)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96C421-7B95-DB45-9654-83B767C0A66A}"/>
              </a:ext>
            </a:extLst>
          </p:cNvPr>
          <p:cNvSpPr txBox="1"/>
          <p:nvPr/>
        </p:nvSpPr>
        <p:spPr>
          <a:xfrm>
            <a:off x="1296885" y="4334494"/>
            <a:ext cx="9598230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mask = (</a:t>
            </a:r>
            <a:r>
              <a:rPr lang="en-US" altLang="ja-JP" dirty="0" err="1">
                <a:latin typeface="Consolas" panose="020B0609020204030204" pitchFamily="49" charset="0"/>
              </a:rPr>
              <a:t>input_ids</a:t>
            </a:r>
            <a:r>
              <a:rPr lang="en-US" altLang="ja-JP" dirty="0">
                <a:latin typeface="Consolas" panose="020B0609020204030204" pitchFamily="49" charset="0"/>
              </a:rPr>
              <a:t> != 0).float().</a:t>
            </a:r>
            <a:r>
              <a:rPr lang="en-US" altLang="ja-JP" dirty="0" err="1">
                <a:latin typeface="Consolas" panose="020B0609020204030204" pitchFamily="49" charset="0"/>
              </a:rPr>
              <a:t>unsqueeze</a:t>
            </a:r>
            <a:r>
              <a:rPr lang="en-US" altLang="ja-JP" dirty="0">
                <a:latin typeface="Consolas" panose="020B0609020204030204" pitchFamily="49" charset="0"/>
              </a:rPr>
              <a:t>(-1)</a:t>
            </a:r>
          </a:p>
          <a:p>
            <a:r>
              <a:rPr lang="en-US" altLang="ja-JP" dirty="0" err="1">
                <a:latin typeface="Consolas" panose="020B0609020204030204" pitchFamily="49" charset="0"/>
              </a:rPr>
              <a:t>h_masked</a:t>
            </a:r>
            <a:r>
              <a:rPr lang="en-US" altLang="ja-JP" dirty="0">
                <a:latin typeface="Consolas" panose="020B0609020204030204" pitchFamily="49" charset="0"/>
              </a:rPr>
              <a:t> = h * mask</a:t>
            </a:r>
          </a:p>
          <a:p>
            <a:r>
              <a:rPr lang="en-US" altLang="ja-JP" dirty="0" err="1">
                <a:latin typeface="Consolas" panose="020B0609020204030204" pitchFamily="49" charset="0"/>
              </a:rPr>
              <a:t>sent_vec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h_masked.sum</a:t>
            </a:r>
            <a:r>
              <a:rPr lang="en-US" altLang="ja-JP" dirty="0">
                <a:latin typeface="Consolas" panose="020B0609020204030204" pitchFamily="49" charset="0"/>
              </a:rPr>
              <a:t>(dim=1) / </a:t>
            </a:r>
            <a:r>
              <a:rPr lang="en-US" altLang="ja-JP" dirty="0" err="1">
                <a:latin typeface="Consolas" panose="020B0609020204030204" pitchFamily="49" charset="0"/>
              </a:rPr>
              <a:t>mask.sum</a:t>
            </a:r>
            <a:r>
              <a:rPr lang="en-US" altLang="ja-JP" dirty="0">
                <a:latin typeface="Consolas" panose="020B0609020204030204" pitchFamily="49" charset="0"/>
              </a:rPr>
              <a:t>(dim=1)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7F9B08-840F-4287-D2B3-E134F6A233E0}"/>
              </a:ext>
            </a:extLst>
          </p:cNvPr>
          <p:cNvSpPr txBox="1"/>
          <p:nvPr/>
        </p:nvSpPr>
        <p:spPr>
          <a:xfrm>
            <a:off x="3038104" y="5677879"/>
            <a:ext cx="6115792" cy="369332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en-US" altLang="ja-JP" dirty="0"/>
              <a:t>average of token vectors → single point in vector space.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5521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850EF0-D7ED-B0B0-6432-4DF7B7232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Projection and Normalization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9BEC30-E909-6F25-9B64-4997C0CCA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882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ja-JP" b="1" dirty="0"/>
              <a:t>Final Semantic Representation</a:t>
            </a:r>
            <a:endParaRPr lang="en-US" altLang="ja-JP" dirty="0"/>
          </a:p>
          <a:p>
            <a:r>
              <a:rPr lang="en-US" altLang="ja-JP" dirty="0"/>
              <a:t>Reduce concatenated hidden state (2H) to 256-D vector.</a:t>
            </a:r>
          </a:p>
          <a:p>
            <a:r>
              <a:rPr lang="en-US" altLang="ja-JP" dirty="0"/>
              <a:t>Normalize to unit length so cosine similarity becomes dot product.</a:t>
            </a:r>
          </a:p>
          <a:p>
            <a:r>
              <a:rPr lang="en-US" altLang="ja-JP" b="1" dirty="0"/>
              <a:t>Projection Block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127013-C5A1-F510-7FAB-414628E9CC15}"/>
              </a:ext>
            </a:extLst>
          </p:cNvPr>
          <p:cNvSpPr txBox="1"/>
          <p:nvPr/>
        </p:nvSpPr>
        <p:spPr>
          <a:xfrm>
            <a:off x="1296885" y="4334494"/>
            <a:ext cx="9598230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out = </a:t>
            </a:r>
            <a:r>
              <a:rPr lang="en-US" altLang="ja-JP" dirty="0" err="1">
                <a:latin typeface="Consolas" panose="020B0609020204030204" pitchFamily="49" charset="0"/>
              </a:rPr>
              <a:t>self.proj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sent_vec</a:t>
            </a:r>
            <a:r>
              <a:rPr lang="en-US" altLang="ja-JP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out = </a:t>
            </a:r>
            <a:r>
              <a:rPr lang="en-US" altLang="ja-JP" dirty="0" err="1">
                <a:latin typeface="Consolas" panose="020B0609020204030204" pitchFamily="49" charset="0"/>
              </a:rPr>
              <a:t>F.normalize</a:t>
            </a:r>
            <a:r>
              <a:rPr lang="en-US" altLang="ja-JP" dirty="0">
                <a:latin typeface="Consolas" panose="020B0609020204030204" pitchFamily="49" charset="0"/>
              </a:rPr>
              <a:t>(out, p=2, dim=-1)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return out  # shape: [B, 256]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CEEF4CC-154B-CA3F-1557-A8BBAF3E1A6F}"/>
              </a:ext>
            </a:extLst>
          </p:cNvPr>
          <p:cNvSpPr txBox="1"/>
          <p:nvPr/>
        </p:nvSpPr>
        <p:spPr>
          <a:xfrm>
            <a:off x="2878776" y="5666004"/>
            <a:ext cx="6434447" cy="369332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dirty="0"/>
              <a:t>sentence embedding cloud in 2D projection (t-SNE view).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19490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D8199B-0AF4-2D34-526A-04C56ACB4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Model Output and Interpretation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A712962B-E319-84FA-9DDF-811EC236D6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153974"/>
              </p:ext>
            </p:extLst>
          </p:nvPr>
        </p:nvGraphicFramePr>
        <p:xfrm>
          <a:off x="838200" y="2514600"/>
          <a:ext cx="10515600" cy="1828800"/>
        </p:xfrm>
        <a:graphic>
          <a:graphicData uri="http://schemas.openxmlformats.org/drawingml/2006/table">
            <a:tbl>
              <a:tblPr/>
              <a:tblGrid>
                <a:gridCol w="1465613">
                  <a:extLst>
                    <a:ext uri="{9D8B030D-6E8A-4147-A177-3AD203B41FA5}">
                      <a16:colId xmlns:a16="http://schemas.microsoft.com/office/drawing/2014/main" val="3271505852"/>
                    </a:ext>
                  </a:extLst>
                </a:gridCol>
                <a:gridCol w="2173184">
                  <a:extLst>
                    <a:ext uri="{9D8B030D-6E8A-4147-A177-3AD203B41FA5}">
                      <a16:colId xmlns:a16="http://schemas.microsoft.com/office/drawing/2014/main" val="209001627"/>
                    </a:ext>
                  </a:extLst>
                </a:gridCol>
                <a:gridCol w="2565071">
                  <a:extLst>
                    <a:ext uri="{9D8B030D-6E8A-4147-A177-3AD203B41FA5}">
                      <a16:colId xmlns:a16="http://schemas.microsoft.com/office/drawing/2014/main" val="2859488203"/>
                    </a:ext>
                  </a:extLst>
                </a:gridCol>
                <a:gridCol w="1531916">
                  <a:extLst>
                    <a:ext uri="{9D8B030D-6E8A-4147-A177-3AD203B41FA5}">
                      <a16:colId xmlns:a16="http://schemas.microsoft.com/office/drawing/2014/main" val="1744554898"/>
                    </a:ext>
                  </a:extLst>
                </a:gridCol>
                <a:gridCol w="2779816">
                  <a:extLst>
                    <a:ext uri="{9D8B030D-6E8A-4147-A177-3AD203B41FA5}">
                      <a16:colId xmlns:a16="http://schemas.microsoft.com/office/drawing/2014/main" val="38011793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71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Embedding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Token 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Word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[B,T,128]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Word representation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402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BiLSTM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Word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Contextual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[B,T,256]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Context encoding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270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Pooling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Features + mask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Mean vector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[B,256]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Sentence 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741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Projection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Sentence vector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Semantic embedding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[B,256]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Similarity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118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740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CCEE90-21D0-36F4-3063-6F7E3C8BC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Training Objective: Contrastive Learning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761502-180C-8054-E962-8FD9A0731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1574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ja-JP" b="1" dirty="0"/>
              <a:t>Goal:</a:t>
            </a:r>
            <a:r>
              <a:rPr lang="en-US" altLang="ja-JP" dirty="0"/>
              <a:t> Make semantically similar sentences close — dissimilar ones far apart.</a:t>
            </a:r>
          </a:p>
          <a:p>
            <a:r>
              <a:rPr lang="en-US" altLang="ja-JP" dirty="0"/>
              <a:t>Use </a:t>
            </a:r>
            <a:r>
              <a:rPr lang="en-US" altLang="ja-JP" i="1" dirty="0"/>
              <a:t>contrastive loss</a:t>
            </a:r>
            <a:r>
              <a:rPr lang="en-US" altLang="ja-JP" dirty="0"/>
              <a:t> on encoded sentence pairs.</a:t>
            </a:r>
          </a:p>
          <a:p>
            <a:r>
              <a:rPr lang="en-US" altLang="ja-JP" dirty="0"/>
              <a:t>Input: (z₁, z₂, label) where label = 1 (similar) or 0 (different).</a:t>
            </a:r>
          </a:p>
          <a:p>
            <a:r>
              <a:rPr lang="en-US" altLang="ja-JP" dirty="0"/>
              <a:t>For positive pairs → minimize distance.</a:t>
            </a:r>
          </a:p>
          <a:p>
            <a:r>
              <a:rPr lang="en-US" altLang="ja-JP" dirty="0"/>
              <a:t>For negative pairs → enforce margin m between vectors.</a:t>
            </a:r>
          </a:p>
          <a:p>
            <a:r>
              <a:rPr lang="en-US" altLang="ja-JP" dirty="0"/>
              <a:t>This encourages a </a:t>
            </a:r>
            <a:r>
              <a:rPr lang="en-US" altLang="ja-JP" b="1" dirty="0"/>
              <a:t>structured embedding space</a:t>
            </a:r>
            <a:r>
              <a:rPr lang="en-US" altLang="ja-JP" dirty="0"/>
              <a:t> for semantic search.</a:t>
            </a:r>
          </a:p>
          <a:p>
            <a:r>
              <a:rPr lang="en-US" altLang="ja-JP" b="1" dirty="0"/>
              <a:t>Code Excerpt (from NLPDL_Ex2)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01D4AB-2D03-C4BE-C380-8C93C9B4AE24}"/>
              </a:ext>
            </a:extLst>
          </p:cNvPr>
          <p:cNvSpPr txBox="1"/>
          <p:nvPr/>
        </p:nvSpPr>
        <p:spPr>
          <a:xfrm>
            <a:off x="1296884" y="4576308"/>
            <a:ext cx="9598230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criterion = </a:t>
            </a:r>
            <a:r>
              <a:rPr lang="en-US" altLang="ja-JP" dirty="0" err="1">
                <a:latin typeface="Consolas" panose="020B0609020204030204" pitchFamily="49" charset="0"/>
              </a:rPr>
              <a:t>ContrastiveLoss</a:t>
            </a:r>
            <a:r>
              <a:rPr lang="en-US" altLang="ja-JP" dirty="0">
                <a:latin typeface="Consolas" panose="020B0609020204030204" pitchFamily="49" charset="0"/>
              </a:rPr>
              <a:t>(margin=1.0)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sim = </a:t>
            </a:r>
            <a:r>
              <a:rPr lang="en-US" altLang="ja-JP" dirty="0" err="1">
                <a:latin typeface="Consolas" panose="020B0609020204030204" pitchFamily="49" charset="0"/>
              </a:rPr>
              <a:t>F.cosine_similarity</a:t>
            </a:r>
            <a:r>
              <a:rPr lang="en-US" altLang="ja-JP" dirty="0">
                <a:latin typeface="Consolas" panose="020B0609020204030204" pitchFamily="49" charset="0"/>
              </a:rPr>
              <a:t>(z1, z2)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loss = criterion(sim, label)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8F1A08-2E2D-E793-95A5-77F58C390C97}"/>
              </a:ext>
            </a:extLst>
          </p:cNvPr>
          <p:cNvSpPr txBox="1"/>
          <p:nvPr/>
        </p:nvSpPr>
        <p:spPr>
          <a:xfrm>
            <a:off x="2264723" y="5784757"/>
            <a:ext cx="7662553" cy="369332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dirty="0"/>
              <a:t>two point clusters — positive pairs → close, negative → separated.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1827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C082BC-D59D-9770-FB3B-177DD691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Loss Function Details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598FB63-23A7-B45C-170D-741A1C5204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793876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altLang="ja-JP" b="1" dirty="0"/>
                  <a:t>Mathematical Form of Contrastive Loss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   where                     , margin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US" altLang="ja-JP" dirty="0"/>
                  <a:t>.</a:t>
                </a:r>
              </a:p>
              <a:p>
                <a:pPr lvl="1"/>
                <a:r>
                  <a:rPr lang="en-US" altLang="ja-JP" dirty="0"/>
                  <a:t>Penalizes positive pairs with low similarity.</a:t>
                </a:r>
              </a:p>
              <a:p>
                <a:pPr lvl="1"/>
                <a:r>
                  <a:rPr lang="en-US" altLang="ja-JP" dirty="0"/>
                  <a:t>Penalizes negative pairs that are too close.</a:t>
                </a:r>
              </a:p>
              <a:p>
                <a:pPr lvl="1"/>
                <a:r>
                  <a:rPr lang="en-US" altLang="ja-JP" dirty="0"/>
                  <a:t>Mean over batch stabilizes training.</a:t>
                </a:r>
              </a:p>
              <a:p>
                <a:r>
                  <a:rPr lang="en-US" altLang="ja-JP" b="1" dirty="0" err="1"/>
                  <a:t>PyTorch</a:t>
                </a:r>
                <a:r>
                  <a:rPr lang="en-US" altLang="ja-JP" b="1" dirty="0"/>
                  <a:t> Implementation</a:t>
                </a:r>
                <a:endParaRPr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598FB63-23A7-B45C-170D-741A1C5204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793876"/>
              </a:xfrm>
              <a:blipFill>
                <a:blip r:embed="rId2"/>
                <a:stretch>
                  <a:fillRect l="-928" t="-4793" b="-26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96324FCA-AC12-9D82-22DE-795B9EF0B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883" y="2158955"/>
            <a:ext cx="5880112" cy="83222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A1515C1-8757-6972-9F34-0DEEFFBF5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657" y="2979300"/>
            <a:ext cx="1780461" cy="29451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E2EEA04-2DE3-E1D1-D03E-0A3E7C7ED45B}"/>
              </a:ext>
            </a:extLst>
          </p:cNvPr>
          <p:cNvSpPr txBox="1"/>
          <p:nvPr/>
        </p:nvSpPr>
        <p:spPr>
          <a:xfrm>
            <a:off x="1296885" y="4520925"/>
            <a:ext cx="9598230" cy="20313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class </a:t>
            </a:r>
            <a:r>
              <a:rPr lang="en-US" altLang="ja-JP" dirty="0" err="1">
                <a:latin typeface="Consolas" panose="020B0609020204030204" pitchFamily="49" charset="0"/>
              </a:rPr>
              <a:t>ContrastiveLoss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nn.Module</a:t>
            </a:r>
            <a:r>
              <a:rPr lang="en-US" altLang="ja-JP" dirty="0">
                <a:latin typeface="Consolas" panose="020B0609020204030204" pitchFamily="49" charset="0"/>
              </a:rPr>
              <a:t>):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def __</a:t>
            </a:r>
            <a:r>
              <a:rPr lang="en-US" altLang="ja-JP" dirty="0" err="1">
                <a:latin typeface="Consolas" panose="020B0609020204030204" pitchFamily="49" charset="0"/>
              </a:rPr>
              <a:t>init</a:t>
            </a:r>
            <a:r>
              <a:rPr lang="en-US" altLang="ja-JP" dirty="0">
                <a:latin typeface="Consolas" panose="020B0609020204030204" pitchFamily="49" charset="0"/>
              </a:rPr>
              <a:t>__(self, margin=1.0):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super().__</a:t>
            </a:r>
            <a:r>
              <a:rPr lang="en-US" altLang="ja-JP" dirty="0" err="1">
                <a:latin typeface="Consolas" panose="020B0609020204030204" pitchFamily="49" charset="0"/>
              </a:rPr>
              <a:t>init</a:t>
            </a:r>
            <a:r>
              <a:rPr lang="en-US" altLang="ja-JP" dirty="0">
                <a:latin typeface="Consolas" panose="020B0609020204030204" pitchFamily="49" charset="0"/>
              </a:rPr>
              <a:t>__(); </a:t>
            </a:r>
            <a:r>
              <a:rPr lang="en-US" altLang="ja-JP" dirty="0" err="1">
                <a:latin typeface="Consolas" panose="020B0609020204030204" pitchFamily="49" charset="0"/>
              </a:rPr>
              <a:t>self.margin</a:t>
            </a:r>
            <a:r>
              <a:rPr lang="en-US" altLang="ja-JP" dirty="0">
                <a:latin typeface="Consolas" panose="020B0609020204030204" pitchFamily="49" charset="0"/>
              </a:rPr>
              <a:t> = margin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def forward(self, sim, label):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pos = label * (1 - sim).pow(2)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neg = (1 - label) * </a:t>
            </a:r>
            <a:r>
              <a:rPr lang="en-US" altLang="ja-JP" dirty="0" err="1">
                <a:latin typeface="Consolas" panose="020B0609020204030204" pitchFamily="49" charset="0"/>
              </a:rPr>
              <a:t>F.relu</a:t>
            </a:r>
            <a:r>
              <a:rPr lang="en-US" altLang="ja-JP" dirty="0">
                <a:latin typeface="Consolas" panose="020B0609020204030204" pitchFamily="49" charset="0"/>
              </a:rPr>
              <a:t>(sim - </a:t>
            </a:r>
            <a:r>
              <a:rPr lang="en-US" altLang="ja-JP" dirty="0" err="1">
                <a:latin typeface="Consolas" panose="020B0609020204030204" pitchFamily="49" charset="0"/>
              </a:rPr>
              <a:t>self.margin</a:t>
            </a:r>
            <a:r>
              <a:rPr lang="en-US" altLang="ja-JP" dirty="0">
                <a:latin typeface="Consolas" panose="020B0609020204030204" pitchFamily="49" charset="0"/>
              </a:rPr>
              <a:t>).pow(2)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return (pos + neg).mean()</a:t>
            </a:r>
          </a:p>
        </p:txBody>
      </p:sp>
    </p:spTree>
    <p:extLst>
      <p:ext uri="{BB962C8B-B14F-4D97-AF65-F5344CB8AC3E}">
        <p14:creationId xmlns:p14="http://schemas.microsoft.com/office/powerpoint/2010/main" val="3627593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532ECE-5980-5704-B2B3-987FC147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Optimizer and Schedular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BB5154-E84F-5913-59E0-E9331B3A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5068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ja-JP" b="1" dirty="0"/>
              <a:t>Controlling Learning Dynamics</a:t>
            </a:r>
            <a:endParaRPr lang="en-US" altLang="ja-JP" dirty="0"/>
          </a:p>
          <a:p>
            <a:r>
              <a:rPr lang="en-US" altLang="ja-JP" dirty="0"/>
              <a:t>Common choices: SGD (slow but stable), Adam (fast adaptive), </a:t>
            </a:r>
            <a:r>
              <a:rPr lang="en-US" altLang="ja-JP" dirty="0" err="1"/>
              <a:t>RMSProp</a:t>
            </a:r>
            <a:r>
              <a:rPr lang="en-US" altLang="ja-JP" dirty="0"/>
              <a:t> (compromise).</a:t>
            </a:r>
          </a:p>
          <a:p>
            <a:r>
              <a:rPr lang="en-US" altLang="ja-JP" dirty="0"/>
              <a:t>Typical learning rate: 1e-3 to 1e-4 for </a:t>
            </a:r>
            <a:r>
              <a:rPr lang="en-US" altLang="ja-JP" dirty="0" err="1"/>
              <a:t>BiLSTM</a:t>
            </a:r>
            <a:r>
              <a:rPr lang="en-US" altLang="ja-JP" dirty="0"/>
              <a:t>.</a:t>
            </a:r>
          </a:p>
          <a:p>
            <a:r>
              <a:rPr lang="en-US" altLang="ja-JP" dirty="0"/>
              <a:t>Use scheduler to reduce LR after plateau.</a:t>
            </a:r>
          </a:p>
          <a:p>
            <a:r>
              <a:rPr lang="en-US" altLang="ja-JP" dirty="0"/>
              <a:t>Regularization: weight decay and dropout (0.3 – 0.5).</a:t>
            </a:r>
          </a:p>
          <a:p>
            <a:r>
              <a:rPr lang="ja-JP" altLang="en-US" dirty="0"/>
              <a:t> </a:t>
            </a:r>
            <a:r>
              <a:rPr lang="en-US" altLang="ja-JP" b="1" dirty="0"/>
              <a:t>Code Example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C1D7FC8-0C39-5388-EAE6-42AB79DFC0EA}"/>
              </a:ext>
            </a:extLst>
          </p:cNvPr>
          <p:cNvSpPr txBox="1"/>
          <p:nvPr/>
        </p:nvSpPr>
        <p:spPr>
          <a:xfrm>
            <a:off x="1067543" y="4556865"/>
            <a:ext cx="10056914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optimizer = </a:t>
            </a:r>
            <a:r>
              <a:rPr lang="en-US" altLang="ja-JP" dirty="0" err="1">
                <a:latin typeface="Consolas" panose="020B0609020204030204" pitchFamily="49" charset="0"/>
              </a:rPr>
              <a:t>torch.optim.Adam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model.parameters</a:t>
            </a:r>
            <a:r>
              <a:rPr lang="en-US" altLang="ja-JP" dirty="0">
                <a:latin typeface="Consolas" panose="020B0609020204030204" pitchFamily="49" charset="0"/>
              </a:rPr>
              <a:t>(), </a:t>
            </a:r>
            <a:r>
              <a:rPr lang="en-US" altLang="ja-JP" dirty="0" err="1">
                <a:latin typeface="Consolas" panose="020B0609020204030204" pitchFamily="49" charset="0"/>
              </a:rPr>
              <a:t>lr</a:t>
            </a:r>
            <a:r>
              <a:rPr lang="en-US" altLang="ja-JP" dirty="0">
                <a:latin typeface="Consolas" panose="020B0609020204030204" pitchFamily="49" charset="0"/>
              </a:rPr>
              <a:t>=1e-3, </a:t>
            </a:r>
            <a:r>
              <a:rPr lang="en-US" altLang="ja-JP" dirty="0" err="1">
                <a:latin typeface="Consolas" panose="020B0609020204030204" pitchFamily="49" charset="0"/>
              </a:rPr>
              <a:t>weight_decay</a:t>
            </a:r>
            <a:r>
              <a:rPr lang="en-US" altLang="ja-JP" dirty="0">
                <a:latin typeface="Consolas" panose="020B0609020204030204" pitchFamily="49" charset="0"/>
              </a:rPr>
              <a:t>=1e-5)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scheduler = </a:t>
            </a:r>
            <a:r>
              <a:rPr lang="en-US" altLang="ja-JP" dirty="0" err="1">
                <a:latin typeface="Consolas" panose="020B0609020204030204" pitchFamily="49" charset="0"/>
              </a:rPr>
              <a:t>torch.optim.lr_scheduler.ReduceLROnPlateau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optimizer, factor=0.5, patience=2, verbose=True)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AA92838-6447-E90E-3904-2E0355DD16C8}"/>
              </a:ext>
            </a:extLst>
          </p:cNvPr>
          <p:cNvSpPr txBox="1"/>
          <p:nvPr/>
        </p:nvSpPr>
        <p:spPr>
          <a:xfrm>
            <a:off x="2264723" y="5784757"/>
            <a:ext cx="7662553" cy="369332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dirty="0"/>
              <a:t>loss vs epoch curve showing smoother decay with scheduler.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1263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EB4E36-E669-C576-0FF1-DC451855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Training Loop Structure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808995-31AF-2AFE-5827-B5D3AC66A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57800" cy="4785433"/>
          </a:xfrm>
        </p:spPr>
        <p:txBody>
          <a:bodyPr>
            <a:normAutofit lnSpcReduction="10000"/>
          </a:bodyPr>
          <a:lstStyle/>
          <a:p>
            <a:r>
              <a:rPr lang="en-US" altLang="ja-JP" b="1" dirty="0"/>
              <a:t>Iterating through Batches</a:t>
            </a:r>
            <a:endParaRPr lang="en-US" altLang="ja-JP" dirty="0"/>
          </a:p>
          <a:p>
            <a:r>
              <a:rPr lang="en-US" altLang="ja-JP" dirty="0"/>
              <a:t>Each epoch runs multiple batches from </a:t>
            </a:r>
            <a:r>
              <a:rPr lang="en-US" altLang="ja-JP" dirty="0" err="1"/>
              <a:t>train_loader</a:t>
            </a:r>
            <a:r>
              <a:rPr lang="en-US" altLang="ja-JP" dirty="0"/>
              <a:t>.</a:t>
            </a:r>
          </a:p>
          <a:p>
            <a:r>
              <a:rPr lang="en-US" altLang="ja-JP" dirty="0"/>
              <a:t>Steps:</a:t>
            </a:r>
          </a:p>
          <a:p>
            <a:pPr lvl="1"/>
            <a:r>
              <a:rPr lang="en-US" altLang="ja-JP" dirty="0"/>
              <a:t>Forward pass → get embeddings.</a:t>
            </a:r>
          </a:p>
          <a:p>
            <a:pPr lvl="1"/>
            <a:r>
              <a:rPr lang="en-US" altLang="ja-JP" dirty="0"/>
              <a:t>Compute loss.</a:t>
            </a:r>
          </a:p>
          <a:p>
            <a:pPr lvl="1"/>
            <a:r>
              <a:rPr lang="en-US" altLang="ja-JP" dirty="0"/>
              <a:t>Backprop and gradient clipping.</a:t>
            </a:r>
          </a:p>
          <a:p>
            <a:pPr lvl="1"/>
            <a:r>
              <a:rPr lang="en-US" altLang="ja-JP" dirty="0"/>
              <a:t>Optimizer step + scheduler update.</a:t>
            </a:r>
          </a:p>
          <a:p>
            <a:r>
              <a:rPr lang="en-US" altLang="ja-JP" dirty="0"/>
              <a:t>Validation set used for loss monitoring.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33F913-DDF0-9C40-AD3F-6155A441F1B3}"/>
              </a:ext>
            </a:extLst>
          </p:cNvPr>
          <p:cNvSpPr txBox="1"/>
          <p:nvPr/>
        </p:nvSpPr>
        <p:spPr>
          <a:xfrm>
            <a:off x="6096000" y="2439148"/>
            <a:ext cx="5510151" cy="36933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for epoch in range(EPOCHS):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</a:t>
            </a:r>
            <a:r>
              <a:rPr lang="en-US" altLang="ja-JP" dirty="0" err="1">
                <a:latin typeface="Consolas" panose="020B0609020204030204" pitchFamily="49" charset="0"/>
              </a:rPr>
              <a:t>model.train</a:t>
            </a:r>
            <a:r>
              <a:rPr lang="en-US" altLang="ja-JP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for x1, x2, y in </a:t>
            </a:r>
            <a:r>
              <a:rPr lang="en-US" altLang="ja-JP" dirty="0" err="1">
                <a:latin typeface="Consolas" panose="020B0609020204030204" pitchFamily="49" charset="0"/>
              </a:rPr>
              <a:t>train_loader</a:t>
            </a:r>
            <a:r>
              <a:rPr lang="en-US" altLang="ja-JP" dirty="0">
                <a:latin typeface="Consolas" panose="020B0609020204030204" pitchFamily="49" charset="0"/>
              </a:rPr>
              <a:t>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z1, z2 = model(x1), model(x2)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loss = criterion(</a:t>
            </a:r>
            <a:r>
              <a:rPr lang="en-US" altLang="ja-JP" dirty="0" err="1">
                <a:latin typeface="Consolas" panose="020B0609020204030204" pitchFamily="49" charset="0"/>
              </a:rPr>
              <a:t>F.cosine_similarity</a:t>
            </a:r>
            <a:r>
              <a:rPr lang="en-US" altLang="ja-JP" dirty="0">
                <a:latin typeface="Consolas" panose="020B0609020204030204" pitchFamily="49" charset="0"/>
              </a:rPr>
              <a:t>(z1,z2), y)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</a:t>
            </a:r>
            <a:r>
              <a:rPr lang="en-US" altLang="ja-JP" dirty="0" err="1">
                <a:latin typeface="Consolas" panose="020B0609020204030204" pitchFamily="49" charset="0"/>
              </a:rPr>
              <a:t>optimizer.zero_grad</a:t>
            </a:r>
            <a:r>
              <a:rPr lang="en-US" altLang="ja-JP" dirty="0">
                <a:latin typeface="Consolas" panose="020B0609020204030204" pitchFamily="49" charset="0"/>
              </a:rPr>
              <a:t>(); </a:t>
            </a:r>
            <a:r>
              <a:rPr lang="en-US" altLang="ja-JP" dirty="0" err="1">
                <a:latin typeface="Consolas" panose="020B0609020204030204" pitchFamily="49" charset="0"/>
              </a:rPr>
              <a:t>loss.backward</a:t>
            </a:r>
            <a:r>
              <a:rPr lang="en-US" altLang="ja-JP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</a:t>
            </a:r>
            <a:r>
              <a:rPr lang="en-US" altLang="ja-JP" dirty="0" err="1">
                <a:latin typeface="Consolas" panose="020B0609020204030204" pitchFamily="49" charset="0"/>
              </a:rPr>
              <a:t>nn.utils.clip_grad_norm</a:t>
            </a:r>
            <a:r>
              <a:rPr lang="en-US" altLang="ja-JP" dirty="0">
                <a:latin typeface="Consolas" panose="020B0609020204030204" pitchFamily="49" charset="0"/>
              </a:rPr>
              <a:t>_(</a:t>
            </a:r>
            <a:r>
              <a:rPr lang="en-US" altLang="ja-JP" dirty="0" err="1">
                <a:latin typeface="Consolas" panose="020B0609020204030204" pitchFamily="49" charset="0"/>
              </a:rPr>
              <a:t>model.parameters</a:t>
            </a:r>
            <a:r>
              <a:rPr lang="en-US" altLang="ja-JP" dirty="0">
                <a:latin typeface="Consolas" panose="020B0609020204030204" pitchFamily="49" charset="0"/>
              </a:rPr>
              <a:t>(), 5.0)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</a:t>
            </a:r>
            <a:r>
              <a:rPr lang="en-US" altLang="ja-JP" dirty="0" err="1">
                <a:latin typeface="Consolas" panose="020B0609020204030204" pitchFamily="49" charset="0"/>
              </a:rPr>
              <a:t>optimizer.step</a:t>
            </a:r>
            <a:r>
              <a:rPr lang="en-US" altLang="ja-JP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</a:t>
            </a:r>
            <a:r>
              <a:rPr lang="en-US" altLang="ja-JP" dirty="0" err="1">
                <a:latin typeface="Consolas" panose="020B0609020204030204" pitchFamily="49" charset="0"/>
              </a:rPr>
              <a:t>scheduler.step</a:t>
            </a:r>
            <a:r>
              <a:rPr lang="en-US" altLang="ja-JP" dirty="0">
                <a:latin typeface="Consolas" panose="020B0609020204030204" pitchFamily="49" charset="0"/>
              </a:rPr>
              <a:t>(loss)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9AEECF3-2DB8-6FD4-1955-4D86163D22DD}"/>
              </a:ext>
            </a:extLst>
          </p:cNvPr>
          <p:cNvSpPr txBox="1"/>
          <p:nvPr/>
        </p:nvSpPr>
        <p:spPr>
          <a:xfrm>
            <a:off x="6096000" y="1780992"/>
            <a:ext cx="33399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/>
              <a:t>Core Loop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729089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4D29CD-7E84-AFF4-D6CF-BB7EC0108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Monitoring and Logging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775647-894B-1C77-6E84-5C769BE8C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713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ja-JP" b="1" dirty="0"/>
              <a:t>Tracking Model Progress</a:t>
            </a:r>
            <a:endParaRPr lang="en-US" altLang="ja-JP" dirty="0"/>
          </a:p>
          <a:p>
            <a:r>
              <a:rPr lang="en-US" altLang="ja-JP" dirty="0"/>
              <a:t>Compute training and validation loss each epoch.</a:t>
            </a:r>
          </a:p>
          <a:p>
            <a:r>
              <a:rPr lang="en-US" altLang="ja-JP" dirty="0"/>
              <a:t>Save best model when validation loss improves.</a:t>
            </a:r>
          </a:p>
          <a:p>
            <a:r>
              <a:rPr lang="en-US" altLang="ja-JP" dirty="0"/>
              <a:t>Plot loss curve to inspect overfitting.</a:t>
            </a:r>
          </a:p>
          <a:p>
            <a:r>
              <a:rPr lang="en-US" altLang="ja-JP" b="1" dirty="0"/>
              <a:t>Logging Example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914B4E-B1EF-6CBA-1332-471CCCF82FED}"/>
              </a:ext>
            </a:extLst>
          </p:cNvPr>
          <p:cNvSpPr txBox="1"/>
          <p:nvPr/>
        </p:nvSpPr>
        <p:spPr>
          <a:xfrm>
            <a:off x="1296885" y="4096987"/>
            <a:ext cx="9598230" cy="14773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 err="1">
                <a:latin typeface="Consolas" panose="020B0609020204030204" pitchFamily="49" charset="0"/>
              </a:rPr>
              <a:t>train_losses</a:t>
            </a:r>
            <a:r>
              <a:rPr lang="en-US" altLang="ja-JP" dirty="0">
                <a:latin typeface="Consolas" panose="020B0609020204030204" pitchFamily="49" charset="0"/>
              </a:rPr>
              <a:t>, </a:t>
            </a:r>
            <a:r>
              <a:rPr lang="en-US" altLang="ja-JP" dirty="0" err="1">
                <a:latin typeface="Consolas" panose="020B0609020204030204" pitchFamily="49" charset="0"/>
              </a:rPr>
              <a:t>val_losses</a:t>
            </a:r>
            <a:r>
              <a:rPr lang="en-US" altLang="ja-JP" dirty="0">
                <a:latin typeface="Consolas" panose="020B0609020204030204" pitchFamily="49" charset="0"/>
              </a:rPr>
              <a:t> = [], []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for epoch in range(EPOCHS):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...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</a:t>
            </a:r>
            <a:r>
              <a:rPr lang="en-US" altLang="ja-JP" dirty="0" err="1">
                <a:latin typeface="Consolas" panose="020B0609020204030204" pitchFamily="49" charset="0"/>
              </a:rPr>
              <a:t>val_loss</a:t>
            </a:r>
            <a:r>
              <a:rPr lang="en-US" altLang="ja-JP" dirty="0">
                <a:latin typeface="Consolas" panose="020B0609020204030204" pitchFamily="49" charset="0"/>
              </a:rPr>
              <a:t> = evaluate(model, </a:t>
            </a:r>
            <a:r>
              <a:rPr lang="en-US" altLang="ja-JP" dirty="0" err="1">
                <a:latin typeface="Consolas" panose="020B0609020204030204" pitchFamily="49" charset="0"/>
              </a:rPr>
              <a:t>val_loader</a:t>
            </a:r>
            <a:r>
              <a:rPr lang="en-US" altLang="ja-JP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</a:t>
            </a:r>
            <a:r>
              <a:rPr lang="en-US" altLang="ja-JP" dirty="0" err="1">
                <a:latin typeface="Consolas" panose="020B0609020204030204" pitchFamily="49" charset="0"/>
              </a:rPr>
              <a:t>train_losses.append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loss.item</a:t>
            </a:r>
            <a:r>
              <a:rPr lang="en-US" altLang="ja-JP" dirty="0">
                <a:latin typeface="Consolas" panose="020B0609020204030204" pitchFamily="49" charset="0"/>
              </a:rPr>
              <a:t>()); </a:t>
            </a:r>
            <a:r>
              <a:rPr lang="en-US" altLang="ja-JP" dirty="0" err="1">
                <a:latin typeface="Consolas" panose="020B0609020204030204" pitchFamily="49" charset="0"/>
              </a:rPr>
              <a:t>val_losses.append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val_loss</a:t>
            </a:r>
            <a:r>
              <a:rPr lang="en-US" altLang="ja-JP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02154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9B6986-FD01-09CB-E126-FA09FB909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Evaluation Metrics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956E26-6E84-10F6-5B74-3881532CD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Quantitative Assessment after Training</a:t>
            </a:r>
            <a:endParaRPr kumimoji="1" lang="ja-JP" altLang="en-US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A1F1079C-5FC4-C4CB-AE0F-A1AF325E5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300625"/>
              </p:ext>
            </p:extLst>
          </p:nvPr>
        </p:nvGraphicFramePr>
        <p:xfrm>
          <a:off x="1883229" y="2331720"/>
          <a:ext cx="8685809" cy="2194560"/>
        </p:xfrm>
        <a:graphic>
          <a:graphicData uri="http://schemas.openxmlformats.org/drawingml/2006/table">
            <a:tbl>
              <a:tblPr/>
              <a:tblGrid>
                <a:gridCol w="1426382">
                  <a:extLst>
                    <a:ext uri="{9D8B030D-6E8A-4147-A177-3AD203B41FA5}">
                      <a16:colId xmlns:a16="http://schemas.microsoft.com/office/drawing/2014/main" val="1364082060"/>
                    </a:ext>
                  </a:extLst>
                </a:gridCol>
                <a:gridCol w="3148667">
                  <a:extLst>
                    <a:ext uri="{9D8B030D-6E8A-4147-A177-3AD203B41FA5}">
                      <a16:colId xmlns:a16="http://schemas.microsoft.com/office/drawing/2014/main" val="2586051490"/>
                    </a:ext>
                  </a:extLst>
                </a:gridCol>
                <a:gridCol w="4110760">
                  <a:extLst>
                    <a:ext uri="{9D8B030D-6E8A-4147-A177-3AD203B41FA5}">
                      <a16:colId xmlns:a16="http://schemas.microsoft.com/office/drawing/2014/main" val="11629953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899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Accuracy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ratio of correct labels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overall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480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Precision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TP / (TP + FP)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false positive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329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Recall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TP / (TP + FN)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coverage of positives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710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F1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harmonic mean of P &amp; 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balance 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91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Perplexity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exp(loss)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model confidence (CE variant)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911045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CA5C9F5-81E1-B0CE-B31A-60EADDBE6E3F}"/>
              </a:ext>
            </a:extLst>
          </p:cNvPr>
          <p:cNvSpPr txBox="1"/>
          <p:nvPr/>
        </p:nvSpPr>
        <p:spPr>
          <a:xfrm>
            <a:off x="1296885" y="4880759"/>
            <a:ext cx="959823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pred = (sim &gt; 0.5).long()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acc = (pred == label).float().mean()</a:t>
            </a:r>
          </a:p>
        </p:txBody>
      </p:sp>
    </p:spTree>
    <p:extLst>
      <p:ext uri="{BB962C8B-B14F-4D97-AF65-F5344CB8AC3E}">
        <p14:creationId xmlns:p14="http://schemas.microsoft.com/office/powerpoint/2010/main" val="2497658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FC9A76-F424-89B4-E443-19DEE156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Early Stopping and Checkpointing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62F244-6B36-C907-3BB0-04ADE53BC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001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ja-JP" b="1" dirty="0"/>
              <a:t>Preventing Overfitting and Saving Progress</a:t>
            </a:r>
            <a:endParaRPr lang="en-US" altLang="ja-JP" dirty="0"/>
          </a:p>
          <a:p>
            <a:r>
              <a:rPr lang="en-US" altLang="ja-JP" dirty="0"/>
              <a:t>Stop training if validation loss does not improve for N epochs.</a:t>
            </a:r>
          </a:p>
          <a:p>
            <a:r>
              <a:rPr lang="en-US" altLang="ja-JP" dirty="0"/>
              <a:t>Save the best model state for inference.</a:t>
            </a:r>
          </a:p>
          <a:p>
            <a:r>
              <a:rPr lang="en-US" altLang="ja-JP" dirty="0"/>
              <a:t>Reduces training time and ensures stable weights.</a:t>
            </a:r>
          </a:p>
          <a:p>
            <a:r>
              <a:rPr lang="en-US" altLang="ja-JP" b="1" dirty="0"/>
              <a:t>Implementation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6D5EEA-360E-CBA6-D505-F20EC9B9A0A6}"/>
              </a:ext>
            </a:extLst>
          </p:cNvPr>
          <p:cNvSpPr txBox="1"/>
          <p:nvPr/>
        </p:nvSpPr>
        <p:spPr>
          <a:xfrm>
            <a:off x="1296885" y="4025735"/>
            <a:ext cx="9598230" cy="258532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 err="1">
                <a:latin typeface="Consolas" panose="020B0609020204030204" pitchFamily="49" charset="0"/>
              </a:rPr>
              <a:t>best_val</a:t>
            </a:r>
            <a:r>
              <a:rPr lang="en-US" altLang="ja-JP" dirty="0">
                <a:latin typeface="Consolas" panose="020B0609020204030204" pitchFamily="49" charset="0"/>
              </a:rPr>
              <a:t> = 1e9; patience = 3; </a:t>
            </a:r>
            <a:r>
              <a:rPr lang="en-US" altLang="ja-JP" dirty="0" err="1">
                <a:latin typeface="Consolas" panose="020B0609020204030204" pitchFamily="49" charset="0"/>
              </a:rPr>
              <a:t>no_improve</a:t>
            </a:r>
            <a:r>
              <a:rPr lang="en-US" altLang="ja-JP" dirty="0">
                <a:latin typeface="Consolas" panose="020B0609020204030204" pitchFamily="49" charset="0"/>
              </a:rPr>
              <a:t> = 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for epoch in range(EPOCHS):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...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if </a:t>
            </a:r>
            <a:r>
              <a:rPr lang="en-US" altLang="ja-JP" dirty="0" err="1">
                <a:latin typeface="Consolas" panose="020B0609020204030204" pitchFamily="49" charset="0"/>
              </a:rPr>
              <a:t>val_loss</a:t>
            </a:r>
            <a:r>
              <a:rPr lang="en-US" altLang="ja-JP" dirty="0">
                <a:latin typeface="Consolas" panose="020B0609020204030204" pitchFamily="49" charset="0"/>
              </a:rPr>
              <a:t> &lt; </a:t>
            </a:r>
            <a:r>
              <a:rPr lang="en-US" altLang="ja-JP" dirty="0" err="1">
                <a:latin typeface="Consolas" panose="020B0609020204030204" pitchFamily="49" charset="0"/>
              </a:rPr>
              <a:t>best_val</a:t>
            </a:r>
            <a:r>
              <a:rPr lang="en-US" altLang="ja-JP" dirty="0">
                <a:latin typeface="Consolas" panose="020B0609020204030204" pitchFamily="49" charset="0"/>
              </a:rPr>
              <a:t>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</a:t>
            </a:r>
            <a:r>
              <a:rPr lang="en-US" altLang="ja-JP" dirty="0" err="1">
                <a:latin typeface="Consolas" panose="020B0609020204030204" pitchFamily="49" charset="0"/>
              </a:rPr>
              <a:t>best_val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val_loss</a:t>
            </a:r>
            <a:r>
              <a:rPr lang="en-US" altLang="ja-JP" dirty="0">
                <a:latin typeface="Consolas" panose="020B0609020204030204" pitchFamily="49" charset="0"/>
              </a:rPr>
              <a:t>; </a:t>
            </a:r>
            <a:r>
              <a:rPr lang="en-US" altLang="ja-JP" dirty="0" err="1">
                <a:latin typeface="Consolas" panose="020B0609020204030204" pitchFamily="49" charset="0"/>
              </a:rPr>
              <a:t>no_improve</a:t>
            </a:r>
            <a:r>
              <a:rPr lang="en-US" altLang="ja-JP" dirty="0">
                <a:latin typeface="Consolas" panose="020B0609020204030204" pitchFamily="49" charset="0"/>
              </a:rPr>
              <a:t> = 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</a:t>
            </a:r>
            <a:r>
              <a:rPr lang="en-US" altLang="ja-JP" dirty="0" err="1">
                <a:latin typeface="Consolas" panose="020B0609020204030204" pitchFamily="49" charset="0"/>
              </a:rPr>
              <a:t>torch.save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model.state_dict</a:t>
            </a:r>
            <a:r>
              <a:rPr lang="en-US" altLang="ja-JP" dirty="0">
                <a:latin typeface="Consolas" panose="020B0609020204030204" pitchFamily="49" charset="0"/>
              </a:rPr>
              <a:t>(), 'bilstm_encoder.pt')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else: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</a:t>
            </a:r>
            <a:r>
              <a:rPr lang="en-US" altLang="ja-JP" dirty="0" err="1">
                <a:latin typeface="Consolas" panose="020B0609020204030204" pitchFamily="49" charset="0"/>
              </a:rPr>
              <a:t>no_improve</a:t>
            </a:r>
            <a:r>
              <a:rPr lang="en-US" altLang="ja-JP" dirty="0">
                <a:latin typeface="Consolas" panose="020B0609020204030204" pitchFamily="49" charset="0"/>
              </a:rPr>
              <a:t> += 1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    if </a:t>
            </a:r>
            <a:r>
              <a:rPr lang="en-US" altLang="ja-JP" dirty="0" err="1">
                <a:latin typeface="Consolas" panose="020B0609020204030204" pitchFamily="49" charset="0"/>
              </a:rPr>
              <a:t>no_improve</a:t>
            </a:r>
            <a:r>
              <a:rPr lang="en-US" altLang="ja-JP" dirty="0">
                <a:latin typeface="Consolas" panose="020B0609020204030204" pitchFamily="49" charset="0"/>
              </a:rPr>
              <a:t> &gt;= patience: break</a:t>
            </a:r>
          </a:p>
        </p:txBody>
      </p:sp>
    </p:spTree>
    <p:extLst>
      <p:ext uri="{BB962C8B-B14F-4D97-AF65-F5344CB8AC3E}">
        <p14:creationId xmlns:p14="http://schemas.microsoft.com/office/powerpoint/2010/main" val="1351568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90B4F3-83DA-7DE3-57B4-E12D1F512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Training Results 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C31504-50B9-541B-F3E6-2EE839C9F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063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ja-JP" b="1" dirty="0"/>
              <a:t>What the Model Learns</a:t>
            </a:r>
            <a:endParaRPr lang="en-US" altLang="ja-JP" dirty="0"/>
          </a:p>
          <a:p>
            <a:r>
              <a:rPr lang="en-US" altLang="ja-JP" dirty="0"/>
              <a:t>From random vectors → structured semantic space.</a:t>
            </a:r>
          </a:p>
          <a:p>
            <a:r>
              <a:rPr lang="en-US" altLang="ja-JP" dirty="0"/>
              <a:t>Sentences with similar meaning cluster closely in embedding space.</a:t>
            </a:r>
          </a:p>
          <a:p>
            <a:r>
              <a:rPr lang="en-US" altLang="ja-JP" dirty="0"/>
              <a:t>Validation loss plateau → model has converged.</a:t>
            </a:r>
          </a:p>
          <a:p>
            <a:r>
              <a:rPr lang="en-US" altLang="ja-JP" dirty="0"/>
              <a:t>Saved checkpoint bilstm_encoder.pt ready for semantic search.</a:t>
            </a:r>
          </a:p>
          <a:p>
            <a:r>
              <a:rPr lang="en-US" altLang="ja-JP" b="1" dirty="0"/>
              <a:t>Evaluation Snapshot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0CD3136-4A3C-C5C1-A3F3-51A86DEEF876}"/>
              </a:ext>
            </a:extLst>
          </p:cNvPr>
          <p:cNvSpPr txBox="1"/>
          <p:nvPr/>
        </p:nvSpPr>
        <p:spPr>
          <a:xfrm>
            <a:off x="1296885" y="5332021"/>
            <a:ext cx="959823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print(</a:t>
            </a:r>
            <a:r>
              <a:rPr lang="en-US" altLang="ja-JP" dirty="0" err="1">
                <a:latin typeface="Consolas" panose="020B0609020204030204" pitchFamily="49" charset="0"/>
              </a:rPr>
              <a:t>f"Final</a:t>
            </a:r>
            <a:r>
              <a:rPr lang="en-US" altLang="ja-JP" dirty="0">
                <a:latin typeface="Consolas" panose="020B0609020204030204" pitchFamily="49" charset="0"/>
              </a:rPr>
              <a:t> Loss: {val_loss:.4f}, Accuracy: {acc:.3f}")</a:t>
            </a:r>
          </a:p>
        </p:txBody>
      </p:sp>
    </p:spTree>
    <p:extLst>
      <p:ext uri="{BB962C8B-B14F-4D97-AF65-F5344CB8AC3E}">
        <p14:creationId xmlns:p14="http://schemas.microsoft.com/office/powerpoint/2010/main" val="895797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3E3B1E-2C96-3FA8-1779-574A508E6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Visualizing Embedding Space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1F5AF0-B887-6EBD-F305-0B9D48915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81357"/>
          </a:xfrm>
        </p:spPr>
        <p:txBody>
          <a:bodyPr>
            <a:normAutofit fontScale="92500"/>
          </a:bodyPr>
          <a:lstStyle/>
          <a:p>
            <a:r>
              <a:rPr lang="en-US" altLang="ja-JP" b="1" dirty="0"/>
              <a:t>Inspecting Learned Representations</a:t>
            </a:r>
            <a:endParaRPr lang="en-US" altLang="ja-JP" dirty="0"/>
          </a:p>
          <a:p>
            <a:pPr lvl="1"/>
            <a:r>
              <a:rPr lang="en-US" altLang="ja-JP" dirty="0"/>
              <a:t>After training, each sentence has a 256-D vector.</a:t>
            </a:r>
          </a:p>
          <a:p>
            <a:pPr lvl="1"/>
            <a:r>
              <a:rPr lang="en-US" altLang="ja-JP" dirty="0"/>
              <a:t>Similar verses → closer in vector space; dissimilar ones → farther apart.</a:t>
            </a:r>
          </a:p>
          <a:p>
            <a:pPr lvl="1"/>
            <a:r>
              <a:rPr lang="en-US" altLang="ja-JP" dirty="0"/>
              <a:t>Use dimensionality reduction (t-SNE / UMAP) to project vectors to 2D.</a:t>
            </a:r>
          </a:p>
          <a:p>
            <a:pPr lvl="1"/>
            <a:r>
              <a:rPr lang="en-US" altLang="ja-JP" dirty="0"/>
              <a:t>Clusters should form around semantic themes (e.g., “love”, “faith”, “sin”).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035BB03-29C5-1A3A-5C6A-080D07E0988D}"/>
              </a:ext>
            </a:extLst>
          </p:cNvPr>
          <p:cNvSpPr txBox="1"/>
          <p:nvPr/>
        </p:nvSpPr>
        <p:spPr>
          <a:xfrm>
            <a:off x="1020387" y="3906982"/>
            <a:ext cx="10151225" cy="28623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sz="1200" dirty="0">
                <a:latin typeface="Consolas" panose="020B0609020204030204" pitchFamily="49" charset="0"/>
              </a:rPr>
              <a:t>from </a:t>
            </a:r>
            <a:r>
              <a:rPr lang="en-US" altLang="ja-JP" sz="1200" dirty="0" err="1">
                <a:latin typeface="Consolas" panose="020B0609020204030204" pitchFamily="49" charset="0"/>
              </a:rPr>
              <a:t>sklearn.manifold</a:t>
            </a:r>
            <a:r>
              <a:rPr lang="en-US" altLang="ja-JP" sz="1200" dirty="0">
                <a:latin typeface="Consolas" panose="020B0609020204030204" pitchFamily="49" charset="0"/>
              </a:rPr>
              <a:t> import TSNE</a:t>
            </a:r>
          </a:p>
          <a:p>
            <a:r>
              <a:rPr lang="en-US" altLang="ja-JP" sz="1200" dirty="0">
                <a:latin typeface="Consolas" panose="020B0609020204030204" pitchFamily="49" charset="0"/>
              </a:rPr>
              <a:t>import </a:t>
            </a:r>
            <a:r>
              <a:rPr lang="en-US" altLang="ja-JP" sz="1200" dirty="0" err="1">
                <a:latin typeface="Consolas" panose="020B0609020204030204" pitchFamily="49" charset="0"/>
              </a:rPr>
              <a:t>matplotlib.pyplot</a:t>
            </a:r>
            <a:r>
              <a:rPr lang="en-US" altLang="ja-JP" sz="1200" dirty="0">
                <a:latin typeface="Consolas" panose="020B0609020204030204" pitchFamily="49" charset="0"/>
              </a:rPr>
              <a:t> as </a:t>
            </a:r>
            <a:r>
              <a:rPr lang="en-US" altLang="ja-JP" sz="1200" dirty="0" err="1">
                <a:latin typeface="Consolas" panose="020B0609020204030204" pitchFamily="49" charset="0"/>
              </a:rPr>
              <a:t>plt</a:t>
            </a:r>
            <a:endParaRPr lang="en-US" altLang="ja-JP" sz="1200" dirty="0">
              <a:latin typeface="Consolas" panose="020B0609020204030204" pitchFamily="49" charset="0"/>
            </a:endParaRPr>
          </a:p>
          <a:p>
            <a:endParaRPr lang="en-US" altLang="ja-JP" sz="1200" dirty="0">
              <a:latin typeface="Consolas" panose="020B0609020204030204" pitchFamily="49" charset="0"/>
            </a:endParaRPr>
          </a:p>
          <a:p>
            <a:r>
              <a:rPr lang="en-US" altLang="ja-JP" sz="1200" dirty="0"/>
              <a:t>N_VIS = min(1500, </a:t>
            </a:r>
            <a:r>
              <a:rPr lang="en-US" altLang="ja-JP" sz="1200" dirty="0" err="1"/>
              <a:t>DOC_EMB.shape</a:t>
            </a:r>
            <a:r>
              <a:rPr lang="en-US" altLang="ja-JP" sz="1200" dirty="0"/>
              <a:t>[0])</a:t>
            </a:r>
          </a:p>
          <a:p>
            <a:r>
              <a:rPr lang="en-US" altLang="ja-JP" sz="1200" dirty="0" err="1"/>
              <a:t>idx_vis</a:t>
            </a:r>
            <a:r>
              <a:rPr lang="en-US" altLang="ja-JP" sz="1200" dirty="0"/>
              <a:t> = </a:t>
            </a:r>
            <a:r>
              <a:rPr lang="en-US" altLang="ja-JP" sz="1200" dirty="0" err="1"/>
              <a:t>np.random.RandomState</a:t>
            </a:r>
            <a:r>
              <a:rPr lang="en-US" altLang="ja-JP" sz="1200" dirty="0"/>
              <a:t>(42).choice(</a:t>
            </a:r>
            <a:r>
              <a:rPr lang="en-US" altLang="ja-JP" sz="1200" dirty="0" err="1"/>
              <a:t>DOC_EMB.shape</a:t>
            </a:r>
            <a:r>
              <a:rPr lang="en-US" altLang="ja-JP" sz="1200" dirty="0"/>
              <a:t>[0], size=N_VIS, replace=False)</a:t>
            </a:r>
          </a:p>
          <a:p>
            <a:r>
              <a:rPr lang="en-US" altLang="ja-JP" sz="1200" dirty="0"/>
              <a:t>X = DOC_EMB[</a:t>
            </a:r>
            <a:r>
              <a:rPr lang="en-US" altLang="ja-JP" sz="1200" dirty="0" err="1"/>
              <a:t>idx_vis</a:t>
            </a:r>
            <a:r>
              <a:rPr lang="en-US" altLang="ja-JP" sz="1200" dirty="0"/>
              <a:t>]</a:t>
            </a:r>
          </a:p>
          <a:p>
            <a:endParaRPr lang="en-US" altLang="ja-JP" sz="1200" dirty="0"/>
          </a:p>
          <a:p>
            <a:r>
              <a:rPr lang="en-US" altLang="ja-JP" sz="1200" dirty="0" err="1"/>
              <a:t>tsne</a:t>
            </a:r>
            <a:r>
              <a:rPr lang="en-US" altLang="ja-JP" sz="1200" dirty="0"/>
              <a:t> = TSNE(</a:t>
            </a:r>
            <a:r>
              <a:rPr lang="en-US" altLang="ja-JP" sz="1200" dirty="0" err="1"/>
              <a:t>n_components</a:t>
            </a:r>
            <a:r>
              <a:rPr lang="en-US" altLang="ja-JP" sz="1200" dirty="0"/>
              <a:t>=2, </a:t>
            </a:r>
            <a:r>
              <a:rPr lang="en-US" altLang="ja-JP" sz="1200" dirty="0" err="1"/>
              <a:t>init</a:t>
            </a:r>
            <a:r>
              <a:rPr lang="en-US" altLang="ja-JP" sz="1200" dirty="0"/>
              <a:t>="</a:t>
            </a:r>
            <a:r>
              <a:rPr lang="en-US" altLang="ja-JP" sz="1200" dirty="0" err="1"/>
              <a:t>pca</a:t>
            </a:r>
            <a:r>
              <a:rPr lang="en-US" altLang="ja-JP" sz="1200" dirty="0"/>
              <a:t>", </a:t>
            </a:r>
            <a:r>
              <a:rPr lang="en-US" altLang="ja-JP" sz="1200" dirty="0" err="1"/>
              <a:t>random_state</a:t>
            </a:r>
            <a:r>
              <a:rPr lang="en-US" altLang="ja-JP" sz="1200" dirty="0"/>
              <a:t>=42, perplexity=8, </a:t>
            </a:r>
            <a:r>
              <a:rPr lang="en-US" altLang="ja-JP" sz="1200" dirty="0" err="1"/>
              <a:t>learning_rate</a:t>
            </a:r>
            <a:r>
              <a:rPr lang="en-US" altLang="ja-JP" sz="1200" dirty="0"/>
              <a:t>="auto")</a:t>
            </a:r>
          </a:p>
          <a:p>
            <a:r>
              <a:rPr lang="en-US" altLang="ja-JP" sz="1200" dirty="0"/>
              <a:t>X2 = </a:t>
            </a:r>
            <a:r>
              <a:rPr lang="en-US" altLang="ja-JP" sz="1200" dirty="0" err="1"/>
              <a:t>tsne.fit_transform</a:t>
            </a:r>
            <a:r>
              <a:rPr lang="en-US" altLang="ja-JP" sz="1200" dirty="0"/>
              <a:t>(X)</a:t>
            </a:r>
          </a:p>
          <a:p>
            <a:endParaRPr lang="en-US" altLang="ja-JP" sz="1200" dirty="0"/>
          </a:p>
          <a:p>
            <a:r>
              <a:rPr lang="en-US" altLang="ja-JP" sz="1200" dirty="0" err="1"/>
              <a:t>plt.figure</a:t>
            </a:r>
            <a:r>
              <a:rPr lang="en-US" altLang="ja-JP" sz="1200" dirty="0"/>
              <a:t>(</a:t>
            </a:r>
            <a:r>
              <a:rPr lang="en-US" altLang="ja-JP" sz="1200" dirty="0" err="1"/>
              <a:t>figsize</a:t>
            </a:r>
            <a:r>
              <a:rPr lang="en-US" altLang="ja-JP" sz="1200" dirty="0"/>
              <a:t>=(6,5))</a:t>
            </a:r>
          </a:p>
          <a:p>
            <a:r>
              <a:rPr lang="en-US" altLang="ja-JP" sz="1200" dirty="0" err="1"/>
              <a:t>plt.scatter</a:t>
            </a:r>
            <a:r>
              <a:rPr lang="en-US" altLang="ja-JP" sz="1200" dirty="0"/>
              <a:t>(X2[:,0], X2[:,1], s=6, alpha=0.6)</a:t>
            </a:r>
          </a:p>
          <a:p>
            <a:r>
              <a:rPr lang="en-US" altLang="ja-JP" sz="1200" dirty="0" err="1"/>
              <a:t>plt.title</a:t>
            </a:r>
            <a:r>
              <a:rPr lang="en-US" altLang="ja-JP" sz="1200" dirty="0"/>
              <a:t>("t-SNE of Sentence Embeddings (sample)")</a:t>
            </a:r>
          </a:p>
          <a:p>
            <a:r>
              <a:rPr lang="en-US" altLang="ja-JP" sz="1200" dirty="0" err="1"/>
              <a:t>plt.tight_layout</a:t>
            </a:r>
            <a:r>
              <a:rPr lang="en-US" altLang="ja-JP" sz="1200" dirty="0"/>
              <a:t>()</a:t>
            </a:r>
          </a:p>
          <a:p>
            <a:r>
              <a:rPr lang="en-US" altLang="ja-JP" sz="1200" dirty="0" err="1"/>
              <a:t>plt.show</a:t>
            </a:r>
            <a:r>
              <a:rPr lang="en-US" altLang="ja-JP" sz="12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16468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7530FB-3CC8-2135-1E9C-B9B3E9508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Cosine Similarity in Evaluation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808E22-1779-2AFE-AB08-2DA97DC93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4810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ja-JP" b="1" dirty="0"/>
              <a:t>Measuring Sentence Similarity</a:t>
            </a:r>
            <a:endParaRPr lang="en-US" altLang="ja-JP" dirty="0"/>
          </a:p>
          <a:p>
            <a:r>
              <a:rPr lang="en-US" altLang="ja-JP" dirty="0"/>
              <a:t>Cosine similarity ∈ [−1, 1]: 1 means identical direction → high semantic match.</a:t>
            </a:r>
          </a:p>
          <a:p>
            <a:r>
              <a:rPr lang="en-US" altLang="ja-JP" dirty="0"/>
              <a:t>Used both in training (loss) and in retrieval (inference).</a:t>
            </a:r>
          </a:p>
          <a:p>
            <a:r>
              <a:rPr lang="en-US" altLang="ja-JP" dirty="0"/>
              <a:t>Average similarity on positive pairs should increase after training.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09E4C8-9888-2E9E-7698-4002CAE8E6CC}"/>
              </a:ext>
            </a:extLst>
          </p:cNvPr>
          <p:cNvSpPr txBox="1"/>
          <p:nvPr/>
        </p:nvSpPr>
        <p:spPr>
          <a:xfrm>
            <a:off x="1296885" y="3749457"/>
            <a:ext cx="9598230" cy="310854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sz="1600" dirty="0" err="1"/>
              <a:t>tfidf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TfidfVectorizer</a:t>
            </a:r>
            <a:r>
              <a:rPr lang="en-US" altLang="ja-JP" sz="1600" dirty="0"/>
              <a:t>(</a:t>
            </a:r>
            <a:r>
              <a:rPr lang="en-US" altLang="ja-JP" sz="1600" dirty="0" err="1"/>
              <a:t>min_df</a:t>
            </a:r>
            <a:r>
              <a:rPr lang="en-US" altLang="ja-JP" sz="1600" dirty="0"/>
              <a:t>=3, </a:t>
            </a:r>
            <a:r>
              <a:rPr lang="en-US" altLang="ja-JP" sz="1600" dirty="0" err="1"/>
              <a:t>max_df</a:t>
            </a:r>
            <a:r>
              <a:rPr lang="en-US" altLang="ja-JP" sz="1600" dirty="0"/>
              <a:t>=0.95, </a:t>
            </a:r>
            <a:r>
              <a:rPr lang="en-US" altLang="ja-JP" sz="1600" dirty="0" err="1"/>
              <a:t>ngram_range</a:t>
            </a:r>
            <a:r>
              <a:rPr lang="en-US" altLang="ja-JP" sz="1600" dirty="0"/>
              <a:t>=(1,2))</a:t>
            </a:r>
          </a:p>
          <a:p>
            <a:r>
              <a:rPr lang="en-US" altLang="ja-JP" sz="1600" dirty="0" err="1"/>
              <a:t>X_tfidf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tfidf.fit_transform</a:t>
            </a:r>
            <a:r>
              <a:rPr lang="en-US" altLang="ja-JP" sz="1600" dirty="0"/>
              <a:t>(</a:t>
            </a:r>
            <a:r>
              <a:rPr lang="en-US" altLang="ja-JP" sz="1600" dirty="0" err="1"/>
              <a:t>df</a:t>
            </a:r>
            <a:r>
              <a:rPr lang="en-US" altLang="ja-JP" sz="1600" dirty="0"/>
              <a:t>["text"].</a:t>
            </a:r>
            <a:r>
              <a:rPr lang="en-US" altLang="ja-JP" sz="1600" dirty="0" err="1"/>
              <a:t>str.lower</a:t>
            </a:r>
            <a:r>
              <a:rPr lang="en-US" altLang="ja-JP" sz="1600" dirty="0"/>
              <a:t>())</a:t>
            </a:r>
          </a:p>
          <a:p>
            <a:br>
              <a:rPr lang="en-US" altLang="ja-JP" sz="1600" dirty="0"/>
            </a:br>
            <a:r>
              <a:rPr lang="en-US" altLang="ja-JP" sz="1600" dirty="0"/>
              <a:t>def </a:t>
            </a:r>
            <a:r>
              <a:rPr lang="en-US" altLang="ja-JP" sz="1600" dirty="0" err="1"/>
              <a:t>tfidf_search</a:t>
            </a:r>
            <a:r>
              <a:rPr lang="en-US" altLang="ja-JP" sz="1600" dirty="0"/>
              <a:t>(query: str, </a:t>
            </a:r>
            <a:r>
              <a:rPr lang="en-US" altLang="ja-JP" sz="1600" dirty="0" err="1"/>
              <a:t>topk</a:t>
            </a:r>
            <a:r>
              <a:rPr lang="en-US" altLang="ja-JP" sz="1600" dirty="0"/>
              <a:t>=5):</a:t>
            </a:r>
          </a:p>
          <a:p>
            <a:r>
              <a:rPr lang="en-US" altLang="ja-JP" sz="1600" dirty="0"/>
              <a:t>    qv = </a:t>
            </a:r>
            <a:r>
              <a:rPr lang="en-US" altLang="ja-JP" sz="1600" dirty="0" err="1"/>
              <a:t>tfidf.transform</a:t>
            </a:r>
            <a:r>
              <a:rPr lang="en-US" altLang="ja-JP" sz="1600" dirty="0"/>
              <a:t>([</a:t>
            </a:r>
            <a:r>
              <a:rPr lang="en-US" altLang="ja-JP" sz="1600" dirty="0" err="1"/>
              <a:t>query.lower</a:t>
            </a:r>
            <a:r>
              <a:rPr lang="en-US" altLang="ja-JP" sz="1600" dirty="0"/>
              <a:t>()])</a:t>
            </a:r>
          </a:p>
          <a:p>
            <a:r>
              <a:rPr lang="en-US" altLang="ja-JP" sz="1600" dirty="0"/>
              <a:t>    sims = </a:t>
            </a:r>
            <a:r>
              <a:rPr lang="en-US" altLang="ja-JP" sz="1600" dirty="0" err="1"/>
              <a:t>cosine_similarity</a:t>
            </a:r>
            <a:r>
              <a:rPr lang="en-US" altLang="ja-JP" sz="1600" dirty="0"/>
              <a:t>(qv, </a:t>
            </a:r>
            <a:r>
              <a:rPr lang="en-US" altLang="ja-JP" sz="1600" dirty="0" err="1"/>
              <a:t>X_tfidf</a:t>
            </a:r>
            <a:r>
              <a:rPr lang="en-US" altLang="ja-JP" sz="1600" dirty="0"/>
              <a:t>).ravel()</a:t>
            </a:r>
          </a:p>
          <a:p>
            <a:r>
              <a:rPr lang="en-US" altLang="ja-JP" sz="1600" dirty="0"/>
              <a:t>    </a:t>
            </a:r>
            <a:r>
              <a:rPr lang="en-US" altLang="ja-JP" sz="1600" dirty="0" err="1"/>
              <a:t>idx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np.argsort</a:t>
            </a:r>
            <a:r>
              <a:rPr lang="en-US" altLang="ja-JP" sz="1600" dirty="0"/>
              <a:t>(-sims)[:</a:t>
            </a:r>
            <a:r>
              <a:rPr lang="en-US" altLang="ja-JP" sz="1600" dirty="0" err="1"/>
              <a:t>topk</a:t>
            </a:r>
            <a:r>
              <a:rPr lang="en-US" altLang="ja-JP" sz="1600" dirty="0"/>
              <a:t>]</a:t>
            </a:r>
          </a:p>
          <a:p>
            <a:r>
              <a:rPr lang="en-US" altLang="ja-JP" sz="1600" dirty="0"/>
              <a:t>    out = </a:t>
            </a:r>
            <a:r>
              <a:rPr lang="en-US" altLang="ja-JP" sz="1600" dirty="0" err="1"/>
              <a:t>df.iloc</a:t>
            </a:r>
            <a:r>
              <a:rPr lang="en-US" altLang="ja-JP" sz="1600" dirty="0"/>
              <a:t>[</a:t>
            </a:r>
            <a:r>
              <a:rPr lang="en-US" altLang="ja-JP" sz="1600" dirty="0" err="1"/>
              <a:t>idx</a:t>
            </a:r>
            <a:r>
              <a:rPr lang="en-US" altLang="ja-JP" sz="1600" dirty="0"/>
              <a:t>][["</a:t>
            </a:r>
            <a:r>
              <a:rPr lang="en-US" altLang="ja-JP" sz="1600" dirty="0" err="1"/>
              <a:t>book","chapter","verse","text</a:t>
            </a:r>
            <a:r>
              <a:rPr lang="en-US" altLang="ja-JP" sz="1600" dirty="0"/>
              <a:t>"]].copy()</a:t>
            </a:r>
          </a:p>
          <a:p>
            <a:r>
              <a:rPr lang="en-US" altLang="ja-JP" sz="1600" dirty="0"/>
              <a:t>    out["score"] = sims[</a:t>
            </a:r>
            <a:r>
              <a:rPr lang="en-US" altLang="ja-JP" sz="1600" dirty="0" err="1"/>
              <a:t>idx</a:t>
            </a:r>
            <a:r>
              <a:rPr lang="en-US" altLang="ja-JP" sz="1600" dirty="0"/>
              <a:t>]</a:t>
            </a:r>
          </a:p>
          <a:p>
            <a:r>
              <a:rPr lang="en-US" altLang="ja-JP" sz="1600" dirty="0"/>
              <a:t>    return out</a:t>
            </a:r>
          </a:p>
          <a:p>
            <a:endParaRPr lang="en-US" altLang="ja-JP" sz="1600" dirty="0"/>
          </a:p>
          <a:p>
            <a:r>
              <a:rPr lang="en-US" altLang="ja-JP" sz="1600" dirty="0"/>
              <a:t>display(</a:t>
            </a:r>
            <a:r>
              <a:rPr lang="en-US" altLang="ja-JP" sz="1600" dirty="0" err="1"/>
              <a:t>tfidf_search</a:t>
            </a:r>
            <a:r>
              <a:rPr lang="en-US" altLang="ja-JP" sz="1600" dirty="0"/>
              <a:t>("let there be light", </a:t>
            </a:r>
            <a:r>
              <a:rPr lang="en-US" altLang="ja-JP" sz="1600" dirty="0" err="1"/>
              <a:t>topk</a:t>
            </a:r>
            <a:r>
              <a:rPr lang="en-US" altLang="ja-JP" sz="1600" dirty="0"/>
              <a:t>=5))</a:t>
            </a:r>
          </a:p>
        </p:txBody>
      </p:sp>
    </p:spTree>
    <p:extLst>
      <p:ext uri="{BB962C8B-B14F-4D97-AF65-F5344CB8AC3E}">
        <p14:creationId xmlns:p14="http://schemas.microsoft.com/office/powerpoint/2010/main" val="2072183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FAEDE2-4CF6-226F-9B00-5F4F80E02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Retrieval Performance Metrics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667F64-3AAD-AC8C-6215-5B20558AF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987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ja-JP" b="1" dirty="0"/>
              <a:t>Quantifying Semantic Search Effectiveness</a:t>
            </a:r>
            <a:endParaRPr lang="en-US" altLang="ja-JP" dirty="0"/>
          </a:p>
          <a:p>
            <a:r>
              <a:rPr lang="en-US" altLang="ja-JP" dirty="0"/>
              <a:t>For each query, compute </a:t>
            </a:r>
            <a:r>
              <a:rPr lang="en-US" altLang="ja-JP" dirty="0" err="1"/>
              <a:t>Precision@k</a:t>
            </a:r>
            <a:r>
              <a:rPr lang="en-US" altLang="ja-JP" dirty="0"/>
              <a:t> and </a:t>
            </a:r>
            <a:r>
              <a:rPr lang="en-US" altLang="ja-JP" dirty="0" err="1"/>
              <a:t>Recall@k</a:t>
            </a:r>
            <a:r>
              <a:rPr lang="en-US" altLang="ja-JP" dirty="0"/>
              <a:t>.</a:t>
            </a:r>
          </a:p>
          <a:p>
            <a:r>
              <a:rPr lang="en-US" altLang="ja-JP" dirty="0"/>
              <a:t>Mean Average Precision (</a:t>
            </a:r>
            <a:r>
              <a:rPr lang="en-US" altLang="ja-JP" dirty="0" err="1"/>
              <a:t>mAP</a:t>
            </a:r>
            <a:r>
              <a:rPr lang="en-US" altLang="ja-JP" dirty="0"/>
              <a:t>) summarizes ranking quality.</a:t>
            </a:r>
          </a:p>
          <a:p>
            <a:r>
              <a:rPr lang="en-US" altLang="ja-JP" dirty="0"/>
              <a:t>High Recall → broad semantic coverage; High Precision → accurate retrieval.</a:t>
            </a:r>
          </a:p>
          <a:p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D886837-709A-0032-074E-13C98CAC9A27}"/>
              </a:ext>
            </a:extLst>
          </p:cNvPr>
          <p:cNvSpPr txBox="1"/>
          <p:nvPr/>
        </p:nvSpPr>
        <p:spPr>
          <a:xfrm>
            <a:off x="1296885" y="4025735"/>
            <a:ext cx="9598230" cy="1754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from </a:t>
            </a:r>
            <a:r>
              <a:rPr lang="en-US" altLang="ja-JP" dirty="0" err="1">
                <a:latin typeface="Consolas" panose="020B0609020204030204" pitchFamily="49" charset="0"/>
              </a:rPr>
              <a:t>sklearn.metrics</a:t>
            </a:r>
            <a:r>
              <a:rPr lang="en-US" altLang="ja-JP" dirty="0">
                <a:latin typeface="Consolas" panose="020B0609020204030204" pitchFamily="49" charset="0"/>
              </a:rPr>
              <a:t> import </a:t>
            </a:r>
            <a:r>
              <a:rPr lang="en-US" altLang="ja-JP" dirty="0" err="1">
                <a:latin typeface="Consolas" panose="020B0609020204030204" pitchFamily="49" charset="0"/>
              </a:rPr>
              <a:t>average_precision_score</a:t>
            </a:r>
            <a:endParaRPr lang="en-US" altLang="ja-JP" dirty="0">
              <a:latin typeface="Consolas" panose="020B0609020204030204" pitchFamily="49" charset="0"/>
            </a:endParaRPr>
          </a:p>
          <a:p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 err="1">
                <a:latin typeface="Consolas" panose="020B0609020204030204" pitchFamily="49" charset="0"/>
              </a:rPr>
              <a:t>y_true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labels.cpu</a:t>
            </a:r>
            <a:r>
              <a:rPr lang="en-US" altLang="ja-JP" dirty="0">
                <a:latin typeface="Consolas" panose="020B0609020204030204" pitchFamily="49" charset="0"/>
              </a:rPr>
              <a:t>().</a:t>
            </a:r>
            <a:r>
              <a:rPr lang="en-US" altLang="ja-JP" dirty="0" err="1">
                <a:latin typeface="Consolas" panose="020B0609020204030204" pitchFamily="49" charset="0"/>
              </a:rPr>
              <a:t>numpy</a:t>
            </a:r>
            <a:r>
              <a:rPr lang="en-US" altLang="ja-JP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ja-JP" dirty="0" err="1">
                <a:latin typeface="Consolas" panose="020B0609020204030204" pitchFamily="49" charset="0"/>
              </a:rPr>
              <a:t>y_score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sim.detach</a:t>
            </a:r>
            <a:r>
              <a:rPr lang="en-US" altLang="ja-JP" dirty="0">
                <a:latin typeface="Consolas" panose="020B0609020204030204" pitchFamily="49" charset="0"/>
              </a:rPr>
              <a:t>().</a:t>
            </a:r>
            <a:r>
              <a:rPr lang="en-US" altLang="ja-JP" dirty="0" err="1">
                <a:latin typeface="Consolas" panose="020B0609020204030204" pitchFamily="49" charset="0"/>
              </a:rPr>
              <a:t>cpu</a:t>
            </a:r>
            <a:r>
              <a:rPr lang="en-US" altLang="ja-JP" dirty="0">
                <a:latin typeface="Consolas" panose="020B0609020204030204" pitchFamily="49" charset="0"/>
              </a:rPr>
              <a:t>().</a:t>
            </a:r>
            <a:r>
              <a:rPr lang="en-US" altLang="ja-JP" dirty="0" err="1">
                <a:latin typeface="Consolas" panose="020B0609020204030204" pitchFamily="49" charset="0"/>
              </a:rPr>
              <a:t>numpy</a:t>
            </a:r>
            <a:r>
              <a:rPr lang="en-US" altLang="ja-JP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ja-JP" dirty="0" err="1">
                <a:latin typeface="Consolas" panose="020B0609020204030204" pitchFamily="49" charset="0"/>
              </a:rPr>
              <a:t>map_score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average_precision_score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y_true</a:t>
            </a:r>
            <a:r>
              <a:rPr lang="en-US" altLang="ja-JP" dirty="0">
                <a:latin typeface="Consolas" panose="020B0609020204030204" pitchFamily="49" charset="0"/>
              </a:rPr>
              <a:t>, </a:t>
            </a:r>
            <a:r>
              <a:rPr lang="en-US" altLang="ja-JP" dirty="0" err="1">
                <a:latin typeface="Consolas" panose="020B0609020204030204" pitchFamily="49" charset="0"/>
              </a:rPr>
              <a:t>y_score</a:t>
            </a:r>
            <a:r>
              <a:rPr lang="en-US" altLang="ja-JP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print(</a:t>
            </a:r>
            <a:r>
              <a:rPr lang="en-US" altLang="ja-JP" dirty="0" err="1">
                <a:latin typeface="Consolas" panose="020B0609020204030204" pitchFamily="49" charset="0"/>
              </a:rPr>
              <a:t>f"mAP</a:t>
            </a:r>
            <a:r>
              <a:rPr lang="en-US" altLang="ja-JP" dirty="0">
                <a:latin typeface="Consolas" panose="020B0609020204030204" pitchFamily="49" charset="0"/>
              </a:rPr>
              <a:t> = {map_score:.3f}")</a:t>
            </a:r>
          </a:p>
        </p:txBody>
      </p:sp>
    </p:spTree>
    <p:extLst>
      <p:ext uri="{BB962C8B-B14F-4D97-AF65-F5344CB8AC3E}">
        <p14:creationId xmlns:p14="http://schemas.microsoft.com/office/powerpoint/2010/main" val="950136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6F99B0-F62B-0B7F-4902-562D4099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Embedding Space Trends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1D97C6-1398-0546-E771-416585419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b="1" dirty="0"/>
              <a:t>Understanding Model Behavior</a:t>
            </a:r>
            <a:endParaRPr lang="en-US" altLang="ja-JP" dirty="0"/>
          </a:p>
          <a:p>
            <a:r>
              <a:rPr lang="en-US" altLang="ja-JP" dirty="0"/>
              <a:t>Overlapping clusters → semantic confusion (need more data or margin).</a:t>
            </a:r>
          </a:p>
          <a:p>
            <a:r>
              <a:rPr lang="en-US" altLang="ja-JP" dirty="0"/>
              <a:t>Well-separated clusters → clear concept boundaries.</a:t>
            </a:r>
          </a:p>
          <a:p>
            <a:r>
              <a:rPr lang="en-US" altLang="ja-JP" dirty="0"/>
              <a:t>Outliers → rare words or short sentences.</a:t>
            </a:r>
          </a:p>
          <a:p>
            <a:r>
              <a:rPr lang="en-US" altLang="ja-JP" dirty="0"/>
              <a:t>Visual inspection complements numerical metrics.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7FD1C60-8D37-E3F1-2ADE-5323E6DA103B}"/>
              </a:ext>
            </a:extLst>
          </p:cNvPr>
          <p:cNvSpPr txBox="1"/>
          <p:nvPr/>
        </p:nvSpPr>
        <p:spPr>
          <a:xfrm>
            <a:off x="1296885" y="5073139"/>
            <a:ext cx="9598230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color = ['green' if y==1 else 'red' for y in labels]</a:t>
            </a:r>
          </a:p>
          <a:p>
            <a:r>
              <a:rPr lang="en-US" altLang="ja-JP" dirty="0" err="1">
                <a:latin typeface="Consolas" panose="020B0609020204030204" pitchFamily="49" charset="0"/>
              </a:rPr>
              <a:t>plt.scatter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tsne</a:t>
            </a:r>
            <a:r>
              <a:rPr lang="en-US" altLang="ja-JP" dirty="0">
                <a:latin typeface="Consolas" panose="020B0609020204030204" pitchFamily="49" charset="0"/>
              </a:rPr>
              <a:t>[:,0], </a:t>
            </a:r>
            <a:r>
              <a:rPr lang="en-US" altLang="ja-JP" dirty="0" err="1">
                <a:latin typeface="Consolas" panose="020B0609020204030204" pitchFamily="49" charset="0"/>
              </a:rPr>
              <a:t>tsne</a:t>
            </a:r>
            <a:r>
              <a:rPr lang="en-US" altLang="ja-JP" dirty="0">
                <a:latin typeface="Consolas" panose="020B0609020204030204" pitchFamily="49" charset="0"/>
              </a:rPr>
              <a:t>[:,1], c=color, alpha=0.7)</a:t>
            </a:r>
          </a:p>
          <a:p>
            <a:r>
              <a:rPr lang="en-US" altLang="ja-JP" dirty="0" err="1">
                <a:latin typeface="Consolas" panose="020B0609020204030204" pitchFamily="49" charset="0"/>
              </a:rPr>
              <a:t>plt.xlabel</a:t>
            </a:r>
            <a:r>
              <a:rPr lang="en-US" altLang="ja-JP" dirty="0">
                <a:latin typeface="Consolas" panose="020B0609020204030204" pitchFamily="49" charset="0"/>
              </a:rPr>
              <a:t>('Dim 1'); </a:t>
            </a:r>
            <a:r>
              <a:rPr lang="en-US" altLang="ja-JP" dirty="0" err="1">
                <a:latin typeface="Consolas" panose="020B0609020204030204" pitchFamily="49" charset="0"/>
              </a:rPr>
              <a:t>plt.ylabel</a:t>
            </a:r>
            <a:r>
              <a:rPr lang="en-US" altLang="ja-JP" dirty="0">
                <a:latin typeface="Consolas" panose="020B0609020204030204" pitchFamily="49" charset="0"/>
              </a:rPr>
              <a:t>('Dim 2')</a:t>
            </a:r>
          </a:p>
        </p:txBody>
      </p:sp>
    </p:spTree>
    <p:extLst>
      <p:ext uri="{BB962C8B-B14F-4D97-AF65-F5344CB8AC3E}">
        <p14:creationId xmlns:p14="http://schemas.microsoft.com/office/powerpoint/2010/main" val="2227622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D540A5-BA74-B484-9E3A-61D1DD04C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Summary of Evaluation Stage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C999D6-3266-C247-B328-3AE500049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b="1" dirty="0"/>
              <a:t>What We Learn from Evaluation</a:t>
            </a:r>
            <a:endParaRPr lang="en-US" altLang="ja-JP" dirty="0"/>
          </a:p>
          <a:p>
            <a:r>
              <a:rPr lang="en-US" altLang="ja-JP" b="1" dirty="0"/>
              <a:t>Quantitative side:</a:t>
            </a:r>
            <a:r>
              <a:rPr lang="en-US" altLang="ja-JP" dirty="0"/>
              <a:t> loss ↓, accuracy ↑, </a:t>
            </a:r>
            <a:r>
              <a:rPr lang="en-US" altLang="ja-JP" dirty="0" err="1"/>
              <a:t>mAP</a:t>
            </a:r>
            <a:r>
              <a:rPr lang="en-US" altLang="ja-JP" dirty="0"/>
              <a:t> ↑ = effective training.</a:t>
            </a:r>
          </a:p>
          <a:p>
            <a:r>
              <a:rPr lang="en-US" altLang="ja-JP" b="1" dirty="0"/>
              <a:t>Qualitative side:</a:t>
            </a:r>
            <a:r>
              <a:rPr lang="en-US" altLang="ja-JP" dirty="0"/>
              <a:t> semantically similar verses cluster together.</a:t>
            </a:r>
          </a:p>
          <a:p>
            <a:r>
              <a:rPr lang="en-US" altLang="ja-JP" dirty="0"/>
              <a:t>Confirms the </a:t>
            </a:r>
            <a:r>
              <a:rPr lang="en-US" altLang="ja-JP" dirty="0" err="1"/>
              <a:t>BiLSTM</a:t>
            </a:r>
            <a:r>
              <a:rPr lang="en-US" altLang="ja-JP" dirty="0"/>
              <a:t> encoder captures meaning beyond surface forms.</a:t>
            </a:r>
          </a:p>
          <a:p>
            <a:r>
              <a:rPr lang="en-US" altLang="ja-JP" dirty="0"/>
              <a:t>The trained checkpoint is now ready for semantic retrieval in the Bible search system.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5441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A31982-929A-91A6-00F9-4BE08418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Bible Semantic Search Workflow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865B3F-C1C6-75E0-0D84-A09F6BE7F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b="1" dirty="0"/>
              <a:t>From Query → Encoder → Similarity → Results</a:t>
            </a:r>
            <a:endParaRPr lang="en-US" altLang="ja-JP" dirty="0"/>
          </a:p>
          <a:p>
            <a:r>
              <a:rPr lang="en-US" altLang="ja-JP" dirty="0"/>
              <a:t>The goal: given a </a:t>
            </a:r>
            <a:r>
              <a:rPr lang="en-US" altLang="ja-JP" i="1" dirty="0"/>
              <a:t>query verse or phrase</a:t>
            </a:r>
            <a:r>
              <a:rPr lang="en-US" altLang="ja-JP" dirty="0"/>
              <a:t>, find semantically related verses in the King James Bible.</a:t>
            </a:r>
          </a:p>
          <a:p>
            <a:r>
              <a:rPr lang="en-US" altLang="ja-JP" dirty="0"/>
              <a:t>Use the pretrained </a:t>
            </a:r>
            <a:r>
              <a:rPr lang="en-US" altLang="ja-JP" dirty="0" err="1"/>
              <a:t>BiLSTM</a:t>
            </a:r>
            <a:r>
              <a:rPr lang="en-US" altLang="ja-JP" dirty="0"/>
              <a:t> encoder (bilstm_encoder.pt) from Part 4.</a:t>
            </a:r>
          </a:p>
          <a:p>
            <a:r>
              <a:rPr lang="en-US" altLang="ja-JP" dirty="0"/>
              <a:t>Compute embeddings for both the query and all corpus verses.</a:t>
            </a:r>
          </a:p>
          <a:p>
            <a:r>
              <a:rPr lang="en-US" altLang="ja-JP" dirty="0"/>
              <a:t>Compare vectors via cosine similarity → rank Top-k.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04317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8DF01A-DB67-09E3-27F3-4042FEDD4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Input and Output Structure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FFDA5C51-6801-43AC-2D71-1BBDA5928B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275923"/>
              </p:ext>
            </p:extLst>
          </p:nvPr>
        </p:nvGraphicFramePr>
        <p:xfrm>
          <a:off x="838200" y="1690688"/>
          <a:ext cx="10515600" cy="2103120"/>
        </p:xfrm>
        <a:graphic>
          <a:graphicData uri="http://schemas.openxmlformats.org/drawingml/2006/table">
            <a:tbl>
              <a:tblPr/>
              <a:tblGrid>
                <a:gridCol w="2353887">
                  <a:extLst>
                    <a:ext uri="{9D8B030D-6E8A-4147-A177-3AD203B41FA5}">
                      <a16:colId xmlns:a16="http://schemas.microsoft.com/office/drawing/2014/main" val="837115378"/>
                    </a:ext>
                  </a:extLst>
                </a:gridCol>
                <a:gridCol w="3192088">
                  <a:extLst>
                    <a:ext uri="{9D8B030D-6E8A-4147-A177-3AD203B41FA5}">
                      <a16:colId xmlns:a16="http://schemas.microsoft.com/office/drawing/2014/main" val="3135046289"/>
                    </a:ext>
                  </a:extLst>
                </a:gridCol>
                <a:gridCol w="2460567">
                  <a:extLst>
                    <a:ext uri="{9D8B030D-6E8A-4147-A177-3AD203B41FA5}">
                      <a16:colId xmlns:a16="http://schemas.microsoft.com/office/drawing/2014/main" val="3694751403"/>
                    </a:ext>
                  </a:extLst>
                </a:gridCol>
                <a:gridCol w="2509058">
                  <a:extLst>
                    <a:ext uri="{9D8B030D-6E8A-4147-A177-3AD203B41FA5}">
                      <a16:colId xmlns:a16="http://schemas.microsoft.com/office/drawing/2014/main" val="32189576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022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Input (Query)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Raw string → token 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[T]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“God is love”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800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Encoder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256-D semantic vector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>
                          <a:latin typeface="Courier New" panose="02070309020205020404" pitchFamily="49" charset="0"/>
                        </a:rPr>
                        <a:t>[256]</a:t>
                      </a:r>
                      <a:endParaRPr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>
                          <a:latin typeface="Courier New" panose="02070309020205020404" pitchFamily="49" charset="0"/>
                        </a:rPr>
                        <a:t>[0.13, –0.42, …]</a:t>
                      </a:r>
                      <a:endParaRPr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233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Corpus Embeddings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Pre-encoded verse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[N, 256]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N = 31102 verses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944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Ranked Top-k verses + 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[(verse, score)]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Top 5 most similar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41207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1710D7-4164-9528-0B13-F3A7889C5051}"/>
              </a:ext>
            </a:extLst>
          </p:cNvPr>
          <p:cNvSpPr txBox="1"/>
          <p:nvPr/>
        </p:nvSpPr>
        <p:spPr>
          <a:xfrm>
            <a:off x="1296885" y="4348744"/>
            <a:ext cx="9598230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def </a:t>
            </a:r>
            <a:r>
              <a:rPr lang="en-US" altLang="ja-JP" dirty="0" err="1">
                <a:latin typeface="Consolas" panose="020B0609020204030204" pitchFamily="49" charset="0"/>
              </a:rPr>
              <a:t>encode_texts</a:t>
            </a:r>
            <a:r>
              <a:rPr lang="en-US" altLang="ja-JP" dirty="0">
                <a:latin typeface="Consolas" panose="020B0609020204030204" pitchFamily="49" charset="0"/>
              </a:rPr>
              <a:t>(texts):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</a:t>
            </a:r>
            <a:r>
              <a:rPr lang="en-US" altLang="ja-JP" dirty="0" err="1">
                <a:latin typeface="Consolas" panose="020B0609020204030204" pitchFamily="49" charset="0"/>
              </a:rPr>
              <a:t>token_ids</a:t>
            </a:r>
            <a:r>
              <a:rPr lang="en-US" altLang="ja-JP" dirty="0">
                <a:latin typeface="Consolas" panose="020B0609020204030204" pitchFamily="49" charset="0"/>
              </a:rPr>
              <a:t> = [tokenize(t) for t in texts]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padded = </a:t>
            </a:r>
            <a:r>
              <a:rPr lang="en-US" altLang="ja-JP" dirty="0" err="1">
                <a:latin typeface="Consolas" panose="020B0609020204030204" pitchFamily="49" charset="0"/>
              </a:rPr>
              <a:t>pad_sequences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token_ids</a:t>
            </a:r>
            <a:r>
              <a:rPr lang="en-US" altLang="ja-JP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return encoder(padded)   # → [N,256]</a:t>
            </a:r>
          </a:p>
        </p:txBody>
      </p:sp>
    </p:spTree>
    <p:extLst>
      <p:ext uri="{BB962C8B-B14F-4D97-AF65-F5344CB8AC3E}">
        <p14:creationId xmlns:p14="http://schemas.microsoft.com/office/powerpoint/2010/main" val="17872606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DA9277-0036-AD2D-AA56-DEAEC4D2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Precomputing Corpus Embeddings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492559-8D53-EA48-A445-10A4C7CEC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b="1" dirty="0"/>
              <a:t>Accelerating Search through Vector Indexing</a:t>
            </a:r>
            <a:endParaRPr lang="en-US" altLang="ja-JP" dirty="0"/>
          </a:p>
          <a:p>
            <a:r>
              <a:rPr lang="en-US" altLang="ja-JP" dirty="0"/>
              <a:t>Encode all Bible verses once → store as tensor or .</a:t>
            </a:r>
            <a:r>
              <a:rPr lang="en-US" altLang="ja-JP" dirty="0" err="1"/>
              <a:t>npy</a:t>
            </a:r>
            <a:r>
              <a:rPr lang="en-US" altLang="ja-JP" dirty="0"/>
              <a:t> file.</a:t>
            </a:r>
          </a:p>
          <a:p>
            <a:r>
              <a:rPr lang="en-US" altLang="ja-JP" dirty="0"/>
              <a:t>During search: only encode the query and compare with stored embeddings.</a:t>
            </a:r>
          </a:p>
          <a:p>
            <a:r>
              <a:rPr lang="en-US" altLang="ja-JP" dirty="0"/>
              <a:t>Enables instantaneous retrieval without re-encoding entire corpus.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F8017F4-6452-1131-67D6-08002ECD15D2}"/>
              </a:ext>
            </a:extLst>
          </p:cNvPr>
          <p:cNvSpPr txBox="1"/>
          <p:nvPr/>
        </p:nvSpPr>
        <p:spPr>
          <a:xfrm>
            <a:off x="1296885" y="4997137"/>
            <a:ext cx="959823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 err="1">
                <a:latin typeface="Consolas" panose="020B0609020204030204" pitchFamily="49" charset="0"/>
              </a:rPr>
              <a:t>corpus_vecs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encode_texts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bible_texts</a:t>
            </a:r>
            <a:r>
              <a:rPr lang="en-US" altLang="ja-JP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ja-JP" dirty="0" err="1">
                <a:latin typeface="Consolas" panose="020B0609020204030204" pitchFamily="49" charset="0"/>
              </a:rPr>
              <a:t>torch.save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corpus_vecs</a:t>
            </a:r>
            <a:r>
              <a:rPr lang="en-US" altLang="ja-JP" dirty="0">
                <a:latin typeface="Consolas" panose="020B0609020204030204" pitchFamily="49" charset="0"/>
              </a:rPr>
              <a:t>, 'bible_vectors.pt')</a:t>
            </a:r>
          </a:p>
        </p:txBody>
      </p:sp>
    </p:spTree>
    <p:extLst>
      <p:ext uri="{BB962C8B-B14F-4D97-AF65-F5344CB8AC3E}">
        <p14:creationId xmlns:p14="http://schemas.microsoft.com/office/powerpoint/2010/main" val="13736069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7435A-6295-EAF6-E20F-AB1413209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Computing Similarity and Ranking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B4FC05-B13F-962C-AE3E-CFBEE85FC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b="1" dirty="0"/>
              <a:t>Finding Nearest Semantic Neighbors</a:t>
            </a:r>
            <a:endParaRPr lang="en-US" altLang="ja-JP" dirty="0"/>
          </a:p>
          <a:p>
            <a:r>
              <a:rPr lang="en-US" altLang="ja-JP" dirty="0"/>
              <a:t>Compare the query vector with each verse vector using cosine similarity.</a:t>
            </a:r>
          </a:p>
          <a:p>
            <a:r>
              <a:rPr lang="en-US" altLang="ja-JP" dirty="0"/>
              <a:t>Sort descending → Top-k indices.</a:t>
            </a:r>
          </a:p>
          <a:p>
            <a:r>
              <a:rPr lang="en-US" altLang="ja-JP" dirty="0"/>
              <a:t>Return verses and similarity scores as search results.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1ADDE4F-D40A-B997-D05E-A98AB987570B}"/>
              </a:ext>
            </a:extLst>
          </p:cNvPr>
          <p:cNvSpPr txBox="1"/>
          <p:nvPr/>
        </p:nvSpPr>
        <p:spPr>
          <a:xfrm>
            <a:off x="1296885" y="4997137"/>
            <a:ext cx="9598230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 err="1">
                <a:latin typeface="Consolas" panose="020B0609020204030204" pitchFamily="49" charset="0"/>
              </a:rPr>
              <a:t>sim_scores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F.cosine_similarity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q_vec</a:t>
            </a:r>
            <a:r>
              <a:rPr lang="en-US" altLang="ja-JP" dirty="0">
                <a:latin typeface="Consolas" panose="020B0609020204030204" pitchFamily="49" charset="0"/>
              </a:rPr>
              <a:t>, </a:t>
            </a:r>
            <a:r>
              <a:rPr lang="en-US" altLang="ja-JP" dirty="0" err="1">
                <a:latin typeface="Consolas" panose="020B0609020204030204" pitchFamily="49" charset="0"/>
              </a:rPr>
              <a:t>corpus_vecs</a:t>
            </a:r>
            <a:r>
              <a:rPr lang="en-US" altLang="ja-JP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ja-JP" dirty="0" err="1">
                <a:latin typeface="Consolas" panose="020B0609020204030204" pitchFamily="49" charset="0"/>
              </a:rPr>
              <a:t>topk</a:t>
            </a:r>
            <a:r>
              <a:rPr lang="en-US" altLang="ja-JP" dirty="0">
                <a:latin typeface="Consolas" panose="020B0609020204030204" pitchFamily="49" charset="0"/>
              </a:rPr>
              <a:t> = </a:t>
            </a:r>
            <a:r>
              <a:rPr lang="en-US" altLang="ja-JP" dirty="0" err="1">
                <a:latin typeface="Consolas" panose="020B0609020204030204" pitchFamily="49" charset="0"/>
              </a:rPr>
              <a:t>torch.topk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sim_scores</a:t>
            </a:r>
            <a:r>
              <a:rPr lang="en-US" altLang="ja-JP" dirty="0">
                <a:latin typeface="Consolas" panose="020B0609020204030204" pitchFamily="49" charset="0"/>
              </a:rPr>
              <a:t>, k=5)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for </a:t>
            </a:r>
            <a:r>
              <a:rPr lang="en-US" altLang="ja-JP" dirty="0" err="1">
                <a:latin typeface="Consolas" panose="020B0609020204030204" pitchFamily="49" charset="0"/>
              </a:rPr>
              <a:t>i</a:t>
            </a:r>
            <a:r>
              <a:rPr lang="en-US" altLang="ja-JP" dirty="0">
                <a:latin typeface="Consolas" panose="020B0609020204030204" pitchFamily="49" charset="0"/>
              </a:rPr>
              <a:t>, </a:t>
            </a:r>
            <a:r>
              <a:rPr lang="en-US" altLang="ja-JP" dirty="0" err="1">
                <a:latin typeface="Consolas" panose="020B0609020204030204" pitchFamily="49" charset="0"/>
              </a:rPr>
              <a:t>idx</a:t>
            </a:r>
            <a:r>
              <a:rPr lang="en-US" altLang="ja-JP" dirty="0">
                <a:latin typeface="Consolas" panose="020B0609020204030204" pitchFamily="49" charset="0"/>
              </a:rPr>
              <a:t> in enumerate(</a:t>
            </a:r>
            <a:r>
              <a:rPr lang="en-US" altLang="ja-JP" dirty="0" err="1">
                <a:latin typeface="Consolas" panose="020B0609020204030204" pitchFamily="49" charset="0"/>
              </a:rPr>
              <a:t>topk.indices</a:t>
            </a:r>
            <a:r>
              <a:rPr lang="en-US" altLang="ja-JP" dirty="0">
                <a:latin typeface="Consolas" panose="020B0609020204030204" pitchFamily="49" charset="0"/>
              </a:rPr>
              <a:t>):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  print(f"{i+1}. {</a:t>
            </a:r>
            <a:r>
              <a:rPr lang="en-US" altLang="ja-JP" dirty="0" err="1">
                <a:latin typeface="Consolas" panose="020B0609020204030204" pitchFamily="49" charset="0"/>
              </a:rPr>
              <a:t>bible_texts</a:t>
            </a:r>
            <a:r>
              <a:rPr lang="en-US" altLang="ja-JP" dirty="0">
                <a:latin typeface="Consolas" panose="020B0609020204030204" pitchFamily="49" charset="0"/>
              </a:rPr>
              <a:t>[</a:t>
            </a:r>
            <a:r>
              <a:rPr lang="en-US" altLang="ja-JP" dirty="0" err="1">
                <a:latin typeface="Consolas" panose="020B0609020204030204" pitchFamily="49" charset="0"/>
              </a:rPr>
              <a:t>idx</a:t>
            </a:r>
            <a:r>
              <a:rPr lang="en-US" altLang="ja-JP" dirty="0">
                <a:latin typeface="Consolas" panose="020B0609020204030204" pitchFamily="49" charset="0"/>
              </a:rPr>
              <a:t>]}  (score={</a:t>
            </a:r>
            <a:r>
              <a:rPr lang="en-US" altLang="ja-JP" dirty="0" err="1">
                <a:latin typeface="Consolas" panose="020B0609020204030204" pitchFamily="49" charset="0"/>
              </a:rPr>
              <a:t>topk.values</a:t>
            </a:r>
            <a:r>
              <a:rPr lang="en-US" altLang="ja-JP" dirty="0">
                <a:latin typeface="Consolas" panose="020B0609020204030204" pitchFamily="49" charset="0"/>
              </a:rPr>
              <a:t>[</a:t>
            </a:r>
            <a:r>
              <a:rPr lang="en-US" altLang="ja-JP" dirty="0" err="1">
                <a:latin typeface="Consolas" panose="020B0609020204030204" pitchFamily="49" charset="0"/>
              </a:rPr>
              <a:t>i</a:t>
            </a:r>
            <a:r>
              <a:rPr lang="en-US" altLang="ja-JP" dirty="0">
                <a:latin typeface="Consolas" panose="020B0609020204030204" pitchFamily="49" charset="0"/>
              </a:rPr>
              <a:t>]:.3f})")</a:t>
            </a:r>
          </a:p>
        </p:txBody>
      </p:sp>
    </p:spTree>
    <p:extLst>
      <p:ext uri="{BB962C8B-B14F-4D97-AF65-F5344CB8AC3E}">
        <p14:creationId xmlns:p14="http://schemas.microsoft.com/office/powerpoint/2010/main" val="22327699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F62A96-D289-3F0E-3CD6-80D63E7D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Comparison Similarity Ranking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31271374-8C71-D4D7-6EF7-465A6B2489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067990"/>
              </p:ext>
            </p:extLst>
          </p:nvPr>
        </p:nvGraphicFramePr>
        <p:xfrm>
          <a:off x="0" y="1822255"/>
          <a:ext cx="6096000" cy="3559370"/>
        </p:xfrm>
        <a:graphic>
          <a:graphicData uri="http://schemas.openxmlformats.org/drawingml/2006/table">
            <a:tbl>
              <a:tblPr/>
              <a:tblGrid>
                <a:gridCol w="535261">
                  <a:extLst>
                    <a:ext uri="{9D8B030D-6E8A-4147-A177-3AD203B41FA5}">
                      <a16:colId xmlns:a16="http://schemas.microsoft.com/office/drawing/2014/main" val="4105050040"/>
                    </a:ext>
                  </a:extLst>
                </a:gridCol>
                <a:gridCol w="1411916">
                  <a:extLst>
                    <a:ext uri="{9D8B030D-6E8A-4147-A177-3AD203B41FA5}">
                      <a16:colId xmlns:a16="http://schemas.microsoft.com/office/drawing/2014/main" val="1873453869"/>
                    </a:ext>
                  </a:extLst>
                </a:gridCol>
                <a:gridCol w="507804">
                  <a:extLst>
                    <a:ext uri="{9D8B030D-6E8A-4147-A177-3AD203B41FA5}">
                      <a16:colId xmlns:a16="http://schemas.microsoft.com/office/drawing/2014/main" val="2272464643"/>
                    </a:ext>
                  </a:extLst>
                </a:gridCol>
                <a:gridCol w="394485">
                  <a:extLst>
                    <a:ext uri="{9D8B030D-6E8A-4147-A177-3AD203B41FA5}">
                      <a16:colId xmlns:a16="http://schemas.microsoft.com/office/drawing/2014/main" val="3918581935"/>
                    </a:ext>
                  </a:extLst>
                </a:gridCol>
                <a:gridCol w="2230534">
                  <a:extLst>
                    <a:ext uri="{9D8B030D-6E8A-4147-A177-3AD203B41FA5}">
                      <a16:colId xmlns:a16="http://schemas.microsoft.com/office/drawing/2014/main" val="117596599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48587196"/>
                    </a:ext>
                  </a:extLst>
                </a:gridCol>
              </a:tblGrid>
              <a:tr h="5189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US" sz="1200" b="1">
                          <a:effectLst/>
                        </a:rPr>
                      </a:br>
                      <a:r>
                        <a:rPr lang="en-US" sz="1200" b="1">
                          <a:effectLst/>
                        </a:rPr>
                        <a:t>book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>
                          <a:effectLst/>
                        </a:rPr>
                        <a:t>chapter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>
                          <a:effectLst/>
                        </a:rPr>
                        <a:t>verse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>
                          <a:effectLst/>
                        </a:rPr>
                        <a:t>text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>
                          <a:effectLst/>
                        </a:rPr>
                        <a:t>score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60435" marR="60435" marT="30218" marB="302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782438"/>
                  </a:ext>
                </a:extLst>
              </a:tr>
              <a:tr h="74169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ja-JP" sz="1200" b="1">
                          <a:effectLst/>
                        </a:rPr>
                        <a:t>2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The First Book of Moses: Called Genesis.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>
                          <a:effectLst/>
                        </a:rPr>
                        <a:t>1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>
                          <a:effectLst/>
                        </a:rPr>
                        <a:t>3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And God said, Let there be light: and there wa...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>
                          <a:effectLst/>
                        </a:rPr>
                        <a:t>0.798616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75576"/>
                  </a:ext>
                </a:extLst>
              </a:tr>
              <a:tr h="51899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ja-JP" sz="1200" b="1">
                          <a:effectLst/>
                        </a:rPr>
                        <a:t>15767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The Book of Psalms.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>
                          <a:effectLst/>
                        </a:rPr>
                        <a:t>109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>
                          <a:effectLst/>
                        </a:rPr>
                        <a:t>12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Let there be none to extend mercy unto him: ne...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>
                          <a:effectLst/>
                        </a:rPr>
                        <a:t>0.779441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438225"/>
                  </a:ext>
                </a:extLst>
              </a:tr>
              <a:tr h="51899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ja-JP" sz="1200" b="1">
                          <a:effectLst/>
                        </a:rPr>
                        <a:t>15763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The Book of Psalms.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>
                          <a:effectLst/>
                        </a:rPr>
                        <a:t>109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Let his days be few; and let another take his ...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 dirty="0">
                          <a:effectLst/>
                        </a:rPr>
                        <a:t>0.617368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433161"/>
                  </a:ext>
                </a:extLst>
              </a:tr>
              <a:tr h="74169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ja-JP" sz="1200" b="1" dirty="0">
                          <a:effectLst/>
                        </a:rPr>
                        <a:t>28673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The First Epistle of Paul the Apostle to the C...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>
                          <a:effectLst/>
                        </a:rPr>
                        <a:t>13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Charity never faileth: but whether there be pr...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>
                          <a:effectLst/>
                        </a:rPr>
                        <a:t>0.613728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1098"/>
                  </a:ext>
                </a:extLst>
              </a:tr>
              <a:tr h="51899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ja-JP" sz="1200" b="1">
                          <a:effectLst/>
                        </a:rPr>
                        <a:t>13596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The Book of Job.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>
                          <a:effectLst/>
                        </a:rPr>
                        <a:t>31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Then let me sow, and let another eat; yea, let...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200" dirty="0">
                          <a:effectLst/>
                        </a:rPr>
                        <a:t>0.585301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34506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A7C6BFC-B87E-9D94-2160-1F86D297B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1808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8778BAA5-E275-16EB-BA61-8F9686F93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818839"/>
              </p:ext>
            </p:extLst>
          </p:nvPr>
        </p:nvGraphicFramePr>
        <p:xfrm>
          <a:off x="6096000" y="1836206"/>
          <a:ext cx="6096000" cy="3545413"/>
        </p:xfrm>
        <a:graphic>
          <a:graphicData uri="http://schemas.openxmlformats.org/drawingml/2006/table">
            <a:tbl>
              <a:tblPr/>
              <a:tblGrid>
                <a:gridCol w="543044">
                  <a:extLst>
                    <a:ext uri="{9D8B030D-6E8A-4147-A177-3AD203B41FA5}">
                      <a16:colId xmlns:a16="http://schemas.microsoft.com/office/drawing/2014/main" val="383303392"/>
                    </a:ext>
                  </a:extLst>
                </a:gridCol>
                <a:gridCol w="1239951">
                  <a:extLst>
                    <a:ext uri="{9D8B030D-6E8A-4147-A177-3AD203B41FA5}">
                      <a16:colId xmlns:a16="http://schemas.microsoft.com/office/drawing/2014/main" val="409834627"/>
                    </a:ext>
                  </a:extLst>
                </a:gridCol>
                <a:gridCol w="606399">
                  <a:extLst>
                    <a:ext uri="{9D8B030D-6E8A-4147-A177-3AD203B41FA5}">
                      <a16:colId xmlns:a16="http://schemas.microsoft.com/office/drawing/2014/main" val="1071556062"/>
                    </a:ext>
                  </a:extLst>
                </a:gridCol>
                <a:gridCol w="416334">
                  <a:extLst>
                    <a:ext uri="{9D8B030D-6E8A-4147-A177-3AD203B41FA5}">
                      <a16:colId xmlns:a16="http://schemas.microsoft.com/office/drawing/2014/main" val="2857045371"/>
                    </a:ext>
                  </a:extLst>
                </a:gridCol>
                <a:gridCol w="2274272">
                  <a:extLst>
                    <a:ext uri="{9D8B030D-6E8A-4147-A177-3AD203B41FA5}">
                      <a16:colId xmlns:a16="http://schemas.microsoft.com/office/drawing/2014/main" val="212069418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4867635"/>
                    </a:ext>
                  </a:extLst>
                </a:gridCol>
              </a:tblGrid>
              <a:tr h="403877"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US" sz="1100" b="1">
                          <a:effectLst/>
                        </a:rPr>
                      </a:br>
                      <a:r>
                        <a:rPr lang="en-US" sz="1100" b="1">
                          <a:effectLst/>
                        </a:rPr>
                        <a:t>book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>
                          <a:effectLst/>
                        </a:rPr>
                        <a:t>chapter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>
                          <a:effectLst/>
                        </a:rPr>
                        <a:t>verse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>
                          <a:effectLst/>
                        </a:rPr>
                        <a:t>text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 dirty="0">
                          <a:effectLst/>
                        </a:rPr>
                        <a:t>score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 marL="55786" marR="55786" marT="27893" marB="278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913553"/>
                  </a:ext>
                </a:extLst>
              </a:tr>
              <a:tr h="57700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ja-JP" sz="1100" b="1">
                          <a:effectLst/>
                        </a:rPr>
                        <a:t>2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The First Book of Moses: Called Genesis.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>
                          <a:effectLst/>
                        </a:rPr>
                        <a:t>1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>
                          <a:effectLst/>
                        </a:rPr>
                        <a:t>3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And God said, Let there be light: and there wa...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>
                          <a:effectLst/>
                        </a:rPr>
                        <a:t>0.682868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484436"/>
                  </a:ext>
                </a:extLst>
              </a:tr>
              <a:tr h="487236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ja-JP" sz="1100" b="1">
                          <a:effectLst/>
                        </a:rPr>
                        <a:t>15767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The Book of Psalms.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>
                          <a:effectLst/>
                        </a:rPr>
                        <a:t>109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>
                          <a:effectLst/>
                        </a:rPr>
                        <a:t>12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effectLst/>
                        </a:rPr>
                        <a:t>Let there be none to extend mercy unto him: ne...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>
                          <a:effectLst/>
                        </a:rPr>
                        <a:t>0.488516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733066"/>
                  </a:ext>
                </a:extLst>
              </a:tr>
              <a:tr h="75014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ja-JP" sz="1100" b="1">
                          <a:effectLst/>
                        </a:rPr>
                        <a:t>8043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The Second Book of Samuel\r\n\r\nOtherwise Cal...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>
                          <a:effectLst/>
                        </a:rPr>
                        <a:t>1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>
                          <a:effectLst/>
                        </a:rPr>
                        <a:t>21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Ye mountains of Gilboa, let there be no dew, n...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 dirty="0">
                          <a:effectLst/>
                        </a:rPr>
                        <a:t>0.316700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946215"/>
                  </a:ext>
                </a:extLst>
              </a:tr>
              <a:tr h="57700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ja-JP" sz="1100" b="1">
                          <a:effectLst/>
                        </a:rPr>
                        <a:t>5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The First Book of Moses: Called Genesis.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>
                          <a:effectLst/>
                        </a:rPr>
                        <a:t>1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>
                          <a:effectLst/>
                        </a:rPr>
                        <a:t>6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And God said, Let there be a firmament in the ...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>
                          <a:effectLst/>
                        </a:rPr>
                        <a:t>0.260619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301002"/>
                  </a:ext>
                </a:extLst>
              </a:tr>
              <a:tr h="75014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ja-JP" sz="1100" b="1">
                          <a:effectLst/>
                        </a:rPr>
                        <a:t>9022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The First Book of the Kings\r\n\r\nCommonly Ca...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>
                          <a:effectLst/>
                        </a:rPr>
                        <a:t>8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 dirty="0">
                          <a:effectLst/>
                        </a:rPr>
                        <a:t>37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If there be in the land famine, if there be pe...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100" dirty="0">
                          <a:effectLst/>
                        </a:rPr>
                        <a:t>0.259204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762197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98C8772-B021-5F5A-64B3-02767720412F}"/>
              </a:ext>
            </a:extLst>
          </p:cNvPr>
          <p:cNvSpPr txBox="1"/>
          <p:nvPr/>
        </p:nvSpPr>
        <p:spPr>
          <a:xfrm>
            <a:off x="2000250" y="5513192"/>
            <a:ext cx="169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Neural Search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E26AF3B-9A9C-9D1F-E107-CD325C9A8813}"/>
              </a:ext>
            </a:extLst>
          </p:cNvPr>
          <p:cNvSpPr txBox="1"/>
          <p:nvPr/>
        </p:nvSpPr>
        <p:spPr>
          <a:xfrm>
            <a:off x="8181975" y="5513192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TF-IDF Search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6E915FD-6679-EF57-04E8-EEDA1FDC12D9}"/>
              </a:ext>
            </a:extLst>
          </p:cNvPr>
          <p:cNvSpPr txBox="1"/>
          <p:nvPr/>
        </p:nvSpPr>
        <p:spPr>
          <a:xfrm>
            <a:off x="3048000" y="1518974"/>
            <a:ext cx="6110286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*_search(</a:t>
            </a:r>
            <a:r>
              <a:rPr lang="en-US" altLang="ja-JP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"let there be light"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ja-JP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topk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8611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A1A71-6FAD-5C89-0DF7-6501B849E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Interpreting Search Results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0B54D2-E244-9DEE-9BB4-50C66EDA1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654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ja-JP" b="1"/>
              <a:t>How to Analyze Model Behavior</a:t>
            </a:r>
            <a:endParaRPr lang="en-US" altLang="ja-JP"/>
          </a:p>
          <a:p>
            <a:r>
              <a:rPr lang="en-US" altLang="ja-JP"/>
              <a:t>High-score results → strong semantic alignment.</a:t>
            </a:r>
          </a:p>
          <a:p>
            <a:r>
              <a:rPr lang="en-US" altLang="ja-JP"/>
              <a:t>Occasional false positives → word co-occurrence bias or context shift.</a:t>
            </a:r>
          </a:p>
          <a:p>
            <a:r>
              <a:rPr lang="en-US" altLang="ja-JP"/>
              <a:t>Examine score distribution to set cut-off threshold for relevance.</a:t>
            </a:r>
          </a:p>
          <a:p>
            <a:r>
              <a:rPr lang="en-US" altLang="ja-JP"/>
              <a:t>Compare different encoders (BiLSTM vs Transformer) later to evaluate semantic capacity.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4BEBCEF-88DD-69A9-9F27-146EC9CA01FD}"/>
              </a:ext>
            </a:extLst>
          </p:cNvPr>
          <p:cNvSpPr txBox="1"/>
          <p:nvPr/>
        </p:nvSpPr>
        <p:spPr>
          <a:xfrm>
            <a:off x="1296885" y="4997137"/>
            <a:ext cx="9598230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dirty="0" err="1">
                <a:latin typeface="Consolas" panose="020B0609020204030204" pitchFamily="49" charset="0"/>
              </a:rPr>
              <a:t>plt.hist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en-US" altLang="ja-JP" dirty="0" err="1">
                <a:latin typeface="Consolas" panose="020B0609020204030204" pitchFamily="49" charset="0"/>
              </a:rPr>
              <a:t>sim_scores.cpu</a:t>
            </a:r>
            <a:r>
              <a:rPr lang="en-US" altLang="ja-JP" dirty="0">
                <a:latin typeface="Consolas" panose="020B0609020204030204" pitchFamily="49" charset="0"/>
              </a:rPr>
              <a:t>().</a:t>
            </a:r>
            <a:r>
              <a:rPr lang="en-US" altLang="ja-JP" dirty="0" err="1">
                <a:latin typeface="Consolas" panose="020B0609020204030204" pitchFamily="49" charset="0"/>
              </a:rPr>
              <a:t>numpy</a:t>
            </a:r>
            <a:r>
              <a:rPr lang="en-US" altLang="ja-JP" dirty="0">
                <a:latin typeface="Consolas" panose="020B0609020204030204" pitchFamily="49" charset="0"/>
              </a:rPr>
              <a:t>(), bins=50)</a:t>
            </a:r>
          </a:p>
          <a:p>
            <a:r>
              <a:rPr lang="en-US" altLang="ja-JP" dirty="0" err="1">
                <a:latin typeface="Consolas" panose="020B0609020204030204" pitchFamily="49" charset="0"/>
              </a:rPr>
              <a:t>plt.title</a:t>
            </a:r>
            <a:r>
              <a:rPr lang="en-US" altLang="ja-JP" dirty="0">
                <a:latin typeface="Consolas" panose="020B0609020204030204" pitchFamily="49" charset="0"/>
              </a:rPr>
              <a:t>("Similarity Score Distribution")</a:t>
            </a:r>
          </a:p>
          <a:p>
            <a:r>
              <a:rPr lang="en-US" altLang="ja-JP" dirty="0" err="1">
                <a:latin typeface="Consolas" panose="020B0609020204030204" pitchFamily="49" charset="0"/>
              </a:rPr>
              <a:t>plt.xlabel</a:t>
            </a:r>
            <a:r>
              <a:rPr lang="en-US" altLang="ja-JP" dirty="0">
                <a:latin typeface="Consolas" panose="020B0609020204030204" pitchFamily="49" charset="0"/>
              </a:rPr>
              <a:t>("cosine similarity"); </a:t>
            </a:r>
            <a:r>
              <a:rPr lang="en-US" altLang="ja-JP" dirty="0" err="1">
                <a:latin typeface="Consolas" panose="020B0609020204030204" pitchFamily="49" charset="0"/>
              </a:rPr>
              <a:t>plt.ylabel</a:t>
            </a:r>
            <a:r>
              <a:rPr lang="en-US" altLang="ja-JP" dirty="0">
                <a:latin typeface="Consolas" panose="020B0609020204030204" pitchFamily="49" charset="0"/>
              </a:rPr>
              <a:t>("count")</a:t>
            </a:r>
          </a:p>
        </p:txBody>
      </p:sp>
    </p:spTree>
    <p:extLst>
      <p:ext uri="{BB962C8B-B14F-4D97-AF65-F5344CB8AC3E}">
        <p14:creationId xmlns:p14="http://schemas.microsoft.com/office/powerpoint/2010/main" val="1382813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2D1E34-7E7F-7E43-4913-E8B5AB48A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What Can Be Modified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FB3131-E7CD-AF8B-DBD9-D9E42B8D8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606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ja-JP" b="1" dirty="0"/>
              <a:t>Flexible Design for Experimentation</a:t>
            </a:r>
            <a:endParaRPr lang="en-US" altLang="ja-JP" dirty="0"/>
          </a:p>
          <a:p>
            <a:r>
              <a:rPr lang="en-US" altLang="ja-JP" dirty="0"/>
              <a:t>The whole pipeline is modular—each part can be swapped or retrained.</a:t>
            </a:r>
          </a:p>
          <a:p>
            <a:r>
              <a:rPr lang="en-US" altLang="ja-JP" dirty="0"/>
              <a:t>Key modifiable elements:</a:t>
            </a:r>
          </a:p>
          <a:p>
            <a:pPr lvl="1"/>
            <a:r>
              <a:rPr lang="en-US" altLang="ja-JP" b="1" dirty="0"/>
              <a:t>Training Data</a:t>
            </a:r>
            <a:r>
              <a:rPr lang="en-US" altLang="ja-JP" dirty="0"/>
              <a:t> → Change domain or task.</a:t>
            </a:r>
          </a:p>
          <a:p>
            <a:pPr lvl="1"/>
            <a:r>
              <a:rPr lang="en-US" altLang="ja-JP" b="1" dirty="0"/>
              <a:t>Encoder Architecture</a:t>
            </a:r>
            <a:r>
              <a:rPr lang="en-US" altLang="ja-JP" dirty="0"/>
              <a:t> → </a:t>
            </a:r>
            <a:r>
              <a:rPr lang="en-US" altLang="ja-JP" dirty="0" err="1"/>
              <a:t>BiLSTM</a:t>
            </a:r>
            <a:r>
              <a:rPr lang="en-US" altLang="ja-JP" dirty="0"/>
              <a:t> → Transformer / CNN / GRU.</a:t>
            </a:r>
          </a:p>
          <a:p>
            <a:pPr lvl="1"/>
            <a:r>
              <a:rPr lang="en-US" altLang="ja-JP" b="1" dirty="0"/>
              <a:t>Loss Function</a:t>
            </a:r>
            <a:r>
              <a:rPr lang="en-US" altLang="ja-JP" dirty="0"/>
              <a:t> → Contrastive → Triplet / Cross-Entropy.</a:t>
            </a:r>
          </a:p>
          <a:p>
            <a:pPr lvl="1"/>
            <a:r>
              <a:rPr lang="en-US" altLang="ja-JP" b="1" dirty="0"/>
              <a:t>Similarity Metric</a:t>
            </a:r>
            <a:r>
              <a:rPr lang="en-US" altLang="ja-JP" dirty="0"/>
              <a:t> → Cosine → Dot / Euclidean.</a:t>
            </a:r>
          </a:p>
          <a:p>
            <a:r>
              <a:rPr lang="en-US" altLang="ja-JP" dirty="0"/>
              <a:t>Keep the same </a:t>
            </a:r>
            <a:r>
              <a:rPr lang="en-US" altLang="ja-JP" i="1" dirty="0"/>
              <a:t>input/output interface</a:t>
            </a:r>
            <a:r>
              <a:rPr lang="en-US" altLang="ja-JP" dirty="0"/>
              <a:t> so all modules remain interoperable.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9E22D4-994D-971F-43E2-221FEA746629}"/>
              </a:ext>
            </a:extLst>
          </p:cNvPr>
          <p:cNvSpPr txBox="1"/>
          <p:nvPr/>
        </p:nvSpPr>
        <p:spPr>
          <a:xfrm>
            <a:off x="1296885" y="4286250"/>
            <a:ext cx="9598230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</a:rPr>
              <a:t>from transformers import </a:t>
            </a:r>
            <a:r>
              <a:rPr lang="en-US" altLang="ja-JP" sz="1600" dirty="0" err="1">
                <a:latin typeface="Consolas" panose="020B0609020204030204" pitchFamily="49" charset="0"/>
              </a:rPr>
              <a:t>AutoModel</a:t>
            </a:r>
            <a:endParaRPr lang="en-US" altLang="ja-JP" sz="1600" dirty="0">
              <a:latin typeface="Consolas" panose="020B0609020204030204" pitchFamily="49" charset="0"/>
            </a:endParaRPr>
          </a:p>
          <a:p>
            <a:r>
              <a:rPr lang="en-US" altLang="ja-JP" sz="1600" dirty="0">
                <a:latin typeface="Consolas" panose="020B0609020204030204" pitchFamily="49" charset="0"/>
              </a:rPr>
              <a:t>class </a:t>
            </a:r>
            <a:r>
              <a:rPr lang="en-US" altLang="ja-JP" sz="1600" dirty="0" err="1">
                <a:latin typeface="Consolas" panose="020B0609020204030204" pitchFamily="49" charset="0"/>
              </a:rPr>
              <a:t>TransformerEncoder</a:t>
            </a:r>
            <a:r>
              <a:rPr lang="en-US" altLang="ja-JP" sz="1600" dirty="0">
                <a:latin typeface="Consolas" panose="020B0609020204030204" pitchFamily="49" charset="0"/>
              </a:rPr>
              <a:t>(</a:t>
            </a:r>
            <a:r>
              <a:rPr lang="en-US" altLang="ja-JP" sz="1600" dirty="0" err="1">
                <a:latin typeface="Consolas" panose="020B0609020204030204" pitchFamily="49" charset="0"/>
              </a:rPr>
              <a:t>nn.Module</a:t>
            </a:r>
            <a:r>
              <a:rPr lang="en-US" altLang="ja-JP" sz="1600" dirty="0">
                <a:latin typeface="Consolas" panose="020B0609020204030204" pitchFamily="49" charset="0"/>
              </a:rPr>
              <a:t>):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def __</a:t>
            </a:r>
            <a:r>
              <a:rPr lang="en-US" altLang="ja-JP" sz="1600" dirty="0" err="1">
                <a:latin typeface="Consolas" panose="020B0609020204030204" pitchFamily="49" charset="0"/>
              </a:rPr>
              <a:t>init</a:t>
            </a:r>
            <a:r>
              <a:rPr lang="en-US" altLang="ja-JP" sz="1600" dirty="0">
                <a:latin typeface="Consolas" panose="020B0609020204030204" pitchFamily="49" charset="0"/>
              </a:rPr>
              <a:t>__(self, </a:t>
            </a:r>
            <a:r>
              <a:rPr lang="en-US" altLang="ja-JP" sz="1600" dirty="0" err="1">
                <a:latin typeface="Consolas" panose="020B0609020204030204" pitchFamily="49" charset="0"/>
              </a:rPr>
              <a:t>model_name</a:t>
            </a:r>
            <a:r>
              <a:rPr lang="en-US" altLang="ja-JP" sz="1600" dirty="0">
                <a:latin typeface="Consolas" panose="020B0609020204030204" pitchFamily="49" charset="0"/>
              </a:rPr>
              <a:t>='</a:t>
            </a:r>
            <a:r>
              <a:rPr lang="en-US" altLang="ja-JP" sz="1600" dirty="0" err="1">
                <a:latin typeface="Consolas" panose="020B0609020204030204" pitchFamily="49" charset="0"/>
              </a:rPr>
              <a:t>distilbert</a:t>
            </a:r>
            <a:r>
              <a:rPr lang="en-US" altLang="ja-JP" sz="1600" dirty="0">
                <a:latin typeface="Consolas" panose="020B0609020204030204" pitchFamily="49" charset="0"/>
              </a:rPr>
              <a:t>-base-uncased'):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    super().__</a:t>
            </a:r>
            <a:r>
              <a:rPr lang="en-US" altLang="ja-JP" sz="1600" dirty="0" err="1">
                <a:latin typeface="Consolas" panose="020B0609020204030204" pitchFamily="49" charset="0"/>
              </a:rPr>
              <a:t>init</a:t>
            </a:r>
            <a:r>
              <a:rPr lang="en-US" altLang="ja-JP" sz="1600" dirty="0">
                <a:latin typeface="Consolas" panose="020B0609020204030204" pitchFamily="49" charset="0"/>
              </a:rPr>
              <a:t>__()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    </a:t>
            </a:r>
            <a:r>
              <a:rPr lang="en-US" altLang="ja-JP" sz="1600" dirty="0" err="1">
                <a:latin typeface="Consolas" panose="020B0609020204030204" pitchFamily="49" charset="0"/>
              </a:rPr>
              <a:t>self.encoder</a:t>
            </a:r>
            <a:r>
              <a:rPr lang="en-US" altLang="ja-JP" sz="1600" dirty="0">
                <a:latin typeface="Consolas" panose="020B0609020204030204" pitchFamily="49" charset="0"/>
              </a:rPr>
              <a:t> = </a:t>
            </a:r>
            <a:r>
              <a:rPr lang="en-US" altLang="ja-JP" sz="1600" dirty="0" err="1">
                <a:latin typeface="Consolas" panose="020B0609020204030204" pitchFamily="49" charset="0"/>
              </a:rPr>
              <a:t>AutoModel.from_pretrained</a:t>
            </a:r>
            <a:r>
              <a:rPr lang="en-US" altLang="ja-JP" sz="1600" dirty="0">
                <a:latin typeface="Consolas" panose="020B0609020204030204" pitchFamily="49" charset="0"/>
              </a:rPr>
              <a:t>(</a:t>
            </a:r>
            <a:r>
              <a:rPr lang="en-US" altLang="ja-JP" sz="1600" dirty="0" err="1">
                <a:latin typeface="Consolas" panose="020B0609020204030204" pitchFamily="49" charset="0"/>
              </a:rPr>
              <a:t>model_name</a:t>
            </a:r>
            <a:r>
              <a:rPr lang="en-US" altLang="ja-JP" sz="1600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    </a:t>
            </a:r>
            <a:r>
              <a:rPr lang="en-US" altLang="ja-JP" sz="1600" dirty="0" err="1">
                <a:latin typeface="Consolas" panose="020B0609020204030204" pitchFamily="49" charset="0"/>
              </a:rPr>
              <a:t>self.proj</a:t>
            </a:r>
            <a:r>
              <a:rPr lang="en-US" altLang="ja-JP" sz="1600" dirty="0">
                <a:latin typeface="Consolas" panose="020B0609020204030204" pitchFamily="49" charset="0"/>
              </a:rPr>
              <a:t> = </a:t>
            </a:r>
            <a:r>
              <a:rPr lang="en-US" altLang="ja-JP" sz="1600" dirty="0" err="1">
                <a:latin typeface="Consolas" panose="020B0609020204030204" pitchFamily="49" charset="0"/>
              </a:rPr>
              <a:t>nn.Linear</a:t>
            </a:r>
            <a:r>
              <a:rPr lang="en-US" altLang="ja-JP" sz="1600" dirty="0">
                <a:latin typeface="Consolas" panose="020B0609020204030204" pitchFamily="49" charset="0"/>
              </a:rPr>
              <a:t>(768, 256)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def forward(self, x):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    out = </a:t>
            </a:r>
            <a:r>
              <a:rPr lang="en-US" altLang="ja-JP" sz="1600" dirty="0" err="1">
                <a:latin typeface="Consolas" panose="020B0609020204030204" pitchFamily="49" charset="0"/>
              </a:rPr>
              <a:t>self.encoder</a:t>
            </a:r>
            <a:r>
              <a:rPr lang="en-US" altLang="ja-JP" sz="1600" dirty="0">
                <a:latin typeface="Consolas" panose="020B0609020204030204" pitchFamily="49" charset="0"/>
              </a:rPr>
              <a:t>(**x).</a:t>
            </a:r>
            <a:r>
              <a:rPr lang="en-US" altLang="ja-JP" sz="1600" dirty="0" err="1">
                <a:latin typeface="Consolas" panose="020B0609020204030204" pitchFamily="49" charset="0"/>
              </a:rPr>
              <a:t>last_hidden_state.mean</a:t>
            </a:r>
            <a:r>
              <a:rPr lang="en-US" altLang="ja-JP" sz="1600" dirty="0">
                <a:latin typeface="Consolas" panose="020B0609020204030204" pitchFamily="49" charset="0"/>
              </a:rPr>
              <a:t>(dim=1)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    return </a:t>
            </a:r>
            <a:r>
              <a:rPr lang="en-US" altLang="ja-JP" sz="1600" dirty="0" err="1">
                <a:latin typeface="Consolas" panose="020B0609020204030204" pitchFamily="49" charset="0"/>
              </a:rPr>
              <a:t>F.normalize</a:t>
            </a:r>
            <a:r>
              <a:rPr lang="en-US" altLang="ja-JP" sz="1600" dirty="0">
                <a:latin typeface="Consolas" panose="020B0609020204030204" pitchFamily="49" charset="0"/>
              </a:rPr>
              <a:t>(</a:t>
            </a:r>
            <a:r>
              <a:rPr lang="en-US" altLang="ja-JP" sz="1600" dirty="0" err="1">
                <a:latin typeface="Consolas" panose="020B0609020204030204" pitchFamily="49" charset="0"/>
              </a:rPr>
              <a:t>self.proj</a:t>
            </a:r>
            <a:r>
              <a:rPr lang="en-US" altLang="ja-JP" sz="1600" dirty="0">
                <a:latin typeface="Consolas" panose="020B0609020204030204" pitchFamily="49" charset="0"/>
              </a:rPr>
              <a:t>(out), p=2, dim=-1)</a:t>
            </a:r>
          </a:p>
        </p:txBody>
      </p:sp>
    </p:spTree>
    <p:extLst>
      <p:ext uri="{BB962C8B-B14F-4D97-AF65-F5344CB8AC3E}">
        <p14:creationId xmlns:p14="http://schemas.microsoft.com/office/powerpoint/2010/main" val="949417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66505B-389F-C772-A06F-D17395078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Customizing Input / Output Behavior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EB9EB1E3-C88D-37E9-E6CC-A31EDFACD4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9858"/>
              </p:ext>
            </p:extLst>
          </p:nvPr>
        </p:nvGraphicFramePr>
        <p:xfrm>
          <a:off x="838200" y="1534319"/>
          <a:ext cx="10515600" cy="2743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971601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346439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83749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Replace / Extend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Example Modification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313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Input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Different corpus / tokenizer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e.g. medical text, news articles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820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Pre-proc.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new tokenization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add lemmatization, NER tags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912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Model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Encoder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Transformer / Hybrid LSTM + 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703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Loss / Eval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new metrics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margin-ranking loss, BLEU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886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Output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interface 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dirty="0"/>
                        <a:t>Web API / JSON / GUI (</a:t>
                      </a:r>
                      <a:r>
                        <a:rPr lang="it-IT" dirty="0" err="1"/>
                        <a:t>Gradio</a:t>
                      </a:r>
                      <a:r>
                        <a:rPr lang="it-IT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675894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4F22E9E-8106-C96F-FFE0-D6C1A07682AD}"/>
              </a:ext>
            </a:extLst>
          </p:cNvPr>
          <p:cNvSpPr txBox="1"/>
          <p:nvPr/>
        </p:nvSpPr>
        <p:spPr>
          <a:xfrm>
            <a:off x="1296885" y="4905375"/>
            <a:ext cx="9598230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</a:rPr>
              <a:t>def </a:t>
            </a:r>
            <a:r>
              <a:rPr lang="en-US" altLang="ja-JP" sz="1600" dirty="0" err="1">
                <a:latin typeface="Consolas" panose="020B0609020204030204" pitchFamily="49" charset="0"/>
              </a:rPr>
              <a:t>semantic_search</a:t>
            </a:r>
            <a:r>
              <a:rPr lang="en-US" altLang="ja-JP" sz="1600" dirty="0">
                <a:latin typeface="Consolas" panose="020B0609020204030204" pitchFamily="49" charset="0"/>
              </a:rPr>
              <a:t>(query, encoder, </a:t>
            </a:r>
            <a:r>
              <a:rPr lang="en-US" altLang="ja-JP" sz="1600" dirty="0" err="1">
                <a:latin typeface="Consolas" panose="020B0609020204030204" pitchFamily="49" charset="0"/>
              </a:rPr>
              <a:t>corpus_vecs</a:t>
            </a:r>
            <a:r>
              <a:rPr lang="en-US" altLang="ja-JP" sz="1600" dirty="0">
                <a:latin typeface="Consolas" panose="020B0609020204030204" pitchFamily="49" charset="0"/>
              </a:rPr>
              <a:t>, </a:t>
            </a:r>
            <a:r>
              <a:rPr lang="en-US" altLang="ja-JP" sz="1600" dirty="0" err="1">
                <a:latin typeface="Consolas" panose="020B0609020204030204" pitchFamily="49" charset="0"/>
              </a:rPr>
              <a:t>top_k</a:t>
            </a:r>
            <a:r>
              <a:rPr lang="en-US" altLang="ja-JP" sz="1600" dirty="0">
                <a:latin typeface="Consolas" panose="020B0609020204030204" pitchFamily="49" charset="0"/>
              </a:rPr>
              <a:t>=5):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</a:t>
            </a:r>
            <a:r>
              <a:rPr lang="en-US" altLang="ja-JP" sz="1600" dirty="0" err="1">
                <a:latin typeface="Consolas" panose="020B0609020204030204" pitchFamily="49" charset="0"/>
              </a:rPr>
              <a:t>q_vec</a:t>
            </a:r>
            <a:r>
              <a:rPr lang="en-US" altLang="ja-JP" sz="1600" dirty="0">
                <a:latin typeface="Consolas" panose="020B0609020204030204" pitchFamily="49" charset="0"/>
              </a:rPr>
              <a:t> = encoder(tokenize(query))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sim = </a:t>
            </a:r>
            <a:r>
              <a:rPr lang="en-US" altLang="ja-JP" sz="1600" dirty="0" err="1">
                <a:latin typeface="Consolas" panose="020B0609020204030204" pitchFamily="49" charset="0"/>
              </a:rPr>
              <a:t>F.cosine_similarity</a:t>
            </a:r>
            <a:r>
              <a:rPr lang="en-US" altLang="ja-JP" sz="1600" dirty="0">
                <a:latin typeface="Consolas" panose="020B0609020204030204" pitchFamily="49" charset="0"/>
              </a:rPr>
              <a:t>(</a:t>
            </a:r>
            <a:r>
              <a:rPr lang="en-US" altLang="ja-JP" sz="1600" dirty="0" err="1">
                <a:latin typeface="Consolas" panose="020B0609020204030204" pitchFamily="49" charset="0"/>
              </a:rPr>
              <a:t>q_vec</a:t>
            </a:r>
            <a:r>
              <a:rPr lang="en-US" altLang="ja-JP" sz="1600" dirty="0">
                <a:latin typeface="Consolas" panose="020B0609020204030204" pitchFamily="49" charset="0"/>
              </a:rPr>
              <a:t>, </a:t>
            </a:r>
            <a:r>
              <a:rPr lang="en-US" altLang="ja-JP" sz="1600" dirty="0" err="1">
                <a:latin typeface="Consolas" panose="020B0609020204030204" pitchFamily="49" charset="0"/>
              </a:rPr>
              <a:t>corpus_vecs</a:t>
            </a:r>
            <a:r>
              <a:rPr lang="en-US" altLang="ja-JP" sz="1600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top = </a:t>
            </a:r>
            <a:r>
              <a:rPr lang="en-US" altLang="ja-JP" sz="1600" dirty="0" err="1">
                <a:latin typeface="Consolas" panose="020B0609020204030204" pitchFamily="49" charset="0"/>
              </a:rPr>
              <a:t>torch.topk</a:t>
            </a:r>
            <a:r>
              <a:rPr lang="en-US" altLang="ja-JP" sz="1600" dirty="0">
                <a:latin typeface="Consolas" panose="020B0609020204030204" pitchFamily="49" charset="0"/>
              </a:rPr>
              <a:t>(sim, k=</a:t>
            </a:r>
            <a:r>
              <a:rPr lang="en-US" altLang="ja-JP" sz="1600" dirty="0" err="1">
                <a:latin typeface="Consolas" panose="020B0609020204030204" pitchFamily="49" charset="0"/>
              </a:rPr>
              <a:t>top_k</a:t>
            </a:r>
            <a:r>
              <a:rPr lang="en-US" altLang="ja-JP" sz="1600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return [(verses[</a:t>
            </a:r>
            <a:r>
              <a:rPr lang="en-US" altLang="ja-JP" sz="1600" dirty="0" err="1">
                <a:latin typeface="Consolas" panose="020B0609020204030204" pitchFamily="49" charset="0"/>
              </a:rPr>
              <a:t>i</a:t>
            </a:r>
            <a:r>
              <a:rPr lang="en-US" altLang="ja-JP" sz="1600" dirty="0">
                <a:latin typeface="Consolas" panose="020B0609020204030204" pitchFamily="49" charset="0"/>
              </a:rPr>
              <a:t>], float(sim[</a:t>
            </a:r>
            <a:r>
              <a:rPr lang="en-US" altLang="ja-JP" sz="1600" dirty="0" err="1">
                <a:latin typeface="Consolas" panose="020B0609020204030204" pitchFamily="49" charset="0"/>
              </a:rPr>
              <a:t>i</a:t>
            </a:r>
            <a:r>
              <a:rPr lang="en-US" altLang="ja-JP" sz="1600" dirty="0">
                <a:latin typeface="Consolas" panose="020B0609020204030204" pitchFamily="49" charset="0"/>
              </a:rPr>
              <a:t>])) for </a:t>
            </a:r>
            <a:r>
              <a:rPr lang="en-US" altLang="ja-JP" sz="1600" dirty="0" err="1">
                <a:latin typeface="Consolas" panose="020B0609020204030204" pitchFamily="49" charset="0"/>
              </a:rPr>
              <a:t>i</a:t>
            </a:r>
            <a:r>
              <a:rPr lang="en-US" altLang="ja-JP" sz="1600" dirty="0">
                <a:latin typeface="Consolas" panose="020B0609020204030204" pitchFamily="49" charset="0"/>
              </a:rPr>
              <a:t> in </a:t>
            </a:r>
            <a:r>
              <a:rPr lang="en-US" altLang="ja-JP" sz="1600" dirty="0" err="1">
                <a:latin typeface="Consolas" panose="020B0609020204030204" pitchFamily="49" charset="0"/>
              </a:rPr>
              <a:t>top.indices</a:t>
            </a:r>
            <a:r>
              <a:rPr lang="en-US" altLang="ja-JP" sz="1600" dirty="0"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0696704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A5508F-FFA4-9DA6-4948-2D520C319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Key Takeaways from Lecture 6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3D73F3-5142-7FFA-B6A3-5BAB5564F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ja-JP" b="1" dirty="0"/>
              <a:t>End-to-End Semantic Retrieval with </a:t>
            </a:r>
            <a:r>
              <a:rPr lang="en-US" altLang="ja-JP" b="1" dirty="0" err="1"/>
              <a:t>BiLSTM</a:t>
            </a:r>
            <a:endParaRPr lang="en-US" altLang="ja-JP" dirty="0"/>
          </a:p>
          <a:p>
            <a:r>
              <a:rPr lang="en-US" altLang="ja-JP" dirty="0"/>
              <a:t>You have now completed the full cycle:</a:t>
            </a:r>
            <a:br>
              <a:rPr lang="en-US" altLang="ja-JP" dirty="0"/>
            </a:br>
            <a:r>
              <a:rPr lang="en-US" altLang="ja-JP" b="1" dirty="0"/>
              <a:t>Data → Encoder → Training → Evaluation → Search</a:t>
            </a:r>
            <a:r>
              <a:rPr lang="en-US" altLang="ja-JP" dirty="0"/>
              <a:t>.</a:t>
            </a:r>
          </a:p>
          <a:p>
            <a:r>
              <a:rPr lang="en-US" altLang="ja-JP" dirty="0"/>
              <a:t>The </a:t>
            </a:r>
            <a:r>
              <a:rPr lang="en-US" altLang="ja-JP" dirty="0" err="1"/>
              <a:t>BiLSTM</a:t>
            </a:r>
            <a:r>
              <a:rPr lang="en-US" altLang="ja-JP" dirty="0"/>
              <a:t> encoder learned to map sentences into a </a:t>
            </a:r>
            <a:r>
              <a:rPr lang="en-US" altLang="ja-JP" b="1" dirty="0"/>
              <a:t>semantic vector space</a:t>
            </a:r>
            <a:r>
              <a:rPr lang="en-US" altLang="ja-JP" dirty="0"/>
              <a:t>.</a:t>
            </a:r>
          </a:p>
          <a:p>
            <a:r>
              <a:rPr lang="en-US" altLang="ja-JP" dirty="0"/>
              <a:t>Training with contrastive loss produced structured embeddings:</a:t>
            </a:r>
          </a:p>
          <a:p>
            <a:r>
              <a:rPr lang="en-US" altLang="ja-JP" dirty="0"/>
              <a:t>“God is love” ↔ “He that loveth not </a:t>
            </a:r>
            <a:r>
              <a:rPr lang="en-US" altLang="ja-JP" dirty="0" err="1"/>
              <a:t>knoweth</a:t>
            </a:r>
            <a:r>
              <a:rPr lang="en-US" altLang="ja-JP" dirty="0"/>
              <a:t> not God.”</a:t>
            </a:r>
          </a:p>
          <a:p>
            <a:r>
              <a:rPr lang="en-US" altLang="ja-JP" dirty="0"/>
              <a:t>Evaluation verified both quantitative (</a:t>
            </a:r>
            <a:r>
              <a:rPr lang="en-US" altLang="ja-JP" dirty="0" err="1"/>
              <a:t>mAP</a:t>
            </a:r>
            <a:r>
              <a:rPr lang="en-US" altLang="ja-JP" dirty="0"/>
              <a:t>, Precision/Recall) and qualitative (clustering) success.</a:t>
            </a:r>
          </a:p>
          <a:p>
            <a:r>
              <a:rPr lang="en-US" altLang="ja-JP" dirty="0"/>
              <a:t>The saved checkpoint bilstm_encoder.pt is deployable for real-time Bible search.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729295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A18CE3-2DCB-96C9-FEAA-F25CF26B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Bridge to Lecture 7 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0D7E94-DA66-4684-B024-A5DE12C2F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ja-JP" b="1" dirty="0"/>
              <a:t>From Sequential to Contextual Modeling</a:t>
            </a:r>
            <a:endParaRPr lang="en-US" altLang="ja-JP" dirty="0"/>
          </a:p>
          <a:p>
            <a:r>
              <a:rPr lang="en-US" altLang="ja-JP" b="1" dirty="0"/>
              <a:t>Next step:</a:t>
            </a:r>
            <a:r>
              <a:rPr lang="en-US" altLang="ja-JP" dirty="0"/>
              <a:t> move from </a:t>
            </a:r>
            <a:r>
              <a:rPr lang="en-US" altLang="ja-JP" dirty="0" err="1"/>
              <a:t>BiLSTM’s</a:t>
            </a:r>
            <a:r>
              <a:rPr lang="en-US" altLang="ja-JP" dirty="0"/>
              <a:t> fixed memory to </a:t>
            </a:r>
            <a:r>
              <a:rPr lang="en-US" altLang="ja-JP" b="1" dirty="0"/>
              <a:t>Transformer-based contextual embeddings</a:t>
            </a:r>
            <a:r>
              <a:rPr lang="en-US" altLang="ja-JP" dirty="0"/>
              <a:t>.</a:t>
            </a:r>
          </a:p>
          <a:p>
            <a:r>
              <a:rPr lang="en-US" altLang="ja-JP" dirty="0"/>
              <a:t>Transformers use </a:t>
            </a:r>
            <a:r>
              <a:rPr lang="en-US" altLang="ja-JP" b="1" dirty="0"/>
              <a:t>self-attention</a:t>
            </a:r>
            <a:r>
              <a:rPr lang="en-US" altLang="ja-JP" dirty="0"/>
              <a:t> to dynamically weigh relationships between all tokens.</a:t>
            </a:r>
          </a:p>
          <a:p>
            <a:r>
              <a:rPr lang="en-US" altLang="ja-JP" dirty="0"/>
              <a:t>Replace recurrence with </a:t>
            </a:r>
            <a:r>
              <a:rPr lang="en-US" altLang="ja-JP" i="1" dirty="0"/>
              <a:t>parallel attention</a:t>
            </a:r>
            <a:r>
              <a:rPr lang="en-US" altLang="ja-JP" dirty="0"/>
              <a:t>, improving speed and global context capture.</a:t>
            </a:r>
          </a:p>
          <a:p>
            <a:r>
              <a:rPr lang="en-US" altLang="ja-JP" dirty="0"/>
              <a:t>Enables bidirectional understanding within a single model (e.g., BERT).</a:t>
            </a:r>
          </a:p>
          <a:p>
            <a:r>
              <a:rPr lang="en-US" altLang="ja-JP" dirty="0"/>
              <a:t>We’ll explore:</a:t>
            </a:r>
          </a:p>
          <a:p>
            <a:pPr lvl="1"/>
            <a:r>
              <a:rPr lang="en-US" altLang="ja-JP" dirty="0"/>
              <a:t>Self-Attention Mechanism (Q, K, V).</a:t>
            </a:r>
          </a:p>
          <a:p>
            <a:pPr lvl="1"/>
            <a:r>
              <a:rPr lang="en-US" altLang="ja-JP" dirty="0"/>
              <a:t>Multi-Head Attention and Residual Connections.</a:t>
            </a:r>
          </a:p>
          <a:p>
            <a:pPr lvl="1"/>
            <a:r>
              <a:rPr lang="en-US" altLang="ja-JP" dirty="0"/>
              <a:t>Fine-tuning for semantic tasks (search &amp; </a:t>
            </a:r>
            <a:r>
              <a:rPr lang="en-US" altLang="ja-JP" dirty="0" err="1"/>
              <a:t>QnA</a:t>
            </a:r>
            <a:r>
              <a:rPr lang="en-US" altLang="ja-JP" dirty="0"/>
              <a:t>).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01983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4530</Words>
  <Application>Microsoft Office PowerPoint</Application>
  <PresentationFormat>ワイド画面</PresentationFormat>
  <Paragraphs>597</Paragraphs>
  <Slides>39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39</vt:i4>
      </vt:variant>
    </vt:vector>
  </HeadingPairs>
  <TitlesOfParts>
    <vt:vector size="46" baseType="lpstr">
      <vt:lpstr>游ゴシック</vt:lpstr>
      <vt:lpstr>游ゴシック Light</vt:lpstr>
      <vt:lpstr>Arial</vt:lpstr>
      <vt:lpstr>Cambria Math</vt:lpstr>
      <vt:lpstr>Consolas</vt:lpstr>
      <vt:lpstr>Courier New</vt:lpstr>
      <vt:lpstr>Office テーマ</vt:lpstr>
      <vt:lpstr>Lecture 6/Exercise 2 Semantic Bible Search with BiLSTM Workthrough</vt:lpstr>
      <vt:lpstr>Agenda</vt:lpstr>
      <vt:lpstr>Semantic Bible Search with BiLSTM</vt:lpstr>
      <vt:lpstr>Goal and Motivation</vt:lpstr>
      <vt:lpstr>Training vs Inference Pipeline</vt:lpstr>
      <vt:lpstr>Dataset Structure and Purpose</vt:lpstr>
      <vt:lpstr>Text Normalization and Tokenization</vt:lpstr>
      <vt:lpstr>Mapping to IDs and Padding</vt:lpstr>
      <vt:lpstr>DataLoader and Batching</vt:lpstr>
      <vt:lpstr>Input/Output Summary for Training</vt:lpstr>
      <vt:lpstr>Overall BiLSTM Encoder Structure</vt:lpstr>
      <vt:lpstr>Embedding Layer</vt:lpstr>
      <vt:lpstr>Bidirectional LSTM Layer</vt:lpstr>
      <vt:lpstr>Pooling Strategy (Mean Pooling)</vt:lpstr>
      <vt:lpstr>Projection and Normalization</vt:lpstr>
      <vt:lpstr>Model Output and Interpretation</vt:lpstr>
      <vt:lpstr>Training Objective: Contrastive Learning</vt:lpstr>
      <vt:lpstr>Loss Function Details</vt:lpstr>
      <vt:lpstr>Optimizer and Schedular</vt:lpstr>
      <vt:lpstr>Training Loop Structure</vt:lpstr>
      <vt:lpstr>Monitoring and Logging</vt:lpstr>
      <vt:lpstr>Evaluation Metrics</vt:lpstr>
      <vt:lpstr>Early Stopping and Checkpointing</vt:lpstr>
      <vt:lpstr>Training Results Summary</vt:lpstr>
      <vt:lpstr>Visualizing Embedding Space</vt:lpstr>
      <vt:lpstr>Cosine Similarity in Evaluation</vt:lpstr>
      <vt:lpstr>Retrieval Performance Metrics</vt:lpstr>
      <vt:lpstr>Embedding Space Trends</vt:lpstr>
      <vt:lpstr>Summary of Evaluation Stage</vt:lpstr>
      <vt:lpstr>Bible Semantic Search Workflow</vt:lpstr>
      <vt:lpstr>Input and Output Structure</vt:lpstr>
      <vt:lpstr>Precomputing Corpus Embeddings</vt:lpstr>
      <vt:lpstr>Computing Similarity and Ranking</vt:lpstr>
      <vt:lpstr>Comparison Similarity Ranking</vt:lpstr>
      <vt:lpstr>Interpreting Search Results</vt:lpstr>
      <vt:lpstr>What Can Be Modified</vt:lpstr>
      <vt:lpstr>Customizing Input / Output Behavior</vt:lpstr>
      <vt:lpstr>Key Takeaways from Lecture 6</vt:lpstr>
      <vt:lpstr>Bridge to Lecture 7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矢口勇一</dc:creator>
  <cp:lastModifiedBy>矢口勇一</cp:lastModifiedBy>
  <cp:revision>1</cp:revision>
  <dcterms:created xsi:type="dcterms:W3CDTF">2025-10-21T11:59:23Z</dcterms:created>
  <dcterms:modified xsi:type="dcterms:W3CDTF">2025-10-26T09:26:46Z</dcterms:modified>
</cp:coreProperties>
</file>