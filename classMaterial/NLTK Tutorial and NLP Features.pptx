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95" r:id="rId20"/>
    <p:sldId id="296" r:id="rId21"/>
    <p:sldId id="297" r:id="rId22"/>
    <p:sldId id="298" r:id="rId23"/>
    <p:sldId id="299" r:id="rId24"/>
    <p:sldId id="300" r:id="rId25"/>
    <p:sldId id="301" r:id="rId26"/>
    <p:sldId id="275" r:id="rId27"/>
    <p:sldId id="274" r:id="rId28"/>
    <p:sldId id="302" r:id="rId29"/>
    <p:sldId id="538" r:id="rId30"/>
    <p:sldId id="485" r:id="rId31"/>
    <p:sldId id="486" r:id="rId32"/>
    <p:sldId id="488" r:id="rId33"/>
    <p:sldId id="489" r:id="rId34"/>
    <p:sldId id="490" r:id="rId35"/>
    <p:sldId id="491" r:id="rId36"/>
    <p:sldId id="492" r:id="rId37"/>
    <p:sldId id="493" r:id="rId38"/>
    <p:sldId id="549" r:id="rId39"/>
    <p:sldId id="345" r:id="rId40"/>
    <p:sldId id="346" r:id="rId41"/>
    <p:sldId id="347" r:id="rId42"/>
    <p:sldId id="348" r:id="rId43"/>
    <p:sldId id="349" r:id="rId44"/>
    <p:sldId id="551" r:id="rId45"/>
    <p:sldId id="552" r:id="rId46"/>
    <p:sldId id="350" r:id="rId47"/>
    <p:sldId id="532" r:id="rId48"/>
    <p:sldId id="351" r:id="rId49"/>
    <p:sldId id="539" r:id="rId50"/>
    <p:sldId id="540" r:id="rId51"/>
    <p:sldId id="541" r:id="rId52"/>
    <p:sldId id="542" r:id="rId53"/>
    <p:sldId id="543" r:id="rId54"/>
    <p:sldId id="544" r:id="rId55"/>
    <p:sldId id="545" r:id="rId56"/>
    <p:sldId id="546" r:id="rId57"/>
    <p:sldId id="547" r:id="rId58"/>
    <p:sldId id="425" r:id="rId59"/>
    <p:sldId id="426" r:id="rId60"/>
    <p:sldId id="427" r:id="rId61"/>
    <p:sldId id="428" r:id="rId62"/>
    <p:sldId id="430" r:id="rId63"/>
    <p:sldId id="431" r:id="rId64"/>
    <p:sldId id="432" r:id="rId65"/>
    <p:sldId id="433" r:id="rId66"/>
    <p:sldId id="434" r:id="rId67"/>
    <p:sldId id="435" r:id="rId68"/>
    <p:sldId id="436" r:id="rId69"/>
    <p:sldId id="437" r:id="rId70"/>
    <p:sldId id="438" r:id="rId71"/>
    <p:sldId id="439" r:id="rId72"/>
    <p:sldId id="440" r:id="rId73"/>
    <p:sldId id="441" r:id="rId74"/>
    <p:sldId id="442" r:id="rId75"/>
    <p:sldId id="443" r:id="rId76"/>
    <p:sldId id="444" r:id="rId77"/>
    <p:sldId id="445" r:id="rId78"/>
    <p:sldId id="550" r:id="rId7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varScale="1">
        <p:scale>
          <a:sx n="118" d="100"/>
          <a:sy n="118" d="100"/>
        </p:scale>
        <p:origin x="144"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F4790-9060-47B8-8FBA-8BE955AE1684}" type="datetimeFigureOut">
              <a:rPr kumimoji="1" lang="ja-JP" altLang="en-US" smtClean="0"/>
              <a:t>2024/10/6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00EB63-08A3-43D3-A69B-74742BCFD176}" type="slidenum">
              <a:rPr kumimoji="1" lang="ja-JP" altLang="en-US" smtClean="0"/>
              <a:t>‹#›</a:t>
            </a:fld>
            <a:endParaRPr kumimoji="1" lang="ja-JP" altLang="en-US"/>
          </a:p>
        </p:txBody>
      </p:sp>
    </p:spTree>
    <p:extLst>
      <p:ext uri="{BB962C8B-B14F-4D97-AF65-F5344CB8AC3E}">
        <p14:creationId xmlns:p14="http://schemas.microsoft.com/office/powerpoint/2010/main" val="43965601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&gt;&gt;&gt; text = "</a:t>
            </a:r>
            <a:r>
              <a:rPr kumimoji="1" lang="ja-JP" altLang="en-US" dirty="0"/>
              <a:t>土曜日に行われた</a:t>
            </a:r>
            <a:r>
              <a:rPr kumimoji="1" lang="en-US" altLang="ja-JP" dirty="0"/>
              <a:t>7</a:t>
            </a:r>
            <a:r>
              <a:rPr kumimoji="1" lang="ja-JP" altLang="en-US" dirty="0"/>
              <a:t>度の</a:t>
            </a:r>
            <a:r>
              <a:rPr kumimoji="1" lang="en-US" altLang="ja-JP" dirty="0"/>
              <a:t>F1</a:t>
            </a:r>
            <a:r>
              <a:rPr kumimoji="1" lang="ja-JP" altLang="en-US" dirty="0"/>
              <a:t>チャンピオンのマイケル・シューマッハは、上海サーキットで初の中国</a:t>
            </a:r>
            <a:r>
              <a:rPr kumimoji="1" lang="en-US" altLang="ja-JP" dirty="0"/>
              <a:t>GP</a:t>
            </a:r>
            <a:r>
              <a:rPr kumimoji="1" lang="ja-JP" altLang="en-US" dirty="0"/>
              <a:t>の予選に出場しました。</a:t>
            </a:r>
          </a:p>
          <a:p>
            <a:r>
              <a:rPr kumimoji="1" lang="en-US" altLang="ja-JP" dirty="0"/>
              <a:t>&gt;&gt;&gt;</a:t>
            </a:r>
            <a:r>
              <a:rPr kumimoji="1" lang="ja-JP" altLang="en-US" dirty="0"/>
              <a:t>ラベル</a:t>
            </a:r>
            <a:r>
              <a:rPr kumimoji="1" lang="en-US" altLang="ja-JP" dirty="0"/>
              <a:t>=“</a:t>
            </a:r>
            <a:r>
              <a:rPr kumimoji="1" lang="ja-JP" altLang="en-US" dirty="0"/>
              <a:t>スポーツ”</a:t>
            </a:r>
          </a:p>
          <a:p>
            <a:r>
              <a:rPr kumimoji="1" lang="en-US" altLang="ja-JP" dirty="0"/>
              <a:t>&gt;&gt;&gt; </a:t>
            </a:r>
            <a:r>
              <a:rPr kumimoji="1" lang="en-US" altLang="ja-JP" dirty="0" err="1"/>
              <a:t>label_text</a:t>
            </a:r>
            <a:r>
              <a:rPr kumimoji="1" lang="en-US" altLang="ja-JP" dirty="0"/>
              <a:t> = </a:t>
            </a:r>
            <a:r>
              <a:rPr kumimoji="1" lang="en-US" altLang="ja-JP" dirty="0" err="1"/>
              <a:t>LabeledText</a:t>
            </a:r>
            <a:r>
              <a:rPr kumimoji="1" lang="ja-JP" altLang="en-US" dirty="0"/>
              <a:t>（</a:t>
            </a:r>
            <a:r>
              <a:rPr kumimoji="1" lang="en-US" altLang="ja-JP" dirty="0"/>
              <a:t>text</a:t>
            </a:r>
            <a:r>
              <a:rPr kumimoji="1" lang="ja-JP" altLang="en-US" dirty="0" err="1"/>
              <a:t>、</a:t>
            </a:r>
            <a:r>
              <a:rPr kumimoji="1" lang="en-US" altLang="ja-JP" dirty="0"/>
              <a:t>label</a:t>
            </a:r>
            <a:r>
              <a:rPr kumimoji="1" lang="ja-JP" altLang="en-US" dirty="0"/>
              <a:t>）</a:t>
            </a:r>
            <a:endParaRPr kumimoji="1" lang="en-US" altLang="ja-JP" dirty="0"/>
          </a:p>
          <a:p>
            <a:endParaRPr kumimoji="1" lang="en-US" altLang="ja-JP" dirty="0"/>
          </a:p>
          <a:p>
            <a:r>
              <a:rPr kumimoji="1" lang="ja-JP" altLang="en-US" dirty="0"/>
              <a:t>ここで分類は入力として文字列全体を取ります</a:t>
            </a:r>
          </a:p>
          <a:p>
            <a:r>
              <a:rPr kumimoji="1" lang="ja-JP" altLang="en-US" dirty="0"/>
              <a:t>それに関する問題は何ですか？</a:t>
            </a:r>
          </a:p>
          <a:p>
            <a:r>
              <a:rPr kumimoji="1" lang="ja-JP" altLang="en-US" dirty="0"/>
              <a:t>この例に役立つ可能性がある機能は何ですか？</a:t>
            </a:r>
          </a:p>
        </p:txBody>
      </p:sp>
      <p:sp>
        <p:nvSpPr>
          <p:cNvPr id="4" name="スライド番号プレースホルダー 3"/>
          <p:cNvSpPr>
            <a:spLocks noGrp="1"/>
          </p:cNvSpPr>
          <p:nvPr>
            <p:ph type="sldNum" sz="quarter" idx="10"/>
          </p:nvPr>
        </p:nvSpPr>
        <p:spPr/>
        <p:txBody>
          <a:bodyPr/>
          <a:lstStyle/>
          <a:p>
            <a:fld id="{9890839B-C4B9-4529-8B21-D52E76DE2ED1}" type="slidenum">
              <a:rPr kumimoji="1" lang="ja-JP" altLang="en-US" smtClean="0"/>
              <a:t>19</a:t>
            </a:fld>
            <a:endParaRPr kumimoji="1" lang="ja-JP" altLang="en-US"/>
          </a:p>
        </p:txBody>
      </p:sp>
    </p:spTree>
    <p:extLst>
      <p:ext uri="{BB962C8B-B14F-4D97-AF65-F5344CB8AC3E}">
        <p14:creationId xmlns:p14="http://schemas.microsoft.com/office/powerpoint/2010/main" val="1150944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3C45CA-2855-4404-AD11-53ABBF2AD012}" type="slidenum">
              <a:rPr lang="en-US" altLang="ja-JP"/>
              <a:pPr/>
              <a:t>20</a:t>
            </a:fld>
            <a:endParaRPr lang="en-US" altLang="ja-JP"/>
          </a:p>
        </p:txBody>
      </p:sp>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a:xfrm>
            <a:off x="914400" y="4424363"/>
            <a:ext cx="5029200" cy="4191000"/>
          </a:xfrm>
        </p:spPr>
        <p:txBody>
          <a:bodyPr/>
          <a:lstStyle/>
          <a:p>
            <a:r>
              <a:rPr lang="ja-JP" altLang="en-US" dirty="0"/>
              <a:t>機能：タスクに関連するテキストの側面</a:t>
            </a:r>
          </a:p>
          <a:p>
            <a:r>
              <a:rPr lang="ja-JP" altLang="en-US" dirty="0"/>
              <a:t>機能値：テキスト内の機能の実現</a:t>
            </a:r>
          </a:p>
          <a:p>
            <a:r>
              <a:rPr lang="ja-JP" altLang="en-US" dirty="0"/>
              <a:t>いくつかの典型的な機能</a:t>
            </a:r>
          </a:p>
          <a:p>
            <a:r>
              <a:rPr lang="ja-JP" altLang="en-US" dirty="0"/>
              <a:t>本文中の単語：ケリー、シューマッハ、中国</a:t>
            </a:r>
            <a:r>
              <a:rPr lang="en-US" altLang="ja-JP" dirty="0"/>
              <a:t>…</a:t>
            </a:r>
          </a:p>
          <a:p>
            <a:r>
              <a:rPr lang="ja-JP" altLang="en-US" dirty="0"/>
              <a:t>単語の頻度：ケリー（</a:t>
            </a:r>
            <a:r>
              <a:rPr lang="en-US" altLang="ja-JP" dirty="0"/>
              <a:t>10</a:t>
            </a:r>
            <a:r>
              <a:rPr lang="ja-JP" altLang="en-US" dirty="0"/>
              <a:t>）、シューマッハ（</a:t>
            </a:r>
            <a:r>
              <a:rPr lang="en-US" altLang="ja-JP" dirty="0"/>
              <a:t>1</a:t>
            </a:r>
            <a:r>
              <a:rPr lang="ja-JP" altLang="en-US" dirty="0"/>
              <a:t>）</a:t>
            </a:r>
            <a:r>
              <a:rPr lang="en-US" altLang="ja-JP" dirty="0"/>
              <a:t>…</a:t>
            </a:r>
          </a:p>
          <a:p>
            <a:r>
              <a:rPr lang="ja-JP" altLang="en-US" dirty="0"/>
              <a:t>日付はありますか？ はい・いいえ</a:t>
            </a:r>
          </a:p>
          <a:p>
            <a:r>
              <a:rPr lang="ja-JP" altLang="en-US" dirty="0"/>
              <a:t>大文字（単語は大文字か？）</a:t>
            </a:r>
          </a:p>
          <a:p>
            <a:r>
              <a:rPr lang="ja-JP" altLang="en-US" dirty="0"/>
              <a:t>人はいますか？ はい・いいえ</a:t>
            </a:r>
          </a:p>
          <a:p>
            <a:r>
              <a:rPr lang="ja-JP" altLang="en-US" dirty="0"/>
              <a:t>組織はありますか？ はい・いいえ</a:t>
            </a:r>
          </a:p>
          <a:p>
            <a:r>
              <a:rPr lang="en-US" altLang="ja-JP" dirty="0"/>
              <a:t>WordNet</a:t>
            </a:r>
            <a:r>
              <a:rPr lang="ja-JP" altLang="en-US" dirty="0"/>
              <a:t>：</a:t>
            </a:r>
            <a:r>
              <a:rPr lang="en-US" altLang="ja-JP" dirty="0" err="1"/>
              <a:t>Holonyms</a:t>
            </a:r>
            <a:r>
              <a:rPr lang="ja-JP" altLang="en-US" dirty="0"/>
              <a:t>（中国はアジアの一部）、同意語（中国、中華人民共和国、中国本土）</a:t>
            </a:r>
          </a:p>
          <a:p>
            <a:r>
              <a:rPr lang="ja-JP" altLang="en-US" dirty="0"/>
              <a:t>チャンク、解析木、</a:t>
            </a:r>
            <a:r>
              <a:rPr lang="en-US" altLang="ja-JP" dirty="0"/>
              <a:t>POS</a:t>
            </a:r>
            <a:endParaRPr lang="ja-JP" altLang="ja-JP" dirty="0"/>
          </a:p>
        </p:txBody>
      </p:sp>
    </p:spTree>
    <p:extLst>
      <p:ext uri="{BB962C8B-B14F-4D97-AF65-F5344CB8AC3E}">
        <p14:creationId xmlns:p14="http://schemas.microsoft.com/office/powerpoint/2010/main" val="3288431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A1D6C4-8C7F-4484-AEE4-FB131CC60D84}" type="slidenum">
              <a:rPr lang="en-US" altLang="ja-JP"/>
              <a:pPr/>
              <a:t>21</a:t>
            </a:fld>
            <a:endParaRPr lang="en-US" altLang="ja-JP"/>
          </a:p>
        </p:txBody>
      </p:sp>
      <p:sp>
        <p:nvSpPr>
          <p:cNvPr id="123906" name="Rectangle 2"/>
          <p:cNvSpPr>
            <a:spLocks noGrp="1" noRot="1" noChangeAspect="1" noChangeArrowheads="1" noTextEdit="1"/>
          </p:cNvSpPr>
          <p:nvPr>
            <p:ph type="sldImg"/>
          </p:nvPr>
        </p:nvSpPr>
        <p:spPr>
          <a:ln/>
        </p:spPr>
      </p:sp>
      <p:sp>
        <p:nvSpPr>
          <p:cNvPr id="123907" name="Rectangle 3"/>
          <p:cNvSpPr>
            <a:spLocks noGrp="1" noChangeArrowheads="1"/>
          </p:cNvSpPr>
          <p:nvPr>
            <p:ph type="body" idx="1"/>
          </p:nvPr>
        </p:nvSpPr>
        <p:spPr>
          <a:xfrm>
            <a:off x="914400" y="4424363"/>
            <a:ext cx="5029200" cy="4191000"/>
          </a:xfrm>
        </p:spPr>
        <p:txBody>
          <a:bodyPr/>
          <a:lstStyle/>
          <a:p>
            <a:r>
              <a:rPr lang="ja-JP" altLang="en-US" dirty="0"/>
              <a:t>ブール（またはバイナリ）機能</a:t>
            </a:r>
          </a:p>
          <a:p>
            <a:r>
              <a:rPr lang="ja-JP" altLang="en-US" dirty="0"/>
              <a:t>ブール（バイナリ）値を生成する機能。</a:t>
            </a:r>
          </a:p>
          <a:p>
            <a:r>
              <a:rPr lang="ja-JP" altLang="en-US" dirty="0"/>
              <a:t>ブール機能は、最も単純で最も一般的な機能です。</a:t>
            </a:r>
          </a:p>
          <a:p>
            <a:endParaRPr lang="ja-JP" altLang="en-US" dirty="0"/>
          </a:p>
          <a:p>
            <a:r>
              <a:rPr lang="ja-JP" altLang="en-US" dirty="0"/>
              <a:t>テキストに「</a:t>
            </a:r>
            <a:r>
              <a:rPr lang="en-US" altLang="ja-JP" dirty="0"/>
              <a:t>Kerry</a:t>
            </a:r>
            <a:r>
              <a:rPr lang="ja-JP" altLang="en-US" dirty="0"/>
              <a:t>」が含まれている場合、</a:t>
            </a:r>
            <a:r>
              <a:rPr lang="en-US" altLang="ja-JP" dirty="0"/>
              <a:t>f1</a:t>
            </a:r>
            <a:r>
              <a:rPr lang="ja-JP" altLang="en-US" dirty="0"/>
              <a:t>（</a:t>
            </a:r>
            <a:r>
              <a:rPr lang="en-US" altLang="ja-JP" dirty="0"/>
              <a:t>text</a:t>
            </a:r>
            <a:r>
              <a:rPr lang="ja-JP" altLang="en-US" dirty="0"/>
              <a:t>）</a:t>
            </a:r>
            <a:r>
              <a:rPr lang="en-US" altLang="ja-JP" dirty="0"/>
              <a:t>= 1</a:t>
            </a:r>
          </a:p>
          <a:p>
            <a:r>
              <a:rPr lang="en-US" altLang="ja-JP" dirty="0"/>
              <a:t>              </a:t>
            </a:r>
            <a:r>
              <a:rPr lang="ja-JP" altLang="en-US" dirty="0"/>
              <a:t>それ以外の場合は</a:t>
            </a:r>
            <a:r>
              <a:rPr lang="en-US" altLang="ja-JP" dirty="0"/>
              <a:t>0</a:t>
            </a:r>
          </a:p>
          <a:p>
            <a:r>
              <a:rPr lang="ja-JP" altLang="en-US" dirty="0"/>
              <a:t>テキストに</a:t>
            </a:r>
            <a:r>
              <a:rPr lang="en-US" altLang="ja-JP" dirty="0"/>
              <a:t>PERSON</a:t>
            </a:r>
            <a:r>
              <a:rPr lang="ja-JP" altLang="en-US" dirty="0"/>
              <a:t>が含まれている場合、</a:t>
            </a:r>
            <a:r>
              <a:rPr lang="en-US" altLang="ja-JP" dirty="0"/>
              <a:t>f2</a:t>
            </a:r>
            <a:r>
              <a:rPr lang="ja-JP" altLang="en-US" dirty="0"/>
              <a:t>（</a:t>
            </a:r>
            <a:r>
              <a:rPr lang="en-US" altLang="ja-JP" dirty="0"/>
              <a:t>text</a:t>
            </a:r>
            <a:r>
              <a:rPr lang="ja-JP" altLang="en-US" dirty="0"/>
              <a:t>）</a:t>
            </a:r>
            <a:r>
              <a:rPr lang="en-US" altLang="ja-JP" dirty="0"/>
              <a:t>= 1</a:t>
            </a:r>
          </a:p>
          <a:p>
            <a:r>
              <a:rPr lang="en-US" altLang="ja-JP" dirty="0"/>
              <a:t>              </a:t>
            </a:r>
            <a:r>
              <a:rPr lang="ja-JP" altLang="en-US" dirty="0"/>
              <a:t>それ以外の場合は</a:t>
            </a:r>
            <a:r>
              <a:rPr lang="en-US" altLang="ja-JP" dirty="0"/>
              <a:t>0</a:t>
            </a:r>
            <a:endParaRPr lang="ja-JP" altLang="ja-JP" dirty="0"/>
          </a:p>
        </p:txBody>
      </p:sp>
    </p:spTree>
    <p:extLst>
      <p:ext uri="{BB962C8B-B14F-4D97-AF65-F5344CB8AC3E}">
        <p14:creationId xmlns:p14="http://schemas.microsoft.com/office/powerpoint/2010/main" val="1370679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DBC8BA-735B-490A-AFAC-CD5F010153E5}" type="slidenum">
              <a:rPr lang="en-US" altLang="ja-JP"/>
              <a:pPr/>
              <a:t>22</a:t>
            </a:fld>
            <a:endParaRPr lang="en-US" altLang="ja-JP"/>
          </a:p>
        </p:txBody>
      </p:sp>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a:xfrm>
            <a:off x="914400" y="4424363"/>
            <a:ext cx="5029200" cy="4191000"/>
          </a:xfrm>
        </p:spPr>
        <p:txBody>
          <a:bodyPr/>
          <a:lstStyle/>
          <a:p>
            <a:r>
              <a:rPr lang="ja-JP" altLang="en-US" dirty="0"/>
              <a:t>整数機能</a:t>
            </a:r>
          </a:p>
          <a:p>
            <a:r>
              <a:rPr lang="ja-JP" altLang="en-US" dirty="0"/>
              <a:t>整数値を生成する機能</a:t>
            </a:r>
          </a:p>
          <a:p>
            <a:r>
              <a:rPr lang="ja-JP" altLang="en-US" dirty="0"/>
              <a:t>整数機能を使用すると、分類子にテキストに関するより正確な情報へのアクセス権を与えることができます。</a:t>
            </a:r>
          </a:p>
          <a:p>
            <a:endParaRPr lang="ja-JP" altLang="en-US" dirty="0"/>
          </a:p>
          <a:p>
            <a:r>
              <a:rPr lang="en-US" altLang="ja-JP" dirty="0"/>
              <a:t>f1</a:t>
            </a:r>
            <a:r>
              <a:rPr lang="ja-JP" altLang="en-US" dirty="0"/>
              <a:t>（</a:t>
            </a:r>
            <a:r>
              <a:rPr lang="en-US" altLang="ja-JP" dirty="0"/>
              <a:t>text</a:t>
            </a:r>
            <a:r>
              <a:rPr lang="ja-JP" altLang="en-US" dirty="0"/>
              <a:t>）</a:t>
            </a:r>
            <a:r>
              <a:rPr lang="en-US" altLang="ja-JP" dirty="0"/>
              <a:t>=</a:t>
            </a:r>
            <a:r>
              <a:rPr lang="ja-JP" altLang="en-US" dirty="0"/>
              <a:t>テキストに「</a:t>
            </a:r>
            <a:r>
              <a:rPr lang="en-US" altLang="ja-JP" dirty="0"/>
              <a:t>Kerry</a:t>
            </a:r>
            <a:r>
              <a:rPr lang="ja-JP" altLang="en-US" dirty="0"/>
              <a:t>」が含まれている回数</a:t>
            </a:r>
          </a:p>
          <a:p>
            <a:r>
              <a:rPr lang="en-US" altLang="ja-JP" dirty="0"/>
              <a:t>f2</a:t>
            </a:r>
            <a:r>
              <a:rPr lang="ja-JP" altLang="en-US" dirty="0"/>
              <a:t>（</a:t>
            </a:r>
            <a:r>
              <a:rPr lang="en-US" altLang="ja-JP" dirty="0"/>
              <a:t>text</a:t>
            </a:r>
            <a:r>
              <a:rPr lang="ja-JP" altLang="en-US" dirty="0"/>
              <a:t>）</a:t>
            </a:r>
            <a:r>
              <a:rPr lang="en-US" altLang="ja-JP" dirty="0"/>
              <a:t>=</a:t>
            </a:r>
            <a:r>
              <a:rPr lang="ja-JP" altLang="en-US" dirty="0"/>
              <a:t>テキストに</a:t>
            </a:r>
            <a:r>
              <a:rPr lang="en-US" altLang="ja-JP" dirty="0"/>
              <a:t>PERSON</a:t>
            </a:r>
            <a:r>
              <a:rPr lang="ja-JP" altLang="en-US" dirty="0"/>
              <a:t>が含まれている回数</a:t>
            </a:r>
            <a:endParaRPr lang="ja-JP" altLang="ja-JP" dirty="0"/>
          </a:p>
        </p:txBody>
      </p:sp>
    </p:spTree>
    <p:extLst>
      <p:ext uri="{BB962C8B-B14F-4D97-AF65-F5344CB8AC3E}">
        <p14:creationId xmlns:p14="http://schemas.microsoft.com/office/powerpoint/2010/main" val="2806551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関連する特徴を選択し、それらを学習方法のためにどのように符号化するかを決定することは、良いモデルを抽出する学習方法の能力に多大な影響を及ぼし得る。</a:t>
            </a:r>
          </a:p>
          <a:p>
            <a:r>
              <a:rPr kumimoji="1" lang="ja-JP" altLang="en-US" dirty="0"/>
              <a:t>どのようにして「正しい」機能を選択しますか？</a:t>
            </a:r>
          </a:p>
          <a:p>
            <a:r>
              <a:rPr kumimoji="1" lang="ja-JP" altLang="en-US" dirty="0"/>
              <a:t>通常、特徴抽出プログラムは、どの情報が問題に関連しているかについての直感によって導かれる試行錯誤のプロセスを通じて構築されます。</a:t>
            </a:r>
          </a:p>
          <a:p>
            <a:r>
              <a:rPr kumimoji="1" lang="ja-JP" altLang="en-US" dirty="0"/>
              <a:t>しかし、より「原則的」な機能選択の方法もあります。</a:t>
            </a:r>
          </a:p>
        </p:txBody>
      </p:sp>
      <p:sp>
        <p:nvSpPr>
          <p:cNvPr id="4" name="スライド番号プレースホルダー 3"/>
          <p:cNvSpPr>
            <a:spLocks noGrp="1"/>
          </p:cNvSpPr>
          <p:nvPr>
            <p:ph type="sldNum" sz="quarter" idx="10"/>
          </p:nvPr>
        </p:nvSpPr>
        <p:spPr/>
        <p:txBody>
          <a:bodyPr/>
          <a:lstStyle/>
          <a:p>
            <a:fld id="{9890839B-C4B9-4529-8B21-D52E76DE2ED1}" type="slidenum">
              <a:rPr kumimoji="1" lang="ja-JP" altLang="en-US" smtClean="0"/>
              <a:t>23</a:t>
            </a:fld>
            <a:endParaRPr kumimoji="1" lang="ja-JP" altLang="en-US"/>
          </a:p>
        </p:txBody>
      </p:sp>
    </p:spTree>
    <p:extLst>
      <p:ext uri="{BB962C8B-B14F-4D97-AF65-F5344CB8AC3E}">
        <p14:creationId xmlns:p14="http://schemas.microsoft.com/office/powerpoint/2010/main" val="2287939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与えられた学習アルゴリズムで使用するべき機能の数には通常制限があります </a:t>
            </a:r>
            <a:r>
              <a:rPr kumimoji="1" lang="en-US" altLang="ja-JP" dirty="0"/>
              <a:t>– </a:t>
            </a:r>
          </a:p>
          <a:p>
            <a:r>
              <a:rPr kumimoji="1" lang="ja-JP" altLang="en-US" dirty="0"/>
              <a:t>もしあなたがあまりにも多くの機能を提供するならば、そのアルゴリズムはあなたのトレーニングデータの特異性に頼る可能性が高くなります。 例です。</a:t>
            </a:r>
          </a:p>
          <a:p>
            <a:r>
              <a:rPr kumimoji="1" lang="ja-JP" altLang="en-US" dirty="0"/>
              <a:t>この問題は過剰適合として知られており、小さなトレーニングセットを扱うときに特に問題になる可能性があります。</a:t>
            </a:r>
          </a:p>
        </p:txBody>
      </p:sp>
      <p:sp>
        <p:nvSpPr>
          <p:cNvPr id="4" name="スライド番号プレースホルダー 3"/>
          <p:cNvSpPr>
            <a:spLocks noGrp="1"/>
          </p:cNvSpPr>
          <p:nvPr>
            <p:ph type="sldNum" sz="quarter" idx="10"/>
          </p:nvPr>
        </p:nvSpPr>
        <p:spPr/>
        <p:txBody>
          <a:bodyPr/>
          <a:lstStyle/>
          <a:p>
            <a:fld id="{9890839B-C4B9-4529-8B21-D52E76DE2ED1}" type="slidenum">
              <a:rPr kumimoji="1" lang="ja-JP" altLang="en-US" smtClean="0"/>
              <a:t>24</a:t>
            </a:fld>
            <a:endParaRPr kumimoji="1" lang="ja-JP" altLang="en-US"/>
          </a:p>
        </p:txBody>
      </p:sp>
    </p:spTree>
    <p:extLst>
      <p:ext uri="{BB962C8B-B14F-4D97-AF65-F5344CB8AC3E}">
        <p14:creationId xmlns:p14="http://schemas.microsoft.com/office/powerpoint/2010/main" val="3771001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最初の機能セットを選択したら、その機能セットを改良するための非常に生産的な方法はエラー分析です。 まず、モデルを作成するためのコーパスデータを含む開発セットを選択します。 この開発セットは、トレーニングセットと開発テストセットに細分されます。</a:t>
            </a:r>
          </a:p>
          <a:p>
            <a:r>
              <a:rPr kumimoji="1" lang="ja-JP" altLang="en-US" dirty="0"/>
              <a:t>トレーニングセットはモデルをトレーニングするために使用され、開発テストセットはエラー分析を実行するために使用されます。</a:t>
            </a:r>
          </a:p>
          <a:p>
            <a:r>
              <a:rPr kumimoji="1" lang="ja-JP" altLang="en-US" dirty="0"/>
              <a:t>エラーを見たり、機能やモデルを変更する</a:t>
            </a:r>
          </a:p>
          <a:p>
            <a:r>
              <a:rPr kumimoji="1" lang="ja-JP" altLang="en-US" dirty="0"/>
              <a:t>テストセットは、システムの最終評価に役立ちます。</a:t>
            </a:r>
          </a:p>
        </p:txBody>
      </p:sp>
      <p:sp>
        <p:nvSpPr>
          <p:cNvPr id="4" name="スライド番号プレースホルダー 3"/>
          <p:cNvSpPr>
            <a:spLocks noGrp="1"/>
          </p:cNvSpPr>
          <p:nvPr>
            <p:ph type="sldNum" sz="quarter" idx="10"/>
          </p:nvPr>
        </p:nvSpPr>
        <p:spPr/>
        <p:txBody>
          <a:bodyPr/>
          <a:lstStyle/>
          <a:p>
            <a:fld id="{9890839B-C4B9-4529-8B21-D52E76DE2ED1}" type="slidenum">
              <a:rPr kumimoji="1" lang="ja-JP" altLang="en-US" smtClean="0"/>
              <a:t>25</a:t>
            </a:fld>
            <a:endParaRPr kumimoji="1" lang="ja-JP" altLang="en-US"/>
          </a:p>
        </p:txBody>
      </p:sp>
    </p:spTree>
    <p:extLst>
      <p:ext uri="{BB962C8B-B14F-4D97-AF65-F5344CB8AC3E}">
        <p14:creationId xmlns:p14="http://schemas.microsoft.com/office/powerpoint/2010/main" val="2934859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特定の問題に取り組むために</a:t>
            </a:r>
          </a:p>
          <a:p>
            <a:r>
              <a:rPr kumimoji="1" lang="ja-JP" altLang="en-US" dirty="0"/>
              <a:t>コーパスを選択する（または独自に構築する）</a:t>
            </a:r>
          </a:p>
          <a:p>
            <a:r>
              <a:rPr kumimoji="1" lang="ja-JP" altLang="en-US" dirty="0"/>
              <a:t>「本物の仕事」が始まる前にテキストに施された低レベルの処理</a:t>
            </a:r>
          </a:p>
          <a:p>
            <a:r>
              <a:rPr kumimoji="1" lang="ja-JP" altLang="en-US" dirty="0"/>
              <a:t>重要だがしばしば無視される</a:t>
            </a:r>
          </a:p>
          <a:p>
            <a:r>
              <a:rPr kumimoji="1" lang="ja-JP" altLang="en-US" dirty="0"/>
              <a:t>低レベルの書式設定の問題</a:t>
            </a:r>
          </a:p>
          <a:p>
            <a:r>
              <a:rPr kumimoji="1" lang="ja-JP" altLang="en-US" dirty="0"/>
              <a:t>ジャンクフォーマット</a:t>
            </a:r>
            <a:r>
              <a:rPr kumimoji="1" lang="en-US" altLang="ja-JP" dirty="0"/>
              <a:t>/</a:t>
            </a:r>
            <a:r>
              <a:rPr kumimoji="1" lang="ja-JP" altLang="en-US" dirty="0"/>
              <a:t>コンテンツ（</a:t>
            </a:r>
            <a:r>
              <a:rPr kumimoji="1" lang="en-US" altLang="ja-JP" dirty="0"/>
              <a:t>HTML</a:t>
            </a:r>
            <a:r>
              <a:rPr kumimoji="1" lang="ja-JP" altLang="en-US" dirty="0"/>
              <a:t>タグ、テーブル）</a:t>
            </a:r>
          </a:p>
          <a:p>
            <a:r>
              <a:rPr kumimoji="1" lang="ja-JP" altLang="en-US" dirty="0"/>
              <a:t>大文字と小文字の変更（小文字から小文字に変更）</a:t>
            </a:r>
          </a:p>
          <a:p>
            <a:r>
              <a:rPr kumimoji="1" lang="ja-JP" altLang="en-US" dirty="0"/>
              <a:t>トークン化、文セグメンテーション</a:t>
            </a:r>
          </a:p>
          <a:p>
            <a:r>
              <a:rPr kumimoji="1" lang="ja-JP" altLang="en-US" dirty="0"/>
              <a:t>使用するアノテーションを選択する（またはラベルセットを選択して自分でラベル付けする）</a:t>
            </a:r>
          </a:p>
          <a:p>
            <a:r>
              <a:rPr kumimoji="1" lang="ja-JP" altLang="en-US" dirty="0"/>
              <a:t>ラベルのチェック（矛盾など）</a:t>
            </a:r>
          </a:p>
          <a:p>
            <a:r>
              <a:rPr kumimoji="1" lang="ja-JP" altLang="en-US" dirty="0"/>
              <a:t>新しい</a:t>
            </a:r>
            <a:r>
              <a:rPr kumimoji="1" lang="en-US" altLang="ja-JP" dirty="0"/>
              <a:t>NLP</a:t>
            </a:r>
            <a:r>
              <a:rPr kumimoji="1" lang="ja-JP" altLang="en-US" dirty="0"/>
              <a:t>アルゴリズムを選択または実装する</a:t>
            </a:r>
          </a:p>
        </p:txBody>
      </p:sp>
      <p:sp>
        <p:nvSpPr>
          <p:cNvPr id="4" name="スライド番号プレースホルダー 3"/>
          <p:cNvSpPr>
            <a:spLocks noGrp="1"/>
          </p:cNvSpPr>
          <p:nvPr>
            <p:ph type="sldNum" sz="quarter" idx="10"/>
          </p:nvPr>
        </p:nvSpPr>
        <p:spPr/>
        <p:txBody>
          <a:bodyPr/>
          <a:lstStyle/>
          <a:p>
            <a:fld id="{B458D141-7A18-4406-BEA8-30BBBA5D0C66}" type="slidenum">
              <a:rPr kumimoji="1" lang="ja-JP" altLang="en-US" smtClean="0"/>
              <a:t>30</a:t>
            </a:fld>
            <a:endParaRPr kumimoji="1" lang="ja-JP" altLang="en-US"/>
          </a:p>
        </p:txBody>
      </p:sp>
    </p:spTree>
    <p:extLst>
      <p:ext uri="{BB962C8B-B14F-4D97-AF65-F5344CB8AC3E}">
        <p14:creationId xmlns:p14="http://schemas.microsoft.com/office/powerpoint/2010/main" val="1044084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単語からの屈曲的な終わりの除去（任意の接尾辞を除く）</a:t>
            </a:r>
          </a:p>
          <a:p>
            <a:r>
              <a:rPr kumimoji="1" lang="ja-JP" altLang="en-US" dirty="0"/>
              <a:t>笑う、笑う、笑う、笑って笑う</a:t>
            </a:r>
          </a:p>
          <a:p>
            <a:r>
              <a:rPr kumimoji="1" lang="ja-JP" altLang="en-US" dirty="0"/>
              <a:t>問題</a:t>
            </a:r>
          </a:p>
          <a:p>
            <a:r>
              <a:rPr kumimoji="1" lang="ja-JP" altLang="en-US" dirty="0"/>
              <a:t>意味的に異なる単語を融合させることができる</a:t>
            </a:r>
          </a:p>
          <a:p>
            <a:r>
              <a:rPr kumimoji="1" lang="ja-JP" altLang="en-US" dirty="0"/>
              <a:t>ギャラリーと胆汁はともに胆のうにまで押されることがあります</a:t>
            </a:r>
          </a:p>
          <a:p>
            <a:r>
              <a:rPr kumimoji="1" lang="ja-JP" altLang="en-US" dirty="0"/>
              <a:t>さらなるステップは、得られたフォームが辞書内の既知の単語であることを確認することです。これはタスク</a:t>
            </a:r>
            <a:r>
              <a:rPr kumimoji="1" lang="en-US" altLang="ja-JP" dirty="0"/>
              <a:t>lemmatization</a:t>
            </a:r>
            <a:r>
              <a:rPr kumimoji="1" lang="ja-JP" altLang="en-US" dirty="0"/>
              <a:t>と呼ばれます。</a:t>
            </a:r>
          </a:p>
        </p:txBody>
      </p:sp>
      <p:sp>
        <p:nvSpPr>
          <p:cNvPr id="4" name="スライド番号プレースホルダー 3"/>
          <p:cNvSpPr>
            <a:spLocks noGrp="1"/>
          </p:cNvSpPr>
          <p:nvPr>
            <p:ph type="sldNum" sz="quarter" idx="10"/>
          </p:nvPr>
        </p:nvSpPr>
        <p:spPr/>
        <p:txBody>
          <a:bodyPr/>
          <a:lstStyle/>
          <a:p>
            <a:fld id="{B458D141-7A18-4406-BEA8-30BBBA5D0C66}" type="slidenum">
              <a:rPr kumimoji="1" lang="ja-JP" altLang="en-US" smtClean="0"/>
              <a:t>31</a:t>
            </a:fld>
            <a:endParaRPr kumimoji="1" lang="ja-JP" altLang="en-US"/>
          </a:p>
        </p:txBody>
      </p:sp>
    </p:spTree>
    <p:extLst>
      <p:ext uri="{BB962C8B-B14F-4D97-AF65-F5344CB8AC3E}">
        <p14:creationId xmlns:p14="http://schemas.microsoft.com/office/powerpoint/2010/main" val="76576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ステミング</a:t>
            </a:r>
          </a:p>
          <a:p>
            <a:r>
              <a:rPr kumimoji="1" lang="ja-JP" altLang="en-US" dirty="0"/>
              <a:t>小文字に変換</a:t>
            </a:r>
          </a:p>
          <a:p>
            <a:r>
              <a:rPr kumimoji="1" lang="ja-JP" altLang="en-US" dirty="0"/>
              <a:t>数字、略語、日付などの非標準単語を特定し、そのようなトークンを特別な語彙にマッピングする。</a:t>
            </a:r>
          </a:p>
          <a:p>
            <a:r>
              <a:rPr kumimoji="1" lang="ja-JP" altLang="en-US" dirty="0"/>
              <a:t>たとえば、すべての</a:t>
            </a:r>
            <a:r>
              <a:rPr kumimoji="1" lang="en-US" altLang="ja-JP" dirty="0"/>
              <a:t>10</a:t>
            </a:r>
            <a:r>
              <a:rPr kumimoji="1" lang="ja-JP" altLang="en-US" dirty="0"/>
              <a:t>進数を単一のトークン</a:t>
            </a:r>
            <a:r>
              <a:rPr kumimoji="1" lang="en-US" altLang="ja-JP" dirty="0"/>
              <a:t>0.0</a:t>
            </a:r>
            <a:r>
              <a:rPr kumimoji="1" lang="ja-JP" altLang="en-US" dirty="0"/>
              <a:t>にマップすることができ、すべての頭字語を</a:t>
            </a:r>
            <a:r>
              <a:rPr kumimoji="1" lang="en-US" altLang="ja-JP" dirty="0"/>
              <a:t>AAA</a:t>
            </a:r>
            <a:r>
              <a:rPr kumimoji="1" lang="ja-JP" altLang="en-US" dirty="0"/>
              <a:t>にマップすることができます。 これにより、ボキャブラリが小さく保たれ、多くの言語モデリングタスクの精度が向上します。</a:t>
            </a:r>
          </a:p>
          <a:p>
            <a:r>
              <a:rPr kumimoji="1" lang="ja-JP" altLang="en-US" dirty="0"/>
              <a:t>レミメーション</a:t>
            </a:r>
          </a:p>
          <a:p>
            <a:r>
              <a:rPr kumimoji="1" lang="ja-JP" altLang="en-US" dirty="0"/>
              <a:t>結果のフォームが辞書内の既知の単語であることを確認する</a:t>
            </a:r>
          </a:p>
          <a:p>
            <a:r>
              <a:rPr kumimoji="1" lang="en-US" altLang="ja-JP" dirty="0"/>
              <a:t>WordNet</a:t>
            </a:r>
            <a:r>
              <a:rPr kumimoji="1" lang="ja-JP" altLang="en-US" dirty="0"/>
              <a:t>の字句解析ツールは、結果の単語が辞書に含まれている場合にのみ、接尾辞を削除します</a:t>
            </a:r>
          </a:p>
        </p:txBody>
      </p:sp>
      <p:sp>
        <p:nvSpPr>
          <p:cNvPr id="4" name="スライド番号プレースホルダー 3"/>
          <p:cNvSpPr>
            <a:spLocks noGrp="1"/>
          </p:cNvSpPr>
          <p:nvPr>
            <p:ph type="sldNum" sz="quarter" idx="10"/>
          </p:nvPr>
        </p:nvSpPr>
        <p:spPr/>
        <p:txBody>
          <a:bodyPr/>
          <a:lstStyle/>
          <a:p>
            <a:fld id="{B458D141-7A18-4406-BEA8-30BBBA5D0C66}" type="slidenum">
              <a:rPr kumimoji="1" lang="ja-JP" altLang="en-US" smtClean="0"/>
              <a:t>32</a:t>
            </a:fld>
            <a:endParaRPr kumimoji="1" lang="ja-JP" altLang="en-US"/>
          </a:p>
        </p:txBody>
      </p:sp>
    </p:spTree>
    <p:extLst>
      <p:ext uri="{BB962C8B-B14F-4D97-AF65-F5344CB8AC3E}">
        <p14:creationId xmlns:p14="http://schemas.microsoft.com/office/powerpoint/2010/main" val="1593568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WordNet</a:t>
            </a:r>
            <a:r>
              <a:rPr kumimoji="1" lang="ja-JP" altLang="en-US" dirty="0"/>
              <a:t>の字句解析ツールは、結果の単語が辞書に含まれている場合にのみ、接尾辞を削除します</a:t>
            </a:r>
          </a:p>
          <a:p>
            <a:r>
              <a:rPr kumimoji="1" lang="ja-JP" altLang="en-US" dirty="0"/>
              <a:t>あなたが一部のテキストのボキャブラリをコンパイルして、有効な補題のリストが必要な場合は、</a:t>
            </a:r>
            <a:r>
              <a:rPr kumimoji="1" lang="en-US" altLang="ja-JP" dirty="0"/>
              <a:t>WordNet</a:t>
            </a:r>
            <a:r>
              <a:rPr kumimoji="1" lang="ja-JP" altLang="en-US" dirty="0"/>
              <a:t>のリーマタイザーが適しています</a:t>
            </a:r>
          </a:p>
        </p:txBody>
      </p:sp>
      <p:sp>
        <p:nvSpPr>
          <p:cNvPr id="4" name="スライド番号プレースホルダー 3"/>
          <p:cNvSpPr>
            <a:spLocks noGrp="1"/>
          </p:cNvSpPr>
          <p:nvPr>
            <p:ph type="sldNum" sz="quarter" idx="10"/>
          </p:nvPr>
        </p:nvSpPr>
        <p:spPr/>
        <p:txBody>
          <a:bodyPr/>
          <a:lstStyle/>
          <a:p>
            <a:fld id="{B458D141-7A18-4406-BEA8-30BBBA5D0C66}" type="slidenum">
              <a:rPr kumimoji="1" lang="ja-JP" altLang="en-US" smtClean="0"/>
              <a:t>33</a:t>
            </a:fld>
            <a:endParaRPr kumimoji="1" lang="ja-JP" altLang="en-US"/>
          </a:p>
        </p:txBody>
      </p:sp>
    </p:spTree>
    <p:extLst>
      <p:ext uri="{BB962C8B-B14F-4D97-AF65-F5344CB8AC3E}">
        <p14:creationId xmlns:p14="http://schemas.microsoft.com/office/powerpoint/2010/main" val="3446234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テキストをトークン（単語、数字、句読点）と呼ばれる単位に分割する（</a:t>
            </a:r>
            <a:r>
              <a:rPr kumimoji="1" lang="en-US" altLang="ja-JP" dirty="0"/>
              <a:t>124〜139</a:t>
            </a:r>
            <a:r>
              <a:rPr kumimoji="1" lang="ja-JP" altLang="en-US" dirty="0"/>
              <a:t>ページマニング）</a:t>
            </a:r>
          </a:p>
          <a:p>
            <a:r>
              <a:rPr kumimoji="1" lang="ja-JP" altLang="en-US" dirty="0"/>
              <a:t>言葉は何ですか？</a:t>
            </a:r>
          </a:p>
          <a:p>
            <a:r>
              <a:rPr kumimoji="1" lang="ja-JP" altLang="en-US" dirty="0"/>
              <a:t>グラフィック・ワード：空白で囲まれた連続した英数字の文字列</a:t>
            </a:r>
          </a:p>
          <a:p>
            <a:r>
              <a:rPr kumimoji="1" lang="en-US" altLang="ja-JP" dirty="0"/>
              <a:t>$ 22.50</a:t>
            </a:r>
          </a:p>
          <a:p>
            <a:r>
              <a:rPr kumimoji="1" lang="ja-JP" altLang="en-US" dirty="0"/>
              <a:t>主な手がかり（英語）は、空白の発生です</a:t>
            </a:r>
          </a:p>
          <a:p>
            <a:r>
              <a:rPr kumimoji="1" lang="ja-JP" altLang="en-US" dirty="0"/>
              <a:t>問題</a:t>
            </a:r>
          </a:p>
          <a:p>
            <a:r>
              <a:rPr kumimoji="1" lang="ja-JP" altLang="en-US" dirty="0"/>
              <a:t>期間：通常は句読点を削除しますが、期間を保存すると便利なことがあります（洗濯→洗濯）</a:t>
            </a:r>
          </a:p>
          <a:p>
            <a:r>
              <a:rPr kumimoji="1" lang="ja-JP" altLang="en-US" dirty="0"/>
              <a:t>単一のアポストロフィー、収縮（そうではありませんでした、犬の：意味抽出のために</a:t>
            </a:r>
            <a:r>
              <a:rPr kumimoji="1" lang="en-US" altLang="ja-JP" dirty="0"/>
              <a:t>2</a:t>
            </a:r>
            <a:r>
              <a:rPr kumimoji="1" lang="ja-JP" altLang="en-US" dirty="0" err="1"/>
              <a:t>つの</a:t>
            </a:r>
            <a:r>
              <a:rPr kumimoji="1" lang="ja-JP" altLang="en-US" dirty="0"/>
              <a:t>別々のフォームを持つことが有用かもしれません：</a:t>
            </a:r>
            <a:r>
              <a:rPr kumimoji="1" lang="en-US" altLang="ja-JP" dirty="0"/>
              <a:t>is + not</a:t>
            </a:r>
            <a:r>
              <a:rPr kumimoji="1" lang="ja-JP" altLang="en-US" dirty="0"/>
              <a:t>または</a:t>
            </a:r>
            <a:r>
              <a:rPr kumimoji="1" lang="en-US" altLang="ja-JP" dirty="0"/>
              <a:t>not</a:t>
            </a:r>
            <a:r>
              <a:rPr kumimoji="1" lang="ja-JP" altLang="en-US" dirty="0"/>
              <a:t>）</a:t>
            </a:r>
          </a:p>
          <a:p>
            <a:r>
              <a:rPr kumimoji="1" lang="ja-JP" altLang="en-US" dirty="0"/>
              <a:t>ハイフネーション：</a:t>
            </a:r>
          </a:p>
          <a:p>
            <a:r>
              <a:rPr kumimoji="1" lang="ja-JP" altLang="en-US" dirty="0"/>
              <a:t>いつか</a:t>
            </a:r>
            <a:r>
              <a:rPr kumimoji="1" lang="ja-JP" altLang="en-US" dirty="0" err="1"/>
              <a:t>一言一言</a:t>
            </a:r>
            <a:r>
              <a:rPr kumimoji="1" lang="ja-JP" altLang="en-US" dirty="0"/>
              <a:t>：協力</a:t>
            </a:r>
          </a:p>
          <a:p>
            <a:r>
              <a:rPr kumimoji="1" lang="en-US" altLang="ja-JP" dirty="0"/>
              <a:t>26</a:t>
            </a:r>
            <a:r>
              <a:rPr kumimoji="1" lang="ja-JP" altLang="en-US" dirty="0"/>
              <a:t>歳のアルミニウム輸出禁止</a:t>
            </a:r>
          </a:p>
        </p:txBody>
      </p:sp>
      <p:sp>
        <p:nvSpPr>
          <p:cNvPr id="4" name="スライド番号プレースホルダー 3"/>
          <p:cNvSpPr>
            <a:spLocks noGrp="1"/>
          </p:cNvSpPr>
          <p:nvPr>
            <p:ph type="sldNum" sz="quarter" idx="10"/>
          </p:nvPr>
        </p:nvSpPr>
        <p:spPr/>
        <p:txBody>
          <a:bodyPr/>
          <a:lstStyle/>
          <a:p>
            <a:fld id="{B458D141-7A18-4406-BEA8-30BBBA5D0C66}" type="slidenum">
              <a:rPr kumimoji="1" lang="ja-JP" altLang="en-US" smtClean="0"/>
              <a:t>34</a:t>
            </a:fld>
            <a:endParaRPr kumimoji="1" lang="ja-JP" altLang="en-US"/>
          </a:p>
        </p:txBody>
      </p:sp>
    </p:spTree>
    <p:extLst>
      <p:ext uri="{BB962C8B-B14F-4D97-AF65-F5344CB8AC3E}">
        <p14:creationId xmlns:p14="http://schemas.microsoft.com/office/powerpoint/2010/main" val="3118471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ホワイトスペースはしばしば単語区切りを示しません。時には、空白（空白？）で区切られた単語をまとめることもできますが、単一の単語と見なしたい単語</a:t>
            </a:r>
          </a:p>
          <a:p>
            <a:r>
              <a:rPr kumimoji="1" lang="ja-JP" altLang="en-US" dirty="0"/>
              <a:t>サンフランシスコ</a:t>
            </a:r>
          </a:p>
          <a:p>
            <a:r>
              <a:rPr kumimoji="1" lang="ja-JP" altLang="en-US" dirty="0"/>
              <a:t>ニューヨーク・ニューヘブン鉄道</a:t>
            </a:r>
          </a:p>
          <a:p>
            <a:r>
              <a:rPr kumimoji="1" lang="ja-JP" altLang="en-US" dirty="0"/>
              <a:t>目を覚まし、運動する</a:t>
            </a:r>
          </a:p>
          <a:p>
            <a:r>
              <a:rPr kumimoji="1" lang="ja-JP" altLang="en-US" dirty="0"/>
              <a:t>私は答えを出すことができませんでした</a:t>
            </a:r>
          </a:p>
        </p:txBody>
      </p:sp>
      <p:sp>
        <p:nvSpPr>
          <p:cNvPr id="4" name="スライド番号プレースホルダー 3"/>
          <p:cNvSpPr>
            <a:spLocks noGrp="1"/>
          </p:cNvSpPr>
          <p:nvPr>
            <p:ph type="sldNum" sz="quarter" idx="10"/>
          </p:nvPr>
        </p:nvSpPr>
        <p:spPr/>
        <p:txBody>
          <a:bodyPr/>
          <a:lstStyle/>
          <a:p>
            <a:fld id="{B458D141-7A18-4406-BEA8-30BBBA5D0C66}" type="slidenum">
              <a:rPr kumimoji="1" lang="ja-JP" altLang="en-US" smtClean="0"/>
              <a:t>35</a:t>
            </a:fld>
            <a:endParaRPr kumimoji="1" lang="ja-JP" altLang="en-US"/>
          </a:p>
        </p:txBody>
      </p:sp>
    </p:spTree>
    <p:extLst>
      <p:ext uri="{BB962C8B-B14F-4D97-AF65-F5344CB8AC3E}">
        <p14:creationId xmlns:p14="http://schemas.microsoft.com/office/powerpoint/2010/main" val="1034497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ワードセグメンテーション</a:t>
            </a:r>
          </a:p>
          <a:p>
            <a:r>
              <a:rPr kumimoji="1" lang="ja-JP" altLang="en-US" dirty="0"/>
              <a:t>単語間にスペースを入れない言語</a:t>
            </a:r>
          </a:p>
          <a:p>
            <a:r>
              <a:rPr kumimoji="1" lang="ja-JP" altLang="en-US" dirty="0"/>
              <a:t>中国語、日本語、韓国語、タイ語、ドイツ語（複合名詞の場合）</a:t>
            </a:r>
          </a:p>
          <a:p>
            <a:r>
              <a:rPr kumimoji="1" lang="ja-JP" altLang="en-US" dirty="0"/>
              <a:t>  文のセグメンテーション</a:t>
            </a:r>
          </a:p>
          <a:p>
            <a:r>
              <a:rPr kumimoji="1" lang="ja-JP" altLang="en-US" dirty="0"/>
              <a:t>テキストを文章に分割する</a:t>
            </a:r>
          </a:p>
          <a:p>
            <a:r>
              <a:rPr kumimoji="1" lang="ja-JP" altLang="en-US" dirty="0"/>
              <a:t>どうして？</a:t>
            </a:r>
          </a:p>
        </p:txBody>
      </p:sp>
      <p:sp>
        <p:nvSpPr>
          <p:cNvPr id="4" name="スライド番号プレースホルダー 3"/>
          <p:cNvSpPr>
            <a:spLocks noGrp="1"/>
          </p:cNvSpPr>
          <p:nvPr>
            <p:ph type="sldNum" sz="quarter" idx="10"/>
          </p:nvPr>
        </p:nvSpPr>
        <p:spPr/>
        <p:txBody>
          <a:bodyPr/>
          <a:lstStyle/>
          <a:p>
            <a:fld id="{B458D141-7A18-4406-BEA8-30BBBA5D0C66}" type="slidenum">
              <a:rPr kumimoji="1" lang="ja-JP" altLang="en-US" smtClean="0"/>
              <a:t>36</a:t>
            </a:fld>
            <a:endParaRPr kumimoji="1" lang="ja-JP" altLang="en-US"/>
          </a:p>
        </p:txBody>
      </p:sp>
    </p:spTree>
    <p:extLst>
      <p:ext uri="{BB962C8B-B14F-4D97-AF65-F5344CB8AC3E}">
        <p14:creationId xmlns:p14="http://schemas.microsoft.com/office/powerpoint/2010/main" val="176280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文：</a:t>
            </a:r>
          </a:p>
          <a:p>
            <a:r>
              <a:rPr kumimoji="1" lang="en-US" altLang="ja-JP" dirty="0"/>
              <a:t>..</a:t>
            </a:r>
            <a:r>
              <a:rPr kumimoji="1" lang="ja-JP" altLang="en-US" dirty="0"/>
              <a:t>で終わる何か</a:t>
            </a:r>
            <a:r>
              <a:rPr kumimoji="1" lang="ja-JP" altLang="en-US" dirty="0" err="1"/>
              <a:t>？、</a:t>
            </a:r>
            <a:r>
              <a:rPr kumimoji="1" lang="ja-JP" altLang="en-US" dirty="0"/>
              <a:t>！ （そしていつかも</a:t>
            </a:r>
            <a:r>
              <a:rPr kumimoji="1" lang="en-US" altLang="ja-JP" dirty="0"/>
              <a:t>:)</a:t>
            </a:r>
          </a:p>
          <a:p>
            <a:r>
              <a:rPr kumimoji="1" lang="ja-JP" altLang="en-US" dirty="0"/>
              <a:t>「あなたは私に思い出させました」と彼女は言いました。</a:t>
            </a:r>
          </a:p>
          <a:p>
            <a:r>
              <a:rPr kumimoji="1" lang="ja-JP" altLang="en-US" dirty="0"/>
              <a:t>入れ子の文</a:t>
            </a:r>
          </a:p>
          <a:p>
            <a:r>
              <a:rPr kumimoji="1" lang="en-US" altLang="ja-JP" dirty="0"/>
              <a:t>"</a:t>
            </a:r>
            <a:r>
              <a:rPr kumimoji="1" lang="ja-JP" altLang="en-US" dirty="0"/>
              <a:t>に注意してください。</a:t>
            </a:r>
          </a:p>
          <a:p>
            <a:r>
              <a:rPr kumimoji="1" lang="ja-JP" altLang="en-US" dirty="0"/>
              <a:t>センテンス境界検出アルゴリズム</a:t>
            </a:r>
          </a:p>
          <a:p>
            <a:r>
              <a:rPr kumimoji="1" lang="ja-JP" altLang="en-US" dirty="0"/>
              <a:t>ヒューリスティック（図</a:t>
            </a:r>
            <a:r>
              <a:rPr kumimoji="1" lang="en-US" altLang="ja-JP" dirty="0"/>
              <a:t>4.1</a:t>
            </a:r>
            <a:r>
              <a:rPr kumimoji="1" lang="ja-JP" altLang="en-US" dirty="0" err="1"/>
              <a:t>。</a:t>
            </a:r>
            <a:r>
              <a:rPr kumimoji="1" lang="ja-JP" altLang="en-US" dirty="0"/>
              <a:t>ページ</a:t>
            </a:r>
            <a:r>
              <a:rPr kumimoji="1" lang="en-US" altLang="ja-JP" dirty="0"/>
              <a:t>135</a:t>
            </a:r>
            <a:r>
              <a:rPr kumimoji="1" lang="ja-JP" altLang="en-US" dirty="0"/>
              <a:t>のマニングを参照）</a:t>
            </a:r>
          </a:p>
          <a:p>
            <a:r>
              <a:rPr kumimoji="1" lang="ja-JP" altLang="en-US" dirty="0"/>
              <a:t>統計的分類木（</a:t>
            </a:r>
            <a:r>
              <a:rPr kumimoji="1" lang="en-US" altLang="ja-JP" dirty="0"/>
              <a:t>Riley 1989</a:t>
            </a:r>
            <a:r>
              <a:rPr kumimoji="1" lang="ja-JP" altLang="en-US" dirty="0"/>
              <a:t>）</a:t>
            </a:r>
          </a:p>
          <a:p>
            <a:r>
              <a:rPr kumimoji="1" lang="ja-JP" altLang="en-US" dirty="0"/>
              <a:t>単語の境界、事例、長さの前後に出現する確率</a:t>
            </a:r>
          </a:p>
          <a:p>
            <a:r>
              <a:rPr kumimoji="1" lang="ja-JP" altLang="en-US" dirty="0"/>
              <a:t>ニューラルネットワーク（</a:t>
            </a:r>
            <a:r>
              <a:rPr kumimoji="1" lang="en-US" altLang="ja-JP" dirty="0"/>
              <a:t>Palmer and Hearst 1997</a:t>
            </a:r>
            <a:r>
              <a:rPr kumimoji="1" lang="ja-JP" altLang="en-US" dirty="0"/>
              <a:t>）</a:t>
            </a:r>
          </a:p>
          <a:p>
            <a:r>
              <a:rPr kumimoji="1" lang="ja-JP" altLang="en-US" dirty="0"/>
              <a:t>前後の単語の音声分布の一部</a:t>
            </a:r>
          </a:p>
          <a:p>
            <a:r>
              <a:rPr kumimoji="1" lang="ja-JP" altLang="en-US" dirty="0"/>
              <a:t>最大エントロピー（</a:t>
            </a:r>
            <a:r>
              <a:rPr kumimoji="1" lang="en-US" altLang="ja-JP" dirty="0" err="1"/>
              <a:t>Mikheev</a:t>
            </a:r>
            <a:r>
              <a:rPr kumimoji="1" lang="en-US" altLang="ja-JP" dirty="0"/>
              <a:t> 1998</a:t>
            </a:r>
            <a:r>
              <a:rPr kumimoji="1" lang="ja-JP" altLang="en-US" dirty="0"/>
              <a:t>）</a:t>
            </a:r>
          </a:p>
        </p:txBody>
      </p:sp>
      <p:sp>
        <p:nvSpPr>
          <p:cNvPr id="4" name="スライド番号プレースホルダー 3"/>
          <p:cNvSpPr>
            <a:spLocks noGrp="1"/>
          </p:cNvSpPr>
          <p:nvPr>
            <p:ph type="sldNum" sz="quarter" idx="10"/>
          </p:nvPr>
        </p:nvSpPr>
        <p:spPr/>
        <p:txBody>
          <a:bodyPr/>
          <a:lstStyle/>
          <a:p>
            <a:fld id="{B458D141-7A18-4406-BEA8-30BBBA5D0C66}" type="slidenum">
              <a:rPr kumimoji="1" lang="ja-JP" altLang="en-US" smtClean="0"/>
              <a:t>37</a:t>
            </a:fld>
            <a:endParaRPr kumimoji="1" lang="ja-JP" altLang="en-US"/>
          </a:p>
        </p:txBody>
      </p:sp>
    </p:spTree>
    <p:extLst>
      <p:ext uri="{BB962C8B-B14F-4D97-AF65-F5344CB8AC3E}">
        <p14:creationId xmlns:p14="http://schemas.microsoft.com/office/powerpoint/2010/main" val="2674678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コロケーションとは、従来の物事を表現する従来の方法に対応する</a:t>
            </a:r>
            <a:r>
              <a:rPr kumimoji="1" lang="en-US" altLang="ja-JP" dirty="0"/>
              <a:t>2</a:t>
            </a:r>
            <a:r>
              <a:rPr kumimoji="1" lang="ja-JP" altLang="en-US" dirty="0"/>
              <a:t>つ以上の単語からなる式です</a:t>
            </a:r>
          </a:p>
          <a:p>
            <a:r>
              <a:rPr kumimoji="1" lang="ja-JP" altLang="en-US" dirty="0"/>
              <a:t>名詞句：大量破壊兵器、堅い風（なぜ、強風ではない？）</a:t>
            </a:r>
          </a:p>
          <a:p>
            <a:r>
              <a:rPr kumimoji="1" lang="ja-JP" altLang="en-US" dirty="0"/>
              <a:t>言葉のフレーズ：補う</a:t>
            </a:r>
          </a:p>
          <a:p>
            <a:r>
              <a:rPr kumimoji="1" lang="ja-JP" altLang="en-US" dirty="0"/>
              <a:t>必ずしも連続している必要はありません。 ドア</a:t>
            </a:r>
          </a:p>
          <a:p>
            <a:r>
              <a:rPr kumimoji="1" lang="ja-JP" altLang="en-US" dirty="0"/>
              <a:t>限定された構成性</a:t>
            </a:r>
          </a:p>
          <a:p>
            <a:r>
              <a:rPr kumimoji="1" lang="ja-JP" altLang="en-US" dirty="0"/>
              <a:t>表現の意味がパーツの意味で予測できるならば、組成</a:t>
            </a:r>
          </a:p>
          <a:p>
            <a:r>
              <a:rPr kumimoji="1" lang="ja-JP" altLang="en-US" dirty="0"/>
              <a:t>イディオムは、非コンポジット性の最も極端な例です</a:t>
            </a:r>
          </a:p>
          <a:p>
            <a:r>
              <a:rPr kumimoji="1" lang="ja-JP" altLang="en-US" dirty="0"/>
              <a:t>バケツをキックする</a:t>
            </a:r>
          </a:p>
          <a:p>
            <a:r>
              <a:rPr kumimoji="1" lang="ja-JP" altLang="en-US" dirty="0"/>
              <a:t>コロケーションでは、組み合わせに意味の要素が追加されます（つまり、正確な意味は、その要素から直接導出できません）</a:t>
            </a:r>
          </a:p>
          <a:p>
            <a:r>
              <a:rPr kumimoji="1" lang="ja-JP" altLang="en-US" dirty="0"/>
              <a:t>白髪、白ワイン、白人女性</a:t>
            </a:r>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39</a:t>
            </a:fld>
            <a:endParaRPr kumimoji="1" lang="ja-JP" altLang="en-US"/>
          </a:p>
        </p:txBody>
      </p:sp>
    </p:spTree>
    <p:extLst>
      <p:ext uri="{BB962C8B-B14F-4D97-AF65-F5344CB8AC3E}">
        <p14:creationId xmlns:p14="http://schemas.microsoft.com/office/powerpoint/2010/main" val="39262176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非置換性</a:t>
            </a:r>
          </a:p>
          <a:p>
            <a:r>
              <a:rPr kumimoji="1" lang="ja-JP" altLang="en-US" dirty="0"/>
              <a:t>コロケーションの単語を置換することはできません</a:t>
            </a:r>
          </a:p>
          <a:p>
            <a:r>
              <a:rPr kumimoji="1" lang="ja-JP" altLang="en-US" dirty="0"/>
              <a:t>*黄色いワイン</a:t>
            </a:r>
          </a:p>
          <a:p>
            <a:r>
              <a:rPr kumimoji="1" lang="ja-JP" altLang="en-US" dirty="0"/>
              <a:t>変更不可能</a:t>
            </a:r>
          </a:p>
          <a:p>
            <a:r>
              <a:rPr kumimoji="1" lang="ja-JP" altLang="en-US" dirty="0"/>
              <a:t>喉にカエルを入れるには</a:t>
            </a:r>
          </a:p>
          <a:p>
            <a:r>
              <a:rPr kumimoji="1" lang="ja-JP" altLang="en-US" dirty="0"/>
              <a:t>*喉に醜いカエルを入れるには</a:t>
            </a:r>
          </a:p>
          <a:p>
            <a:r>
              <a:rPr kumimoji="1" lang="ja-JP" altLang="en-US" dirty="0"/>
              <a:t>役に立つ</a:t>
            </a:r>
          </a:p>
          <a:p>
            <a:r>
              <a:rPr kumimoji="1" lang="ja-JP" altLang="en-US" dirty="0"/>
              <a:t>言語生成</a:t>
            </a:r>
          </a:p>
          <a:p>
            <a:r>
              <a:rPr kumimoji="1" lang="ja-JP" altLang="en-US" dirty="0"/>
              <a:t>*強力なお茶、*決定を下す</a:t>
            </a:r>
          </a:p>
          <a:p>
            <a:r>
              <a:rPr kumimoji="1" lang="ja-JP" altLang="en-US" dirty="0"/>
              <a:t>機械翻訳</a:t>
            </a:r>
          </a:p>
          <a:p>
            <a:r>
              <a:rPr kumimoji="1" lang="ja-JP" altLang="en-US" dirty="0"/>
              <a:t>組み合わせがコロケーションであるかどうかをテストする簡単な方法は、それを別の言語に翻訳することです</a:t>
            </a:r>
          </a:p>
          <a:p>
            <a:r>
              <a:rPr kumimoji="1" lang="ja-JP" altLang="en-US" dirty="0"/>
              <a:t>決定を下す*決定を下す</a:t>
            </a:r>
            <a:r>
              <a:rPr kumimoji="1" lang="en-US" altLang="ja-JP" dirty="0"/>
              <a:t>(</a:t>
            </a:r>
            <a:r>
              <a:rPr kumimoji="1" lang="ja-JP" altLang="en-US" dirty="0"/>
              <a:t>フランス語</a:t>
            </a:r>
            <a:r>
              <a:rPr kumimoji="1" lang="en-US" altLang="ja-JP" dirty="0"/>
              <a:t>) </a:t>
            </a:r>
            <a:r>
              <a:rPr kumimoji="1" lang="ja-JP" altLang="en-US" dirty="0" err="1"/>
              <a:t>、</a:t>
            </a:r>
            <a:r>
              <a:rPr kumimoji="1" lang="ja-JP" altLang="en-US" dirty="0"/>
              <a:t>*決定を下す（イタリア語）</a:t>
            </a:r>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40</a:t>
            </a:fld>
            <a:endParaRPr kumimoji="1" lang="ja-JP" altLang="en-US"/>
          </a:p>
        </p:txBody>
      </p:sp>
    </p:spTree>
    <p:extLst>
      <p:ext uri="{BB962C8B-B14F-4D97-AF65-F5344CB8AC3E}">
        <p14:creationId xmlns:p14="http://schemas.microsoft.com/office/powerpoint/2010/main" val="22005135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軽い動詞</a:t>
            </a:r>
          </a:p>
          <a:p>
            <a:r>
              <a:rPr kumimoji="1" lang="ja-JP" altLang="en-US" dirty="0"/>
              <a:t>決断を下し、賛成する</a:t>
            </a:r>
          </a:p>
          <a:p>
            <a:r>
              <a:rPr kumimoji="1" lang="ja-JP" altLang="en-US" dirty="0"/>
              <a:t>句動詞</a:t>
            </a:r>
          </a:p>
          <a:p>
            <a:r>
              <a:rPr kumimoji="1" lang="ja-JP" altLang="en-US" dirty="0"/>
              <a:t>告げるには、メイクアップ</a:t>
            </a:r>
          </a:p>
          <a:p>
            <a:r>
              <a:rPr kumimoji="1" lang="ja-JP" altLang="en-US" dirty="0"/>
              <a:t>適切な名前</a:t>
            </a:r>
          </a:p>
          <a:p>
            <a:r>
              <a:rPr kumimoji="1" lang="ja-JP" altLang="en-US" dirty="0"/>
              <a:t>サンフランシスコ、ニューヨーク</a:t>
            </a:r>
          </a:p>
          <a:p>
            <a:r>
              <a:rPr kumimoji="1" lang="ja-JP" altLang="en-US" dirty="0"/>
              <a:t>用語の表現</a:t>
            </a:r>
          </a:p>
          <a:p>
            <a:r>
              <a:rPr kumimoji="1" lang="ja-JP" altLang="en-US" dirty="0"/>
              <a:t>油圧オイルフィルター</a:t>
            </a:r>
          </a:p>
          <a:p>
            <a:r>
              <a:rPr kumimoji="1" lang="ja-JP" altLang="en-US" dirty="0"/>
              <a:t>これは構成的なものですが、常に同じように翻訳されていることを確認する必要があります</a:t>
            </a:r>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41</a:t>
            </a:fld>
            <a:endParaRPr kumimoji="1" lang="ja-JP" altLang="en-US"/>
          </a:p>
        </p:txBody>
      </p:sp>
    </p:spTree>
    <p:extLst>
      <p:ext uri="{BB962C8B-B14F-4D97-AF65-F5344CB8AC3E}">
        <p14:creationId xmlns:p14="http://schemas.microsoft.com/office/powerpoint/2010/main" val="3628637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コロケーションの検索</a:t>
            </a:r>
          </a:p>
          <a:p>
            <a:r>
              <a:rPr kumimoji="1" lang="ja-JP" altLang="en-US" dirty="0"/>
              <a:t>周波数（頻度）</a:t>
            </a:r>
          </a:p>
          <a:p>
            <a:r>
              <a:rPr kumimoji="1" lang="en-US" altLang="ja-JP" dirty="0"/>
              <a:t>2</a:t>
            </a:r>
            <a:r>
              <a:rPr kumimoji="1" lang="ja-JP" altLang="en-US" dirty="0" err="1"/>
              <a:t>つの</a:t>
            </a:r>
            <a:r>
              <a:rPr kumimoji="1" lang="ja-JP" altLang="en-US" dirty="0"/>
              <a:t>単語が一緒に多く出現すると、それは彼らが特別な機能を持っている証拠かもしれません</a:t>
            </a:r>
          </a:p>
          <a:p>
            <a:r>
              <a:rPr kumimoji="1" lang="ja-JP" altLang="en-US" dirty="0"/>
              <a:t>しかし、ペア</a:t>
            </a:r>
            <a:r>
              <a:rPr kumimoji="1" lang="en-US" altLang="ja-JP" dirty="0"/>
              <a:t>C</a:t>
            </a:r>
            <a:r>
              <a:rPr kumimoji="1" lang="ja-JP" altLang="en-US" dirty="0"/>
              <a:t>（</a:t>
            </a:r>
            <a:r>
              <a:rPr kumimoji="1" lang="en-US" altLang="ja-JP" dirty="0"/>
              <a:t>w1</a:t>
            </a:r>
            <a:r>
              <a:rPr kumimoji="1" lang="ja-JP" altLang="en-US" dirty="0" err="1"/>
              <a:t>、</a:t>
            </a:r>
            <a:r>
              <a:rPr kumimoji="1" lang="en-US" altLang="ja-JP" dirty="0"/>
              <a:t>w2</a:t>
            </a:r>
            <a:r>
              <a:rPr kumimoji="1" lang="ja-JP" altLang="en-US" dirty="0"/>
              <a:t>）の頻度でソートすると、「</a:t>
            </a:r>
            <a:r>
              <a:rPr kumimoji="1" lang="en-US" altLang="ja-JP" dirty="0"/>
              <a:t>of</a:t>
            </a:r>
            <a:r>
              <a:rPr kumimoji="1" lang="ja-JP" altLang="en-US" dirty="0"/>
              <a:t>」が最も頻繁にペアになります</a:t>
            </a:r>
          </a:p>
          <a:p>
            <a:r>
              <a:rPr kumimoji="1" lang="en-US" altLang="ja-JP" dirty="0"/>
              <a:t>POS</a:t>
            </a:r>
            <a:r>
              <a:rPr kumimoji="1" lang="ja-JP" altLang="en-US" dirty="0"/>
              <a:t>パターンによるフィルタリング</a:t>
            </a:r>
          </a:p>
          <a:p>
            <a:r>
              <a:rPr kumimoji="1" lang="en-US" altLang="ja-JP" dirty="0"/>
              <a:t>A N</a:t>
            </a:r>
            <a:r>
              <a:rPr kumimoji="1" lang="ja-JP" altLang="en-US" dirty="0"/>
              <a:t>（線形関数）、</a:t>
            </a:r>
            <a:r>
              <a:rPr kumimoji="1" lang="en-US" altLang="ja-JP" dirty="0"/>
              <a:t>N </a:t>
            </a:r>
            <a:r>
              <a:rPr kumimoji="1" lang="en-US" altLang="ja-JP" dirty="0" err="1"/>
              <a:t>N</a:t>
            </a:r>
            <a:r>
              <a:rPr kumimoji="1" lang="ja-JP" altLang="en-US" dirty="0"/>
              <a:t>（回帰係数）など。</a:t>
            </a:r>
          </a:p>
          <a:p>
            <a:r>
              <a:rPr kumimoji="1" lang="ja-JP" altLang="en-US" dirty="0"/>
              <a:t>単語の距離の平均と分散</a:t>
            </a:r>
          </a:p>
          <a:p>
            <a:r>
              <a:rPr kumimoji="1" lang="ja-JP" altLang="en-US" dirty="0"/>
              <a:t>連続していないコロケーションの場合</a:t>
            </a:r>
          </a:p>
          <a:p>
            <a:r>
              <a:rPr kumimoji="1" lang="ja-JP" altLang="en-US" dirty="0"/>
              <a:t>彼女はドアをノックした（</a:t>
            </a:r>
            <a:r>
              <a:rPr kumimoji="1" lang="en-US" altLang="ja-JP" dirty="0"/>
              <a:t>d = 2</a:t>
            </a:r>
            <a:r>
              <a:rPr kumimoji="1" lang="ja-JP" altLang="en-US" dirty="0"/>
              <a:t>）</a:t>
            </a:r>
          </a:p>
          <a:p>
            <a:r>
              <a:rPr kumimoji="1" lang="ja-JP" altLang="en-US" dirty="0"/>
              <a:t>金属のフロントドア（</a:t>
            </a:r>
            <a:r>
              <a:rPr kumimoji="1" lang="en-US" altLang="ja-JP" dirty="0"/>
              <a:t>d = 4</a:t>
            </a:r>
            <a:r>
              <a:rPr kumimoji="1" lang="ja-JP" altLang="en-US" dirty="0"/>
              <a:t>）をノックした男が、</a:t>
            </a:r>
          </a:p>
          <a:p>
            <a:r>
              <a:rPr kumimoji="1" lang="ja-JP" altLang="en-US" dirty="0"/>
              <a:t>仮説検定（</a:t>
            </a:r>
            <a:r>
              <a:rPr kumimoji="1" lang="en-US" altLang="ja-JP" dirty="0"/>
              <a:t>162</a:t>
            </a:r>
            <a:r>
              <a:rPr kumimoji="1" lang="ja-JP" altLang="en-US" dirty="0"/>
              <a:t>ページ</a:t>
            </a:r>
            <a:r>
              <a:rPr kumimoji="1" lang="en-US" altLang="ja-JP" dirty="0"/>
              <a:t>Stat NLP</a:t>
            </a:r>
            <a:r>
              <a:rPr kumimoji="1" lang="ja-JP" altLang="en-US" dirty="0"/>
              <a:t>を参照）</a:t>
            </a:r>
          </a:p>
          <a:p>
            <a:r>
              <a:rPr kumimoji="1" lang="ja-JP" altLang="en-US" dirty="0"/>
              <a:t>私たちはそれが本当にコロケーションであることをどのように知っていますか？</a:t>
            </a:r>
          </a:p>
          <a:p>
            <a:r>
              <a:rPr kumimoji="1" lang="ja-JP" altLang="en-US" dirty="0"/>
              <a:t>低い平均距離は偶発的になる可能性がある（新規会社）</a:t>
            </a:r>
          </a:p>
          <a:p>
            <a:r>
              <a:rPr kumimoji="1" lang="ja-JP" altLang="en-US" dirty="0"/>
              <a:t>私たちは、偶然に</a:t>
            </a:r>
            <a:r>
              <a:rPr kumimoji="1" lang="en-US" altLang="ja-JP" dirty="0"/>
              <a:t>2</a:t>
            </a:r>
            <a:r>
              <a:rPr kumimoji="1" lang="ja-JP" altLang="en-US" dirty="0" err="1"/>
              <a:t>つの</a:t>
            </a:r>
            <a:r>
              <a:rPr kumimoji="1" lang="ja-JP" altLang="en-US" dirty="0"/>
              <a:t>単語が一緒に出現するかどうかを知る必要があります（彼らはコロケーションなので）</a:t>
            </a:r>
          </a:p>
          <a:p>
            <a:r>
              <a:rPr kumimoji="1" lang="ja-JP" altLang="en-US" dirty="0"/>
              <a:t>仮説検定</a:t>
            </a:r>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42</a:t>
            </a:fld>
            <a:endParaRPr kumimoji="1" lang="ja-JP" altLang="en-US"/>
          </a:p>
        </p:txBody>
      </p:sp>
    </p:spTree>
    <p:extLst>
      <p:ext uri="{BB962C8B-B14F-4D97-AF65-F5344CB8AC3E}">
        <p14:creationId xmlns:p14="http://schemas.microsoft.com/office/powerpoint/2010/main" val="483408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相互情報測定</a:t>
            </a:r>
          </a:p>
          <a:p>
            <a:r>
              <a:rPr kumimoji="1" lang="ja-JP" altLang="en-US" dirty="0"/>
              <a:t>どのくらいの単語が他の単語についてどれくらいのことを伝えているか、つまり別の単語を知ることによってある単語の不確実性が減少したことの尺度</a:t>
            </a:r>
          </a:p>
          <a:p>
            <a:r>
              <a:rPr kumimoji="1" lang="en-US" altLang="ja-JP" dirty="0"/>
              <a:t>2</a:t>
            </a:r>
            <a:r>
              <a:rPr kumimoji="1" lang="ja-JP" altLang="en-US" dirty="0" err="1"/>
              <a:t>つの</a:t>
            </a:r>
            <a:r>
              <a:rPr kumimoji="1" lang="ja-JP" altLang="en-US" dirty="0"/>
              <a:t>単語が独立しているときは</a:t>
            </a:r>
            <a:r>
              <a:rPr kumimoji="1" lang="en-US" altLang="ja-JP" dirty="0"/>
              <a:t>0</a:t>
            </a:r>
            <a:endParaRPr kumimoji="1" lang="ja-JP" altLang="en-US" dirty="0"/>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43</a:t>
            </a:fld>
            <a:endParaRPr kumimoji="1" lang="ja-JP" altLang="en-US"/>
          </a:p>
        </p:txBody>
      </p:sp>
    </p:spTree>
    <p:extLst>
      <p:ext uri="{BB962C8B-B14F-4D97-AF65-F5344CB8AC3E}">
        <p14:creationId xmlns:p14="http://schemas.microsoft.com/office/powerpoint/2010/main" val="1394722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文章</a:t>
            </a:r>
            <a:r>
              <a:rPr kumimoji="1" lang="en-US" altLang="ja-JP" dirty="0"/>
              <a:t>1</a:t>
            </a:r>
            <a:r>
              <a:rPr kumimoji="1" lang="ja-JP" altLang="en-US" dirty="0" err="1"/>
              <a:t>つに</a:t>
            </a:r>
            <a:r>
              <a:rPr kumimoji="1" lang="ja-JP" altLang="en-US" dirty="0"/>
              <a:t>対するスコアモデル</a:t>
            </a:r>
            <a:r>
              <a:rPr kumimoji="1" lang="en-US" altLang="ja-JP" dirty="0"/>
              <a:t>:</a:t>
            </a:r>
            <a:r>
              <a:rPr kumimoji="1" lang="en-US" altLang="ja-JP" baseline="0" dirty="0"/>
              <a:t> </a:t>
            </a:r>
            <a:r>
              <a:rPr kumimoji="1" lang="ja-JP" altLang="en-US" baseline="0" dirty="0"/>
              <a:t>単語の出現順番を用いた文章の確率を定義</a:t>
            </a:r>
            <a:endParaRPr kumimoji="1" lang="en-US" altLang="ja-JP" baseline="0" dirty="0"/>
          </a:p>
          <a:p>
            <a:r>
              <a:rPr kumimoji="1" lang="ja-JP" altLang="en-US" baseline="0" dirty="0"/>
              <a:t>文章として相当するかどうかのスコア</a:t>
            </a:r>
            <a:endParaRPr kumimoji="1" lang="en-US" altLang="ja-JP" baseline="0" dirty="0"/>
          </a:p>
          <a:p>
            <a:r>
              <a:rPr kumimoji="1" lang="ja-JP" altLang="en-US" dirty="0"/>
              <a:t>これは文法に準拠するものではない</a:t>
            </a:r>
            <a:endParaRPr kumimoji="1" lang="en-US" altLang="ja-JP" dirty="0"/>
          </a:p>
          <a:p>
            <a:r>
              <a:rPr kumimoji="1" lang="ja-JP" altLang="en-US" dirty="0"/>
              <a:t>減速として、</a:t>
            </a:r>
            <a:r>
              <a:rPr kumimoji="1" lang="en-US" altLang="ja-JP" dirty="0"/>
              <a:t>『</a:t>
            </a:r>
            <a:r>
              <a:rPr kumimoji="1" lang="ja-JP" altLang="en-US" dirty="0" err="1"/>
              <a:t>らしさ</a:t>
            </a:r>
            <a:r>
              <a:rPr kumimoji="1" lang="en-US" altLang="ja-JP" dirty="0"/>
              <a:t>』</a:t>
            </a:r>
            <a:r>
              <a:rPr kumimoji="1" lang="ja-JP" altLang="en-US" dirty="0"/>
              <a:t>はドメイン知識やコンテキスト、話者による。</a:t>
            </a:r>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46</a:t>
            </a:fld>
            <a:endParaRPr kumimoji="1" lang="ja-JP" altLang="en-US"/>
          </a:p>
        </p:txBody>
      </p:sp>
    </p:spTree>
    <p:extLst>
      <p:ext uri="{BB962C8B-B14F-4D97-AF65-F5344CB8AC3E}">
        <p14:creationId xmlns:p14="http://schemas.microsoft.com/office/powerpoint/2010/main" val="32619762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48</a:t>
            </a:fld>
            <a:endParaRPr kumimoji="1" lang="ja-JP" altLang="en-US"/>
          </a:p>
        </p:txBody>
      </p:sp>
    </p:spTree>
    <p:extLst>
      <p:ext uri="{BB962C8B-B14F-4D97-AF65-F5344CB8AC3E}">
        <p14:creationId xmlns:p14="http://schemas.microsoft.com/office/powerpoint/2010/main" val="4110659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文にスコアを割り当てるモデル</a:t>
            </a:r>
          </a:p>
          <a:p>
            <a:endParaRPr kumimoji="1" lang="ja-JP" altLang="en-US" dirty="0"/>
          </a:p>
          <a:p>
            <a:r>
              <a:rPr kumimoji="1" lang="ja-JP" altLang="en-US" dirty="0"/>
              <a:t>文：</a:t>
            </a:r>
            <a:r>
              <a:rPr kumimoji="1" lang="en-US" altLang="ja-JP" dirty="0"/>
              <a:t>w1</a:t>
            </a:r>
            <a:r>
              <a:rPr kumimoji="1" lang="ja-JP" altLang="en-US" dirty="0" err="1"/>
              <a:t>、</a:t>
            </a:r>
            <a:r>
              <a:rPr kumimoji="1" lang="en-US" altLang="ja-JP" dirty="0"/>
              <a:t>w2</a:t>
            </a:r>
            <a:r>
              <a:rPr kumimoji="1" lang="ja-JP" altLang="en-US" dirty="0" err="1"/>
              <a:t>、</a:t>
            </a:r>
            <a:r>
              <a:rPr kumimoji="1" lang="en-US" altLang="ja-JP" dirty="0"/>
              <a:t>... </a:t>
            </a:r>
            <a:r>
              <a:rPr kumimoji="1" lang="en-US" altLang="ja-JP" dirty="0" err="1"/>
              <a:t>wn</a:t>
            </a:r>
            <a:endParaRPr kumimoji="1" lang="en-US" altLang="ja-JP" dirty="0"/>
          </a:p>
          <a:p>
            <a:r>
              <a:rPr kumimoji="1" lang="ja-JP" altLang="en-US" dirty="0"/>
              <a:t>チェーンルールで文章の確率を下げる（一般性を失わない）</a:t>
            </a:r>
          </a:p>
          <a:p>
            <a:endParaRPr kumimoji="1" lang="ja-JP" altLang="en-US" dirty="0"/>
          </a:p>
          <a:p>
            <a:r>
              <a:rPr kumimoji="1" lang="ja-JP" altLang="en-US" dirty="0"/>
              <a:t>あまりにも多くの歴史！</a:t>
            </a:r>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49</a:t>
            </a:fld>
            <a:endParaRPr kumimoji="1" lang="ja-JP" altLang="en-US"/>
          </a:p>
        </p:txBody>
      </p:sp>
    </p:spTree>
    <p:extLst>
      <p:ext uri="{BB962C8B-B14F-4D97-AF65-F5344CB8AC3E}">
        <p14:creationId xmlns:p14="http://schemas.microsoft.com/office/powerpoint/2010/main" val="42293616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マルコフ仮説：前のローカルコンテキストのみ </a:t>
            </a:r>
            <a:r>
              <a:rPr kumimoji="1" lang="en-US" altLang="ja-JP" dirty="0"/>
              <a:t>- </a:t>
            </a:r>
            <a:r>
              <a:rPr kumimoji="1" lang="ja-JP" altLang="en-US" dirty="0"/>
              <a:t>最後の「数少ない」</a:t>
            </a:r>
            <a:r>
              <a:rPr kumimoji="1" lang="en-US" altLang="ja-JP" dirty="0"/>
              <a:t>n</a:t>
            </a:r>
            <a:r>
              <a:rPr kumimoji="1" lang="ja-JP" altLang="en-US" dirty="0"/>
              <a:t>ワード </a:t>
            </a:r>
            <a:r>
              <a:rPr kumimoji="1" lang="en-US" altLang="ja-JP" dirty="0"/>
              <a:t>- </a:t>
            </a:r>
            <a:r>
              <a:rPr kumimoji="1" lang="ja-JP" altLang="en-US" dirty="0"/>
              <a:t>次の単語に影響する</a:t>
            </a:r>
          </a:p>
          <a:p>
            <a:r>
              <a:rPr kumimoji="1" lang="en-US" altLang="ja-JP" dirty="0"/>
              <a:t>N-gram</a:t>
            </a:r>
            <a:r>
              <a:rPr kumimoji="1" lang="ja-JP" altLang="en-US" dirty="0"/>
              <a:t>モデル：各単語は短い線形履歴のみに依存すると仮定する</a:t>
            </a:r>
          </a:p>
          <a:p>
            <a:r>
              <a:rPr kumimoji="1" lang="en-US" altLang="ja-JP" dirty="0"/>
              <a:t>N-1</a:t>
            </a:r>
            <a:r>
              <a:rPr kumimoji="1" lang="ja-JP" altLang="en-US" dirty="0"/>
              <a:t>語を使って次の単語を予測する</a:t>
            </a:r>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50</a:t>
            </a:fld>
            <a:endParaRPr kumimoji="1" lang="ja-JP" altLang="en-US"/>
          </a:p>
        </p:txBody>
      </p:sp>
    </p:spTree>
    <p:extLst>
      <p:ext uri="{BB962C8B-B14F-4D97-AF65-F5344CB8AC3E}">
        <p14:creationId xmlns:p14="http://schemas.microsoft.com/office/powerpoint/2010/main" val="40341340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最も単純なケース：ユニグラム</a:t>
            </a:r>
          </a:p>
          <a:p>
            <a:r>
              <a:rPr kumimoji="1" lang="ja-JP" altLang="en-US" dirty="0"/>
              <a:t>  生成プロセス：単語を選択し、単語を選択し、停止を選択するまで</a:t>
            </a:r>
          </a:p>
          <a:p>
            <a:r>
              <a:rPr kumimoji="1" lang="ja-JP" altLang="en-US" dirty="0"/>
              <a:t>  グラフィカルなモデルとして：</a:t>
            </a:r>
          </a:p>
          <a:p>
            <a:r>
              <a:rPr kumimoji="1" lang="ja-JP" altLang="en-US" dirty="0"/>
              <a:t>  例：</a:t>
            </a:r>
          </a:p>
          <a:p>
            <a:r>
              <a:rPr kumimoji="1" lang="ja-JP" altLang="en-US" dirty="0"/>
              <a:t>  先物、先物、先物、先物、先物、インフレ、大半、ドル、四半期、イン、マス、</a:t>
            </a:r>
          </a:p>
          <a:p>
            <a:r>
              <a:rPr kumimoji="1" lang="ja-JP" altLang="en-US" dirty="0"/>
              <a:t>  </a:t>
            </a:r>
            <a:r>
              <a:rPr kumimoji="1" lang="en-US" altLang="ja-JP" dirty="0"/>
              <a:t>[</a:t>
            </a:r>
            <a:r>
              <a:rPr kumimoji="1" lang="ja-JP" altLang="en-US" dirty="0"/>
              <a:t>倹約しました、</a:t>
            </a:r>
            <a:r>
              <a:rPr kumimoji="1" lang="en-US" altLang="ja-JP" dirty="0"/>
              <a:t>80</a:t>
            </a:r>
            <a:r>
              <a:rPr kumimoji="1" lang="ja-JP" altLang="en-US" dirty="0"/>
              <a:t>歳になった、ハード、私は、</a:t>
            </a:r>
            <a:r>
              <a:rPr kumimoji="1" lang="en-US" altLang="ja-JP" dirty="0"/>
              <a:t>7</a:t>
            </a:r>
            <a:r>
              <a:rPr kumimoji="1" lang="ja-JP" altLang="en-US" dirty="0"/>
              <a:t>月、強気</a:t>
            </a:r>
            <a:r>
              <a:rPr kumimoji="1" lang="en-US" altLang="ja-JP" dirty="0"/>
              <a:t>]</a:t>
            </a:r>
          </a:p>
          <a:p>
            <a:r>
              <a:rPr kumimoji="1" lang="en-US" altLang="ja-JP" dirty="0"/>
              <a:t>  [</a:t>
            </a:r>
            <a:r>
              <a:rPr kumimoji="1" lang="ja-JP" altLang="en-US" dirty="0"/>
              <a:t>それ、または、限られた、</a:t>
            </a:r>
            <a:r>
              <a:rPr kumimoji="1" lang="en-US" altLang="ja-JP" dirty="0"/>
              <a:t>]</a:t>
            </a:r>
          </a:p>
          <a:p>
            <a:r>
              <a:rPr kumimoji="1" lang="en-US" altLang="ja-JP" dirty="0"/>
              <a:t>  []</a:t>
            </a:r>
          </a:p>
          <a:p>
            <a:r>
              <a:rPr kumimoji="1" lang="en-US" altLang="ja-JP" dirty="0"/>
              <a:t>  [</a:t>
            </a:r>
            <a:r>
              <a:rPr kumimoji="1" lang="ja-JP" altLang="en-US" dirty="0"/>
              <a:t>病院、湖、その他、および要因、育てられた、アナリスト、あまりにも、許可された、</a:t>
            </a:r>
          </a:p>
          <a:p>
            <a:r>
              <a:rPr kumimoji="1" lang="ja-JP" altLang="en-US" dirty="0"/>
              <a:t>メキシコ、決して考えない、落ちる、バギンした、ダビソン、それを得る、値段をつける、</a:t>
            </a:r>
          </a:p>
          <a:p>
            <a:r>
              <a:rPr kumimoji="1" lang="ja-JP" altLang="en-US" dirty="0"/>
              <a:t>ボード、</a:t>
            </a:r>
            <a:r>
              <a:rPr kumimoji="1" lang="en-US" altLang="ja-JP" dirty="0"/>
              <a:t>a</a:t>
            </a:r>
            <a:r>
              <a:rPr kumimoji="1" lang="ja-JP" altLang="en-US" dirty="0" err="1"/>
              <a:t>、</a:t>
            </a:r>
            <a:r>
              <a:rPr kumimoji="1" lang="ja-JP" altLang="en-US" dirty="0"/>
              <a:t>ディテール、マシニスト、</a:t>
            </a:r>
            <a:r>
              <a:rPr kumimoji="1" lang="en-US" altLang="ja-JP" dirty="0"/>
              <a:t>the</a:t>
            </a:r>
            <a:r>
              <a:rPr kumimoji="1" lang="ja-JP" altLang="en-US" dirty="0" err="1"/>
              <a:t>、</a:t>
            </a:r>
            <a:r>
              <a:rPr kumimoji="1" lang="ja-JP" altLang="en-US" dirty="0"/>
              <a:t>企業、ライバル、</a:t>
            </a:r>
            <a:r>
              <a:rPr kumimoji="1" lang="en-US" altLang="ja-JP" dirty="0"/>
              <a:t>an</a:t>
            </a:r>
            <a:r>
              <a:rPr kumimoji="1" lang="ja-JP" altLang="en-US" dirty="0" err="1"/>
              <a:t>、</a:t>
            </a:r>
            <a:r>
              <a:rPr kumimoji="1" lang="ja-JP" altLang="en-US" dirty="0"/>
              <a:t>長い、オーク、パーセント、</a:t>
            </a:r>
            <a:r>
              <a:rPr kumimoji="1" lang="en-US" altLang="ja-JP" dirty="0"/>
              <a:t>a</a:t>
            </a:r>
            <a:r>
              <a:rPr kumimoji="1" lang="ja-JP" altLang="en-US" dirty="0" err="1"/>
              <a:t>、</a:t>
            </a:r>
            <a:endParaRPr kumimoji="1" lang="ja-JP" altLang="en-US" dirty="0"/>
          </a:p>
          <a:p>
            <a:r>
              <a:rPr kumimoji="1" lang="ja-JP" altLang="en-US" dirty="0"/>
              <a:t>彼らは、</a:t>
            </a:r>
            <a:r>
              <a:rPr kumimoji="1" lang="en-US" altLang="ja-JP" dirty="0"/>
              <a:t>3</a:t>
            </a:r>
            <a:r>
              <a:rPr kumimoji="1" lang="ja-JP" altLang="en-US" dirty="0"/>
              <a:t>つ、エドワード、それは、</a:t>
            </a:r>
            <a:r>
              <a:rPr kumimoji="1" lang="en-US" altLang="ja-JP" dirty="0"/>
              <a:t>currier</a:t>
            </a:r>
            <a:r>
              <a:rPr kumimoji="1" lang="ja-JP" altLang="en-US" dirty="0" err="1"/>
              <a:t>、</a:t>
            </a:r>
            <a:r>
              <a:rPr kumimoji="1" lang="ja-JP" altLang="en-US" dirty="0"/>
              <a:t>ある、内、</a:t>
            </a:r>
            <a:r>
              <a:rPr kumimoji="1" lang="en-US" altLang="ja-JP" dirty="0"/>
              <a:t>3</a:t>
            </a:r>
            <a:r>
              <a:rPr kumimoji="1" lang="ja-JP" altLang="en-US" dirty="0"/>
              <a:t>つ、書いた、あなた、</a:t>
            </a:r>
            <a:r>
              <a:rPr kumimoji="1" lang="en-US" altLang="ja-JP" dirty="0"/>
              <a:t>s</a:t>
            </a:r>
            <a:r>
              <a:rPr kumimoji="1" lang="ja-JP" altLang="en-US" dirty="0" err="1"/>
              <a:t>、</a:t>
            </a:r>
            <a:r>
              <a:rPr kumimoji="1" lang="ja-JP" altLang="en-US" dirty="0"/>
              <a:t>長い、機関、歯科、</a:t>
            </a:r>
          </a:p>
          <a:p>
            <a:r>
              <a:rPr kumimoji="1" lang="ja-JP" altLang="en-US" dirty="0"/>
              <a:t>しかし、可能性があります、部屋、隠す、卵、おおよその、財政、カナダ、</a:t>
            </a:r>
          </a:p>
          <a:p>
            <a:r>
              <a:rPr kumimoji="1" lang="ja-JP" altLang="en-US" dirty="0"/>
              <a:t>アドバンテージ、半分、ナスダック間、</a:t>
            </a:r>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51</a:t>
            </a:fld>
            <a:endParaRPr kumimoji="1" lang="ja-JP" altLang="en-US"/>
          </a:p>
        </p:txBody>
      </p:sp>
    </p:spTree>
    <p:extLst>
      <p:ext uri="{BB962C8B-B14F-4D97-AF65-F5344CB8AC3E}">
        <p14:creationId xmlns:p14="http://schemas.microsoft.com/office/powerpoint/2010/main" val="22821589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ユニグラムの大きな問題：</a:t>
            </a:r>
            <a:r>
              <a:rPr kumimoji="1" lang="en-US" altLang="ja-JP" dirty="0"/>
              <a:t>P</a:t>
            </a:r>
            <a:r>
              <a:rPr kumimoji="1" lang="ja-JP" altLang="en-US" dirty="0"/>
              <a:t>（</a:t>
            </a:r>
            <a:r>
              <a:rPr kumimoji="1" lang="en-US" altLang="ja-JP" dirty="0"/>
              <a:t>the </a:t>
            </a:r>
            <a:r>
              <a:rPr kumimoji="1" lang="en-US" altLang="ja-JP" dirty="0" err="1"/>
              <a:t>the</a:t>
            </a:r>
            <a:r>
              <a:rPr kumimoji="1" lang="en-US" altLang="ja-JP" dirty="0"/>
              <a:t> </a:t>
            </a:r>
            <a:r>
              <a:rPr kumimoji="1" lang="en-US" altLang="ja-JP" dirty="0" err="1"/>
              <a:t>the</a:t>
            </a:r>
            <a:r>
              <a:rPr kumimoji="1" lang="ja-JP" altLang="en-US" dirty="0"/>
              <a:t>）</a:t>
            </a:r>
            <a:r>
              <a:rPr kumimoji="1" lang="en-US" altLang="ja-JP" dirty="0"/>
              <a:t>&gt;&gt; P</a:t>
            </a:r>
            <a:r>
              <a:rPr kumimoji="1" lang="ja-JP" altLang="en-US" dirty="0"/>
              <a:t>（私はアイスクリームが好きです）！</a:t>
            </a:r>
          </a:p>
          <a:p>
            <a:r>
              <a:rPr kumimoji="1" lang="ja-JP" altLang="en-US" dirty="0"/>
              <a:t>  前の単語の条件：</a:t>
            </a:r>
          </a:p>
          <a:p>
            <a:r>
              <a:rPr kumimoji="1" lang="ja-JP" altLang="en-US" dirty="0"/>
              <a:t>  明らかにこれが助けになるだろう </a:t>
            </a:r>
            <a:r>
              <a:rPr kumimoji="1" lang="en-US" altLang="ja-JP" dirty="0"/>
              <a:t>- </a:t>
            </a:r>
            <a:r>
              <a:rPr kumimoji="1" lang="ja-JP" altLang="en-US" dirty="0"/>
              <a:t>確率的に言えば、弱い</a:t>
            </a:r>
          </a:p>
          <a:p>
            <a:r>
              <a:rPr kumimoji="1" lang="ja-JP" altLang="en-US" dirty="0"/>
              <a:t>条件付き独立性の仮定（コストとは何か？）</a:t>
            </a:r>
          </a:p>
          <a:p>
            <a:r>
              <a:rPr kumimoji="1" lang="ja-JP" altLang="en-US" dirty="0"/>
              <a:t>  もっと良い？</a:t>
            </a:r>
          </a:p>
          <a:p>
            <a:r>
              <a:rPr kumimoji="1" lang="ja-JP" altLang="en-US" dirty="0"/>
              <a:t>  </a:t>
            </a:r>
            <a:r>
              <a:rPr kumimoji="1" lang="en-US" altLang="ja-JP" dirty="0"/>
              <a:t>[</a:t>
            </a:r>
            <a:r>
              <a:rPr kumimoji="1" lang="ja-JP" altLang="en-US" dirty="0"/>
              <a:t>テキサコ、バラ、一つ、</a:t>
            </a:r>
            <a:r>
              <a:rPr kumimoji="1" lang="en-US" altLang="ja-JP" dirty="0"/>
              <a:t>in</a:t>
            </a:r>
            <a:r>
              <a:rPr kumimoji="1" lang="ja-JP" altLang="en-US" dirty="0" err="1"/>
              <a:t>、</a:t>
            </a:r>
            <a:r>
              <a:rPr kumimoji="1" lang="en-US" altLang="ja-JP" dirty="0"/>
              <a:t>this</a:t>
            </a:r>
            <a:r>
              <a:rPr kumimoji="1" lang="ja-JP" altLang="en-US" dirty="0" err="1"/>
              <a:t>、</a:t>
            </a:r>
            <a:r>
              <a:rPr kumimoji="1" lang="en-US" altLang="ja-JP" dirty="0"/>
              <a:t>issue</a:t>
            </a:r>
            <a:r>
              <a:rPr kumimoji="1" lang="ja-JP" altLang="en-US" dirty="0" err="1"/>
              <a:t>、</a:t>
            </a:r>
            <a:r>
              <a:rPr kumimoji="1" lang="ja-JP" altLang="en-US" dirty="0"/>
              <a:t>追求、成長、</a:t>
            </a:r>
            <a:r>
              <a:rPr kumimoji="1" lang="en-US" altLang="ja-JP" dirty="0"/>
              <a:t>in</a:t>
            </a:r>
            <a:r>
              <a:rPr kumimoji="1" lang="ja-JP" altLang="en-US" dirty="0" err="1"/>
              <a:t>、</a:t>
            </a:r>
            <a:r>
              <a:rPr kumimoji="1" lang="en-US" altLang="ja-JP" dirty="0"/>
              <a:t>a</a:t>
            </a:r>
            <a:r>
              <a:rPr kumimoji="1" lang="ja-JP" altLang="en-US" dirty="0" err="1"/>
              <a:t>、</a:t>
            </a:r>
            <a:r>
              <a:rPr kumimoji="1" lang="ja-JP" altLang="en-US" dirty="0"/>
              <a:t>ボイラー、ハウス、</a:t>
            </a:r>
          </a:p>
          <a:p>
            <a:r>
              <a:rPr kumimoji="1" lang="ja-JP" altLang="en-US" dirty="0"/>
              <a:t>グリア、メキシコ、モーション、コントロール、提案、</a:t>
            </a:r>
            <a:r>
              <a:rPr kumimoji="1" lang="ja-JP" altLang="en-US" dirty="0" err="1"/>
              <a:t>無し</a:t>
            </a:r>
            <a:r>
              <a:rPr kumimoji="1" lang="ja-JP" altLang="en-US" dirty="0"/>
              <a:t>、許可、</a:t>
            </a:r>
            <a:r>
              <a:rPr kumimoji="1" lang="en-US" altLang="ja-JP" dirty="0"/>
              <a:t>from</a:t>
            </a:r>
            <a:r>
              <a:rPr kumimoji="1" lang="ja-JP" altLang="en-US" dirty="0" err="1"/>
              <a:t>、</a:t>
            </a:r>
            <a:r>
              <a:rPr kumimoji="1" lang="en-US" altLang="ja-JP" dirty="0"/>
              <a:t>five</a:t>
            </a:r>
            <a:r>
              <a:rPr kumimoji="1" lang="ja-JP" altLang="en-US" dirty="0" err="1"/>
              <a:t>、</a:t>
            </a:r>
            <a:r>
              <a:rPr kumimoji="1" lang="en-US" altLang="ja-JP" dirty="0"/>
              <a:t>100</a:t>
            </a:r>
            <a:r>
              <a:rPr kumimoji="1" lang="ja-JP" altLang="en-US" dirty="0" err="1"/>
              <a:t>、</a:t>
            </a:r>
            <a:endParaRPr kumimoji="1" lang="ja-JP" altLang="en-US" dirty="0"/>
          </a:p>
          <a:p>
            <a:r>
              <a:rPr kumimoji="1" lang="en-US" altLang="ja-JP" dirty="0"/>
              <a:t>50</a:t>
            </a:r>
            <a:r>
              <a:rPr kumimoji="1" lang="ja-JP" altLang="en-US" dirty="0"/>
              <a:t>円、</a:t>
            </a:r>
            <a:r>
              <a:rPr kumimoji="1" lang="en-US" altLang="ja-JP" dirty="0"/>
              <a:t>5</a:t>
            </a:r>
            <a:r>
              <a:rPr kumimoji="1" lang="ja-JP" altLang="en-US" dirty="0"/>
              <a:t>円</a:t>
            </a:r>
            <a:r>
              <a:rPr kumimoji="1" lang="en-US" altLang="ja-JP" dirty="0"/>
              <a:t>]</a:t>
            </a:r>
          </a:p>
          <a:p>
            <a:r>
              <a:rPr kumimoji="1" lang="en-US" altLang="ja-JP" dirty="0"/>
              <a:t>  [</a:t>
            </a:r>
            <a:r>
              <a:rPr kumimoji="1" lang="ja-JP" altLang="en-US" dirty="0"/>
              <a:t>アウトドア、新車、駐車場、ロット、</a:t>
            </a:r>
            <a:r>
              <a:rPr kumimoji="1" lang="en-US" altLang="ja-JP" dirty="0"/>
              <a:t>of</a:t>
            </a:r>
            <a:r>
              <a:rPr kumimoji="1" lang="ja-JP" altLang="en-US" dirty="0" err="1"/>
              <a:t>、</a:t>
            </a:r>
            <a:r>
              <a:rPr kumimoji="1" lang="en-US" altLang="ja-JP" dirty="0"/>
              <a:t>the</a:t>
            </a:r>
            <a:r>
              <a:rPr kumimoji="1" lang="ja-JP" altLang="en-US" dirty="0" err="1"/>
              <a:t>、</a:t>
            </a:r>
            <a:r>
              <a:rPr kumimoji="1" lang="en-US" altLang="ja-JP" dirty="0"/>
              <a:t>agreement</a:t>
            </a:r>
            <a:r>
              <a:rPr kumimoji="1" lang="ja-JP" altLang="en-US" dirty="0" err="1"/>
              <a:t>、</a:t>
            </a:r>
            <a:r>
              <a:rPr kumimoji="1" lang="en-US" altLang="ja-JP" dirty="0"/>
              <a:t>reached]</a:t>
            </a:r>
          </a:p>
          <a:p>
            <a:r>
              <a:rPr kumimoji="1" lang="en-US" altLang="ja-JP" dirty="0"/>
              <a:t>  [</a:t>
            </a:r>
            <a:r>
              <a:rPr kumimoji="1" lang="ja-JP" altLang="en-US" dirty="0"/>
              <a:t>一般的な、株式、バラ、</a:t>
            </a:r>
            <a:r>
              <a:rPr kumimoji="1" lang="en-US" altLang="ja-JP" dirty="0"/>
              <a:t>40</a:t>
            </a:r>
            <a:r>
              <a:rPr kumimoji="1" lang="ja-JP" altLang="en-US" dirty="0" err="1"/>
              <a:t>、</a:t>
            </a:r>
            <a:r>
              <a:rPr kumimoji="1" lang="en-US" altLang="ja-JP" dirty="0"/>
              <a:t>6</a:t>
            </a:r>
            <a:r>
              <a:rPr kumimoji="1" lang="ja-JP" altLang="en-US" dirty="0" err="1"/>
              <a:t>、</a:t>
            </a:r>
            <a:r>
              <a:rPr kumimoji="1" lang="ja-JP" altLang="en-US" dirty="0"/>
              <a:t>ポイント、</a:t>
            </a:r>
            <a:r>
              <a:rPr kumimoji="1" lang="en-US" altLang="ja-JP" dirty="0"/>
              <a:t>4</a:t>
            </a:r>
            <a:r>
              <a:rPr kumimoji="1" lang="ja-JP" altLang="en-US" dirty="0" err="1"/>
              <a:t>、</a:t>
            </a:r>
            <a:r>
              <a:rPr kumimoji="1" lang="en-US" altLang="ja-JP" dirty="0"/>
              <a:t>100</a:t>
            </a:r>
            <a:r>
              <a:rPr kumimoji="1" lang="ja-JP" altLang="en-US" dirty="0" err="1"/>
              <a:t>、</a:t>
            </a:r>
            <a:r>
              <a:rPr kumimoji="1" lang="ja-JP" altLang="en-US" dirty="0"/>
              <a:t>ドル、から、</a:t>
            </a:r>
            <a:r>
              <a:rPr kumimoji="1" lang="en-US" altLang="ja-JP" dirty="0"/>
              <a:t>30</a:t>
            </a:r>
            <a:r>
              <a:rPr kumimoji="1" lang="ja-JP" altLang="en-US" dirty="0" err="1"/>
              <a:t>、</a:t>
            </a:r>
            <a:endParaRPr kumimoji="1" lang="ja-JP" altLang="en-US" dirty="0"/>
          </a:p>
          <a:p>
            <a:r>
              <a:rPr kumimoji="1" lang="ja-JP" altLang="en-US" dirty="0"/>
              <a:t>秒、</a:t>
            </a:r>
            <a:r>
              <a:rPr kumimoji="1" lang="en-US" altLang="ja-JP" dirty="0"/>
              <a:t>at</a:t>
            </a:r>
            <a:r>
              <a:rPr kumimoji="1" lang="ja-JP" altLang="en-US" dirty="0" err="1"/>
              <a:t>、</a:t>
            </a:r>
            <a:r>
              <a:rPr kumimoji="1" lang="en-US" altLang="ja-JP" dirty="0"/>
              <a:t>the</a:t>
            </a:r>
            <a:r>
              <a:rPr kumimoji="1" lang="ja-JP" altLang="en-US" dirty="0" err="1"/>
              <a:t>、</a:t>
            </a:r>
            <a:r>
              <a:rPr kumimoji="1" lang="ja-JP" altLang="en-US" dirty="0"/>
              <a:t>偉大な、遊ぶ、</a:t>
            </a:r>
            <a:r>
              <a:rPr kumimoji="1" lang="en-US" altLang="ja-JP" dirty="0"/>
              <a:t>disingenuous</a:t>
            </a:r>
            <a:r>
              <a:rPr kumimoji="1" lang="ja-JP" altLang="en-US" dirty="0" err="1"/>
              <a:t>、</a:t>
            </a:r>
            <a:r>
              <a:rPr kumimoji="1" lang="en-US" altLang="ja-JP" dirty="0"/>
              <a:t>to</a:t>
            </a:r>
            <a:r>
              <a:rPr kumimoji="1" lang="ja-JP" altLang="en-US" dirty="0" err="1"/>
              <a:t>、</a:t>
            </a:r>
            <a:r>
              <a:rPr kumimoji="1" lang="en-US" altLang="ja-JP" dirty="0"/>
              <a:t>be</a:t>
            </a:r>
            <a:r>
              <a:rPr kumimoji="1" lang="ja-JP" altLang="en-US" dirty="0" err="1"/>
              <a:t>、</a:t>
            </a:r>
            <a:r>
              <a:rPr kumimoji="1" lang="ja-JP" altLang="en-US" dirty="0"/>
              <a:t>リセット、毎年、買い、</a:t>
            </a:r>
            <a:r>
              <a:rPr kumimoji="1" lang="en-US" altLang="ja-JP" dirty="0"/>
              <a:t>out</a:t>
            </a:r>
            <a:r>
              <a:rPr kumimoji="1" lang="ja-JP" altLang="en-US" dirty="0" err="1"/>
              <a:t>、</a:t>
            </a:r>
            <a:r>
              <a:rPr kumimoji="1" lang="en-US" altLang="ja-JP" dirty="0"/>
              <a:t>of</a:t>
            </a:r>
            <a:r>
              <a:rPr kumimoji="1" lang="ja-JP" altLang="en-US" dirty="0" err="1"/>
              <a:t>、</a:t>
            </a:r>
            <a:endParaRPr kumimoji="1" lang="ja-JP" altLang="en-US" dirty="0"/>
          </a:p>
          <a:p>
            <a:r>
              <a:rPr kumimoji="1" lang="ja-JP" altLang="en-US" dirty="0"/>
              <a:t>アメリカ、ブランド、競争、</a:t>
            </a:r>
            <a:r>
              <a:rPr kumimoji="1" lang="en-US" altLang="ja-JP" dirty="0"/>
              <a:t>for</a:t>
            </a:r>
            <a:r>
              <a:rPr kumimoji="1" lang="ja-JP" altLang="en-US" dirty="0" err="1"/>
              <a:t>、</a:t>
            </a:r>
            <a:r>
              <a:rPr kumimoji="1" lang="en-US" altLang="ja-JP" dirty="0" err="1"/>
              <a:t>mr</a:t>
            </a:r>
            <a:r>
              <a:rPr kumimoji="1" lang="ja-JP" altLang="en-US" dirty="0" err="1"/>
              <a:t>。</a:t>
            </a:r>
            <a:r>
              <a:rPr kumimoji="1" lang="ja-JP" altLang="en-US" dirty="0"/>
              <a:t>、</a:t>
            </a:r>
            <a:r>
              <a:rPr kumimoji="1" lang="en-US" altLang="ja-JP" dirty="0" err="1"/>
              <a:t>womack</a:t>
            </a:r>
            <a:r>
              <a:rPr kumimoji="1" lang="ja-JP" altLang="en-US" dirty="0" err="1"/>
              <a:t>、</a:t>
            </a:r>
            <a:r>
              <a:rPr kumimoji="1" lang="ja-JP" altLang="en-US" dirty="0"/>
              <a:t>現在、</a:t>
            </a:r>
            <a:r>
              <a:rPr kumimoji="1" lang="en-US" altLang="ja-JP" dirty="0" err="1"/>
              <a:t>sharedata</a:t>
            </a:r>
            <a:r>
              <a:rPr kumimoji="1" lang="ja-JP" altLang="en-US" dirty="0" err="1"/>
              <a:t>、</a:t>
            </a:r>
            <a:r>
              <a:rPr kumimoji="1" lang="ja-JP" altLang="en-US" dirty="0"/>
              <a:t>組み込まれた、信じて、</a:t>
            </a:r>
          </a:p>
          <a:p>
            <a:r>
              <a:rPr kumimoji="1" lang="ja-JP" altLang="en-US" dirty="0"/>
              <a:t>化学物質、価格、間違いなく、そうであろう、そうであろうと、予定されている、良心的な、</a:t>
            </a:r>
          </a:p>
          <a:p>
            <a:r>
              <a:rPr kumimoji="1" lang="ja-JP" altLang="en-US" dirty="0"/>
              <a:t>教える</a:t>
            </a:r>
            <a:r>
              <a:rPr kumimoji="1" lang="en-US" altLang="ja-JP" dirty="0"/>
              <a:t>]</a:t>
            </a:r>
          </a:p>
          <a:p>
            <a:r>
              <a:rPr kumimoji="1" lang="en-US" altLang="ja-JP" dirty="0"/>
              <a:t>  [</a:t>
            </a:r>
            <a:r>
              <a:rPr kumimoji="1" lang="ja-JP" altLang="en-US" dirty="0"/>
              <a:t>これ、ある、ある、記録、</a:t>
            </a:r>
            <a:r>
              <a:rPr kumimoji="1" lang="en-US" altLang="ja-JP" dirty="0"/>
              <a:t>11</a:t>
            </a:r>
            <a:r>
              <a:rPr kumimoji="1" lang="ja-JP" altLang="en-US" dirty="0"/>
              <a:t>月</a:t>
            </a:r>
            <a:r>
              <a:rPr kumimoji="1" lang="en-US" altLang="ja-JP" dirty="0"/>
              <a:t>]</a:t>
            </a:r>
            <a:endParaRPr kumimoji="1" lang="ja-JP" altLang="en-US" dirty="0"/>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52</a:t>
            </a:fld>
            <a:endParaRPr kumimoji="1" lang="ja-JP" altLang="en-US"/>
          </a:p>
        </p:txBody>
      </p:sp>
    </p:spTree>
    <p:extLst>
      <p:ext uri="{BB962C8B-B14F-4D97-AF65-F5344CB8AC3E}">
        <p14:creationId xmlns:p14="http://schemas.microsoft.com/office/powerpoint/2010/main" val="8505523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原理的には、</a:t>
            </a:r>
            <a:r>
              <a:rPr kumimoji="1" lang="en-US" altLang="ja-JP" dirty="0"/>
              <a:t>n</a:t>
            </a:r>
            <a:r>
              <a:rPr kumimoji="1" lang="ja-JP" altLang="en-US" dirty="0"/>
              <a:t>グラムの</a:t>
            </a:r>
            <a:r>
              <a:rPr kumimoji="1" lang="en-US" altLang="ja-JP" dirty="0"/>
              <a:t>n</a:t>
            </a:r>
            <a:r>
              <a:rPr kumimoji="1" lang="ja-JP" altLang="en-US" dirty="0"/>
              <a:t>を大きくしたい</a:t>
            </a:r>
          </a:p>
          <a:p>
            <a:r>
              <a:rPr kumimoji="1" lang="ja-JP" altLang="en-US" dirty="0"/>
              <a:t>緑</a:t>
            </a:r>
          </a:p>
          <a:p>
            <a:r>
              <a:rPr kumimoji="1" lang="ja-JP" altLang="en-US" dirty="0"/>
              <a:t>大きな緑</a:t>
            </a:r>
          </a:p>
          <a:p>
            <a:r>
              <a:rPr kumimoji="1" lang="ja-JP" altLang="en-US" dirty="0"/>
              <a:t>大きな緑</a:t>
            </a:r>
          </a:p>
          <a:p>
            <a:r>
              <a:rPr kumimoji="1" lang="ja-JP" altLang="en-US" dirty="0"/>
              <a:t>大きな緑を飲み込んだ</a:t>
            </a:r>
          </a:p>
          <a:p>
            <a:r>
              <a:rPr kumimoji="1" lang="ja-JP" altLang="en-US" dirty="0"/>
              <a:t>飲み込まれて次の言葉の選択に影響を与えるべきである（山はありそうもない、より高い可能性が高い）</a:t>
            </a:r>
          </a:p>
          <a:p>
            <a:r>
              <a:rPr kumimoji="1" lang="ja-JP" altLang="en-US" dirty="0"/>
              <a:t>ワニは大きな緑を飲み込んだ</a:t>
            </a:r>
            <a:r>
              <a:rPr kumimoji="1" lang="en-US" altLang="ja-JP" dirty="0"/>
              <a:t>..</a:t>
            </a:r>
          </a:p>
          <a:p>
            <a:r>
              <a:rPr kumimoji="1" lang="ja-JP" altLang="en-US" dirty="0"/>
              <a:t>メアリーは大きな緑を飲み込んだ</a:t>
            </a:r>
            <a:r>
              <a:rPr kumimoji="1" lang="en-US" altLang="ja-JP" dirty="0"/>
              <a:t>..</a:t>
            </a:r>
          </a:p>
          <a:p>
            <a:r>
              <a:rPr kumimoji="1" lang="ja-JP" altLang="en-US" dirty="0"/>
              <a:t>等々</a:t>
            </a:r>
            <a:r>
              <a:rPr kumimoji="1" lang="en-US" altLang="ja-JP" dirty="0"/>
              <a:t>…</a:t>
            </a:r>
            <a:endParaRPr kumimoji="1" lang="ja-JP" altLang="en-US" dirty="0"/>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54</a:t>
            </a:fld>
            <a:endParaRPr kumimoji="1" lang="ja-JP" altLang="en-US"/>
          </a:p>
        </p:txBody>
      </p:sp>
    </p:spTree>
    <p:extLst>
      <p:ext uri="{BB962C8B-B14F-4D97-AF65-F5344CB8AC3E}">
        <p14:creationId xmlns:p14="http://schemas.microsoft.com/office/powerpoint/2010/main" val="35457085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より長い歴史（大きな</a:t>
            </a:r>
            <a:r>
              <a:rPr kumimoji="1" lang="en-US" altLang="ja-JP" dirty="0"/>
              <a:t>n</a:t>
            </a:r>
            <a:r>
              <a:rPr kumimoji="1" lang="ja-JP" altLang="en-US" dirty="0"/>
              <a:t>）を見ると、より良い予測（より良い差別）をすることができます。</a:t>
            </a:r>
          </a:p>
          <a:p>
            <a:r>
              <a:rPr kumimoji="1" lang="ja-JP" altLang="en-US" dirty="0"/>
              <a:t>しかし、推定するパラメータの数が大きすぎるため、信頼できる統計を得ることはずっと難しい</a:t>
            </a:r>
          </a:p>
          <a:p>
            <a:r>
              <a:rPr kumimoji="1" lang="ja-JP" altLang="en-US" dirty="0"/>
              <a:t>  </a:t>
            </a:r>
            <a:r>
              <a:rPr kumimoji="1" lang="en-US" altLang="ja-JP" dirty="0"/>
              <a:t>n</a:t>
            </a:r>
            <a:r>
              <a:rPr kumimoji="1" lang="ja-JP" altLang="en-US" dirty="0"/>
              <a:t>が大きいほど、推定するパラメータの数が多いほど、統計的に信頼性の高い推定を行うために必要なデータが大きくなります</a:t>
            </a:r>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55</a:t>
            </a:fld>
            <a:endParaRPr kumimoji="1" lang="ja-JP" altLang="en-US"/>
          </a:p>
        </p:txBody>
      </p:sp>
    </p:spTree>
    <p:extLst>
      <p:ext uri="{BB962C8B-B14F-4D97-AF65-F5344CB8AC3E}">
        <p14:creationId xmlns:p14="http://schemas.microsoft.com/office/powerpoint/2010/main" val="6090755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ボキャブラリの</a:t>
            </a:r>
            <a:r>
              <a:rPr kumimoji="1" lang="en-US" altLang="ja-JP" dirty="0"/>
              <a:t>N</a:t>
            </a:r>
            <a:r>
              <a:rPr kumimoji="1" lang="ja-JP" altLang="en-US" dirty="0"/>
              <a:t>サイズ</a:t>
            </a:r>
          </a:p>
          <a:p>
            <a:r>
              <a:rPr kumimoji="1" lang="en-US" altLang="ja-JP" dirty="0"/>
              <a:t>Unigrams</a:t>
            </a:r>
          </a:p>
          <a:p>
            <a:r>
              <a:rPr kumimoji="1" lang="ja-JP" altLang="en-US" dirty="0"/>
              <a:t>各</a:t>
            </a:r>
            <a:r>
              <a:rPr kumimoji="1" lang="en-US" altLang="ja-JP" dirty="0"/>
              <a:t>w </a:t>
            </a:r>
            <a:r>
              <a:rPr kumimoji="1" lang="en-US" altLang="ja-JP" dirty="0" err="1"/>
              <a:t>i</a:t>
            </a:r>
            <a:r>
              <a:rPr kumimoji="1" lang="ja-JP" altLang="en-US" dirty="0"/>
              <a:t>が</a:t>
            </a:r>
            <a:r>
              <a:rPr kumimoji="1" lang="en-US" altLang="ja-JP" dirty="0"/>
              <a:t>P</a:t>
            </a:r>
            <a:r>
              <a:rPr kumimoji="1" lang="ja-JP" altLang="en-US" dirty="0"/>
              <a:t>（</a:t>
            </a:r>
            <a:r>
              <a:rPr kumimoji="1" lang="en-US" altLang="ja-JP" dirty="0"/>
              <a:t>w </a:t>
            </a:r>
            <a:r>
              <a:rPr kumimoji="1" lang="en-US" altLang="ja-JP" dirty="0" err="1"/>
              <a:t>i</a:t>
            </a:r>
            <a:r>
              <a:rPr kumimoji="1" lang="ja-JP" altLang="en-US" dirty="0"/>
              <a:t>）を計算するために：</a:t>
            </a:r>
          </a:p>
          <a:p>
            <a:r>
              <a:rPr kumimoji="1" lang="ja-JP" altLang="en-US" dirty="0"/>
              <a:t>そのような数の</a:t>
            </a:r>
            <a:r>
              <a:rPr kumimoji="1" lang="en-US" altLang="ja-JP" dirty="0"/>
              <a:t>N</a:t>
            </a:r>
            <a:r>
              <a:rPr kumimoji="1" lang="ja-JP" altLang="en-US" dirty="0"/>
              <a:t>：</a:t>
            </a:r>
            <a:r>
              <a:rPr kumimoji="1" lang="en-US" altLang="ja-JP" dirty="0"/>
              <a:t>N</a:t>
            </a:r>
            <a:r>
              <a:rPr kumimoji="1" lang="ja-JP" altLang="en-US" dirty="0"/>
              <a:t>個のパラメータ</a:t>
            </a:r>
          </a:p>
          <a:p>
            <a:endParaRPr kumimoji="1" lang="ja-JP" altLang="en-US" dirty="0"/>
          </a:p>
          <a:p>
            <a:r>
              <a:rPr kumimoji="1" lang="ja-JP" altLang="en-US" dirty="0"/>
              <a:t>バイグラム</a:t>
            </a:r>
          </a:p>
          <a:p>
            <a:r>
              <a:rPr kumimoji="1" lang="ja-JP" altLang="en-US" dirty="0"/>
              <a:t>各</a:t>
            </a:r>
            <a:r>
              <a:rPr kumimoji="1" lang="en-US" altLang="ja-JP" dirty="0"/>
              <a:t>w </a:t>
            </a:r>
            <a:r>
              <a:rPr kumimoji="1" lang="en-US" altLang="ja-JP" dirty="0" err="1"/>
              <a:t>i</a:t>
            </a:r>
            <a:r>
              <a:rPr kumimoji="1" lang="ja-JP" altLang="en-US" dirty="0"/>
              <a:t>について、</a:t>
            </a:r>
            <a:r>
              <a:rPr kumimoji="1" lang="en-US" altLang="ja-JP" dirty="0"/>
              <a:t>w j</a:t>
            </a:r>
          </a:p>
          <a:p>
            <a:r>
              <a:rPr kumimoji="1" lang="en-US" altLang="ja-JP" dirty="0"/>
              <a:t>P</a:t>
            </a:r>
            <a:r>
              <a:rPr kumimoji="1" lang="ja-JP" altLang="en-US" dirty="0"/>
              <a:t>（</a:t>
            </a:r>
            <a:r>
              <a:rPr kumimoji="1" lang="en-US" altLang="ja-JP" dirty="0"/>
              <a:t>w </a:t>
            </a:r>
            <a:r>
              <a:rPr kumimoji="1" lang="en-US" altLang="ja-JP" dirty="0" err="1"/>
              <a:t>i</a:t>
            </a:r>
            <a:r>
              <a:rPr kumimoji="1" lang="en-US" altLang="ja-JP" dirty="0"/>
              <a:t> | w j</a:t>
            </a:r>
            <a:r>
              <a:rPr kumimoji="1" lang="ja-JP" altLang="en-US" dirty="0"/>
              <a:t>）を計算する：</a:t>
            </a:r>
            <a:r>
              <a:rPr kumimoji="1" lang="en-US" altLang="ja-JP" dirty="0"/>
              <a:t>N x N</a:t>
            </a:r>
            <a:r>
              <a:rPr kumimoji="1" lang="ja-JP" altLang="en-US" dirty="0"/>
              <a:t>個のパラメータ</a:t>
            </a:r>
          </a:p>
          <a:p>
            <a:endParaRPr kumimoji="1" lang="ja-JP" altLang="en-US" dirty="0"/>
          </a:p>
          <a:p>
            <a:r>
              <a:rPr kumimoji="1" lang="ja-JP" altLang="en-US" dirty="0"/>
              <a:t>トリグラム</a:t>
            </a:r>
          </a:p>
          <a:p>
            <a:r>
              <a:rPr kumimoji="1" lang="ja-JP" altLang="en-US" dirty="0"/>
              <a:t>各</a:t>
            </a:r>
            <a:r>
              <a:rPr kumimoji="1" lang="en-US" altLang="ja-JP" dirty="0" err="1"/>
              <a:t>wi</a:t>
            </a:r>
            <a:r>
              <a:rPr kumimoji="1" lang="ja-JP" altLang="en-US" dirty="0"/>
              <a:t>について、</a:t>
            </a:r>
            <a:r>
              <a:rPr kumimoji="1" lang="en-US" altLang="ja-JP" dirty="0" err="1"/>
              <a:t>wj</a:t>
            </a:r>
            <a:r>
              <a:rPr kumimoji="1" lang="en-US" altLang="ja-JP" dirty="0"/>
              <a:t> </a:t>
            </a:r>
            <a:r>
              <a:rPr kumimoji="1" lang="en-US" altLang="ja-JP" dirty="0" err="1"/>
              <a:t>wk</a:t>
            </a:r>
            <a:endParaRPr kumimoji="1" lang="en-US" altLang="ja-JP" dirty="0"/>
          </a:p>
          <a:p>
            <a:r>
              <a:rPr kumimoji="1" lang="en-US" altLang="ja-JP" dirty="0"/>
              <a:t>P</a:t>
            </a:r>
            <a:r>
              <a:rPr kumimoji="1" lang="ja-JP" altLang="en-US" dirty="0"/>
              <a:t>（</a:t>
            </a:r>
            <a:r>
              <a:rPr kumimoji="1" lang="en-US" altLang="ja-JP" dirty="0"/>
              <a:t>w </a:t>
            </a:r>
            <a:r>
              <a:rPr kumimoji="1" lang="en-US" altLang="ja-JP" dirty="0" err="1"/>
              <a:t>i</a:t>
            </a:r>
            <a:r>
              <a:rPr kumimoji="1" lang="en-US" altLang="ja-JP" dirty="0"/>
              <a:t> | w j</a:t>
            </a:r>
            <a:r>
              <a:rPr kumimoji="1" lang="ja-JP" altLang="en-US" dirty="0" err="1"/>
              <a:t>、</a:t>
            </a:r>
            <a:r>
              <a:rPr kumimoji="1" lang="en-US" altLang="ja-JP" dirty="0"/>
              <a:t>w k</a:t>
            </a:r>
            <a:r>
              <a:rPr kumimoji="1" lang="ja-JP" altLang="en-US" dirty="0"/>
              <a:t>）を計算する：</a:t>
            </a:r>
            <a:r>
              <a:rPr kumimoji="1" lang="en-US" altLang="ja-JP" dirty="0"/>
              <a:t>N x N x N</a:t>
            </a:r>
            <a:r>
              <a:rPr kumimoji="1" lang="ja-JP" altLang="en-US" dirty="0"/>
              <a:t>個のパラメータ</a:t>
            </a:r>
          </a:p>
        </p:txBody>
      </p:sp>
      <p:sp>
        <p:nvSpPr>
          <p:cNvPr id="4" name="スライド番号プレースホルダー 3"/>
          <p:cNvSpPr>
            <a:spLocks noGrp="1"/>
          </p:cNvSpPr>
          <p:nvPr>
            <p:ph type="sldNum" sz="quarter" idx="10"/>
          </p:nvPr>
        </p:nvSpPr>
        <p:spPr/>
        <p:txBody>
          <a:bodyPr/>
          <a:lstStyle/>
          <a:p>
            <a:fld id="{B955A716-7CAD-46C6-8549-70846B7820FF}" type="slidenum">
              <a:rPr kumimoji="1" lang="ja-JP" altLang="en-US" smtClean="0"/>
              <a:t>56</a:t>
            </a:fld>
            <a:endParaRPr kumimoji="1" lang="ja-JP" altLang="en-US"/>
          </a:p>
        </p:txBody>
      </p:sp>
    </p:spTree>
    <p:extLst>
      <p:ext uri="{BB962C8B-B14F-4D97-AF65-F5344CB8AC3E}">
        <p14:creationId xmlns:p14="http://schemas.microsoft.com/office/powerpoint/2010/main" val="28159253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単語の</a:t>
            </a:r>
            <a:r>
              <a:rPr kumimoji="1" lang="en-US" altLang="ja-JP" dirty="0"/>
              <a:t>POS</a:t>
            </a:r>
            <a:r>
              <a:rPr kumimoji="1" lang="ja-JP" altLang="en-US" dirty="0"/>
              <a:t>は、その単語と隣接する単語について多くのことを教えてくれます。</a:t>
            </a:r>
          </a:p>
          <a:p>
            <a:r>
              <a:rPr kumimoji="1" lang="ja-JP" altLang="en-US" dirty="0"/>
              <a:t>意味の範囲を制限する </a:t>
            </a:r>
            <a:r>
              <a:rPr kumimoji="1" lang="en-US" altLang="ja-JP" dirty="0"/>
              <a:t>(deal)</a:t>
            </a:r>
            <a:r>
              <a:rPr kumimoji="1" lang="ja-JP" altLang="en-US" dirty="0"/>
              <a:t>、発音 </a:t>
            </a:r>
            <a:r>
              <a:rPr kumimoji="1" lang="en-US" altLang="ja-JP" dirty="0"/>
              <a:t>(text to speech) (object vs object, record)</a:t>
            </a:r>
            <a:r>
              <a:rPr kumimoji="1" lang="ja-JP" altLang="en-US" dirty="0"/>
              <a:t>、またはその両方 </a:t>
            </a:r>
            <a:r>
              <a:rPr kumimoji="1" lang="en-US" altLang="ja-JP" dirty="0"/>
              <a:t>(wind)</a:t>
            </a:r>
          </a:p>
          <a:p>
            <a:r>
              <a:rPr kumimoji="1" lang="ja-JP" altLang="en-US" dirty="0"/>
              <a:t>語幹処理に役立つ</a:t>
            </a:r>
            <a:r>
              <a:rPr kumimoji="1" lang="en-US" altLang="ja-JP" dirty="0"/>
              <a:t>: saw[v] → see</a:t>
            </a:r>
            <a:r>
              <a:rPr kumimoji="1" lang="ja-JP" altLang="en-US" dirty="0"/>
              <a:t>、</a:t>
            </a:r>
            <a:r>
              <a:rPr kumimoji="1" lang="en-US" altLang="ja-JP" dirty="0"/>
              <a:t>saw[n] → saw</a:t>
            </a:r>
          </a:p>
          <a:p>
            <a:r>
              <a:rPr kumimoji="1" lang="ja-JP" altLang="en-US" dirty="0"/>
              <a:t>後続する単語の範囲を限定する </a:t>
            </a:r>
          </a:p>
          <a:p>
            <a:r>
              <a:rPr kumimoji="1" lang="ja-JP" altLang="en-US" dirty="0"/>
              <a:t>文書から名詞を選択して要約するのに役立つ</a:t>
            </a:r>
          </a:p>
          <a:p>
            <a:r>
              <a:rPr kumimoji="1" lang="ja-JP" altLang="en-US" dirty="0"/>
              <a:t>部分解析（チャンク解析）の基本</a:t>
            </a:r>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24BC7835-350D-4FB6-B7CC-0A8CD722ACEB}" type="slidenum">
              <a:rPr kumimoji="1" lang="ja-JP" altLang="en-US" smtClean="0"/>
              <a:t>58</a:t>
            </a:fld>
            <a:endParaRPr kumimoji="1" lang="ja-JP" altLang="en-US"/>
          </a:p>
        </p:txBody>
      </p:sp>
    </p:spTree>
    <p:extLst>
      <p:ext uri="{BB962C8B-B14F-4D97-AF65-F5344CB8AC3E}">
        <p14:creationId xmlns:p14="http://schemas.microsoft.com/office/powerpoint/2010/main" val="32251147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タグセットの選択は問題の難易度に大きく影響する</a:t>
            </a:r>
          </a:p>
          <a:p>
            <a:r>
              <a:rPr kumimoji="1" lang="ja-JP" altLang="en-US" dirty="0"/>
              <a:t>以下のバランスをとる必要がある</a:t>
            </a:r>
          </a:p>
          <a:p>
            <a:r>
              <a:rPr kumimoji="1" lang="ja-JP" altLang="en-US" dirty="0"/>
              <a:t>文脈に関するより良い情報を得る </a:t>
            </a:r>
          </a:p>
          <a:p>
            <a:r>
              <a:rPr kumimoji="1" lang="ja-JP" altLang="en-US" dirty="0"/>
              <a:t>分類器が仕事をすることを可能にする</a:t>
            </a:r>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24BC7835-350D-4FB6-B7CC-0A8CD722ACEB}" type="slidenum">
              <a:rPr kumimoji="1" lang="ja-JP" altLang="en-US" smtClean="0"/>
              <a:t>60</a:t>
            </a:fld>
            <a:endParaRPr kumimoji="1" lang="ja-JP" altLang="en-US"/>
          </a:p>
        </p:txBody>
      </p:sp>
    </p:spTree>
    <p:extLst>
      <p:ext uri="{BB962C8B-B14F-4D97-AF65-F5344CB8AC3E}">
        <p14:creationId xmlns:p14="http://schemas.microsoft.com/office/powerpoint/2010/main" val="27706956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ユニグラムタガーは、単純な統計的アルゴリズムに基づいています。各トークンに対して、その特定のトークンに最も適したタグを割り当てます。</a:t>
            </a:r>
          </a:p>
          <a:p>
            <a:r>
              <a:rPr kumimoji="1" lang="ja-JP" altLang="en-US" dirty="0"/>
              <a:t>たとえば、</a:t>
            </a:r>
            <a:r>
              <a:rPr kumimoji="1" lang="en-US" altLang="ja-JP" dirty="0"/>
              <a:t>frequent </a:t>
            </a:r>
            <a:r>
              <a:rPr kumimoji="1" lang="ja-JP" altLang="en-US" dirty="0"/>
              <a:t>という単語は、動詞として使われるよりも形容詞として使われることが多いため </a:t>
            </a:r>
            <a:r>
              <a:rPr kumimoji="1" lang="en-US" altLang="ja-JP" dirty="0"/>
              <a:t>(</a:t>
            </a:r>
            <a:r>
              <a:rPr kumimoji="1" lang="ja-JP" altLang="en-US" dirty="0"/>
              <a:t>例</a:t>
            </a:r>
            <a:r>
              <a:rPr kumimoji="1" lang="en-US" altLang="ja-JP" dirty="0"/>
              <a:t>: a frequent word)</a:t>
            </a:r>
            <a:r>
              <a:rPr kumimoji="1" lang="ja-JP" altLang="en-US" dirty="0"/>
              <a:t>、</a:t>
            </a:r>
            <a:r>
              <a:rPr kumimoji="1" lang="en-US" altLang="ja-JP" dirty="0"/>
              <a:t>JJ </a:t>
            </a:r>
            <a:r>
              <a:rPr kumimoji="1" lang="ja-JP" altLang="en-US" dirty="0"/>
              <a:t>というタグが割り当てられます。</a:t>
            </a:r>
          </a:p>
        </p:txBody>
      </p:sp>
      <p:sp>
        <p:nvSpPr>
          <p:cNvPr id="4" name="スライド番号プレースホルダー 3"/>
          <p:cNvSpPr>
            <a:spLocks noGrp="1"/>
          </p:cNvSpPr>
          <p:nvPr>
            <p:ph type="sldNum" sz="quarter" idx="5"/>
          </p:nvPr>
        </p:nvSpPr>
        <p:spPr/>
        <p:txBody>
          <a:bodyPr/>
          <a:lstStyle/>
          <a:p>
            <a:fld id="{24BC7835-350D-4FB6-B7CC-0A8CD722ACEB}" type="slidenum">
              <a:rPr kumimoji="1" lang="ja-JP" altLang="en-US" smtClean="0"/>
              <a:t>64</a:t>
            </a:fld>
            <a:endParaRPr kumimoji="1" lang="ja-JP" altLang="en-US"/>
          </a:p>
        </p:txBody>
      </p:sp>
    </p:spTree>
    <p:extLst>
      <p:ext uri="{BB962C8B-B14F-4D97-AF65-F5344CB8AC3E}">
        <p14:creationId xmlns:p14="http://schemas.microsoft.com/office/powerpoint/2010/main" val="3614924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タガーを初期化する際に、パラメータとしてタグ付き文データを指定することで、</a:t>
            </a:r>
            <a:r>
              <a:rPr kumimoji="1" lang="en-US" altLang="ja-JP" dirty="0" err="1"/>
              <a:t>UnigramTagger</a:t>
            </a:r>
            <a:r>
              <a:rPr kumimoji="1" lang="ja-JP" altLang="en-US" dirty="0"/>
              <a:t>を学習する。学習過程では、各単語のタグを検査し、任意の単語に対して最も可能性の高いタグをタガー内部に格納されている辞書に格納する。</a:t>
            </a:r>
          </a:p>
          <a:p>
            <a:r>
              <a:rPr kumimoji="1" lang="ja-JP" altLang="en-US" dirty="0"/>
              <a:t>注意しなければならないのは、同じデータでテストしないことです。トレーニングデータを記憶するだけで、一般的なモデルを構築しようとしないタガーは、満点を得ることができますが、新しいテキストのタグ付けには使えないでしょう。</a:t>
            </a:r>
          </a:p>
          <a:p>
            <a:r>
              <a:rPr kumimoji="1" lang="ja-JP" altLang="en-US" dirty="0"/>
              <a:t>代わりに、データを分割し、</a:t>
            </a:r>
            <a:r>
              <a:rPr kumimoji="1" lang="en-US" altLang="ja-JP" dirty="0"/>
              <a:t>90%</a:t>
            </a:r>
            <a:r>
              <a:rPr kumimoji="1" lang="ja-JP" altLang="en-US" dirty="0"/>
              <a:t>でトレーニングを行い、残りの</a:t>
            </a:r>
            <a:r>
              <a:rPr kumimoji="1" lang="en-US" altLang="ja-JP" dirty="0"/>
              <a:t>10%(</a:t>
            </a:r>
            <a:r>
              <a:rPr kumimoji="1" lang="ja-JP" altLang="en-US" dirty="0"/>
              <a:t>または</a:t>
            </a:r>
            <a:r>
              <a:rPr kumimoji="1" lang="en-US" altLang="ja-JP" dirty="0"/>
              <a:t>75%</a:t>
            </a:r>
            <a:r>
              <a:rPr kumimoji="1" lang="ja-JP" altLang="en-US" dirty="0"/>
              <a:t>と</a:t>
            </a:r>
            <a:r>
              <a:rPr kumimoji="1" lang="en-US" altLang="ja-JP" dirty="0"/>
              <a:t>25%)</a:t>
            </a:r>
            <a:r>
              <a:rPr kumimoji="1" lang="ja-JP" altLang="en-US" dirty="0"/>
              <a:t>でテストを行う必要があります。</a:t>
            </a:r>
          </a:p>
          <a:p>
            <a:r>
              <a:rPr kumimoji="1" lang="ja-JP" altLang="en-US" dirty="0"/>
              <a:t>以前に見たことのないテキストに対するパフォーマンスを計算します。</a:t>
            </a:r>
          </a:p>
          <a:p>
            <a:r>
              <a:rPr kumimoji="1" lang="ja-JP" altLang="en-US" dirty="0"/>
              <a:t>注：これは学習システムの一般的な手順です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24BC7835-350D-4FB6-B7CC-0A8CD722ACEB}" type="slidenum">
              <a:rPr kumimoji="1" lang="ja-JP" altLang="en-US" smtClean="0"/>
              <a:t>65</a:t>
            </a:fld>
            <a:endParaRPr kumimoji="1" lang="ja-JP" altLang="en-US"/>
          </a:p>
        </p:txBody>
      </p:sp>
    </p:spTree>
    <p:extLst>
      <p:ext uri="{BB962C8B-B14F-4D97-AF65-F5344CB8AC3E}">
        <p14:creationId xmlns:p14="http://schemas.microsoft.com/office/powerpoint/2010/main" val="32800675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n-gram </a:t>
            </a:r>
            <a:r>
              <a:rPr kumimoji="1" lang="ja-JP" altLang="en-US" dirty="0"/>
              <a:t>タグ設定ツールは、</a:t>
            </a:r>
            <a:r>
              <a:rPr kumimoji="1" lang="en-US" altLang="ja-JP" dirty="0"/>
              <a:t>1-gram </a:t>
            </a:r>
            <a:r>
              <a:rPr kumimoji="1" lang="ja-JP" altLang="en-US" dirty="0"/>
              <a:t>タグ設定ツールを一般化したもので、現在の単語とそれに先行する </a:t>
            </a:r>
            <a:r>
              <a:rPr kumimoji="1" lang="en-US" altLang="ja-JP" dirty="0"/>
              <a:t>n-1 </a:t>
            </a:r>
            <a:r>
              <a:rPr kumimoji="1" lang="ja-JP" altLang="en-US" dirty="0"/>
              <a:t>個のトークンの品詞タグをコンテキストとして使用します。</a:t>
            </a:r>
          </a:p>
          <a:p>
            <a:r>
              <a:rPr kumimoji="1" lang="en-US" altLang="ja-JP" dirty="0"/>
              <a:t>1-gram </a:t>
            </a:r>
            <a:r>
              <a:rPr kumimoji="1" lang="ja-JP" altLang="en-US" dirty="0"/>
              <a:t>タガーは、ユニグラムタガーの別称です。つまり、トークンのタグ付けに使用されるコンテキストは、トークン自体のテキストのみです。</a:t>
            </a:r>
            <a:r>
              <a:rPr kumimoji="1" lang="en-US" altLang="ja-JP" dirty="0"/>
              <a:t>2-gram </a:t>
            </a:r>
            <a:r>
              <a:rPr kumimoji="1" lang="ja-JP" altLang="en-US" dirty="0"/>
              <a:t>タガーはビグラムタガー、</a:t>
            </a:r>
            <a:r>
              <a:rPr kumimoji="1" lang="en-US" altLang="ja-JP" dirty="0"/>
              <a:t>3-gram </a:t>
            </a:r>
            <a:r>
              <a:rPr kumimoji="1" lang="ja-JP" altLang="en-US" dirty="0"/>
              <a:t>タガーはトライグラムタガーとも呼ばれます。</a:t>
            </a:r>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24BC7835-350D-4FB6-B7CC-0A8CD722ACEB}" type="slidenum">
              <a:rPr kumimoji="1" lang="ja-JP" altLang="en-US" smtClean="0"/>
              <a:t>66</a:t>
            </a:fld>
            <a:endParaRPr kumimoji="1" lang="ja-JP" altLang="en-US"/>
          </a:p>
        </p:txBody>
      </p:sp>
    </p:spTree>
    <p:extLst>
      <p:ext uri="{BB962C8B-B14F-4D97-AF65-F5344CB8AC3E}">
        <p14:creationId xmlns:p14="http://schemas.microsoft.com/office/powerpoint/2010/main" val="16380635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なぜ</a:t>
            </a:r>
            <a:r>
              <a:rPr kumimoji="1" lang="en-US" altLang="ja-JP" dirty="0"/>
              <a:t>10-gram</a:t>
            </a:r>
            <a:r>
              <a:rPr kumimoji="1" lang="ja-JP" altLang="en-US" dirty="0"/>
              <a:t>タガーではないのか？</a:t>
            </a:r>
          </a:p>
          <a:p>
            <a:r>
              <a:rPr kumimoji="1" lang="en-US" altLang="ja-JP" dirty="0"/>
              <a:t>n</a:t>
            </a:r>
            <a:r>
              <a:rPr kumimoji="1" lang="ja-JP" altLang="en-US" dirty="0"/>
              <a:t>が大きくなると、文脈の特異性が増し、タグ付けしたいデータに学習データにはなかった文脈が含まれている可能性が高くなります。</a:t>
            </a:r>
          </a:p>
          <a:p>
            <a:r>
              <a:rPr kumimoji="1" lang="ja-JP" altLang="en-US" dirty="0"/>
              <a:t>これは、スパースデータ問題として知られており、</a:t>
            </a:r>
            <a:r>
              <a:rPr kumimoji="1" lang="en-US" altLang="ja-JP" dirty="0"/>
              <a:t>NLP</a:t>
            </a:r>
            <a:r>
              <a:rPr kumimoji="1" lang="ja-JP" altLang="en-US" dirty="0"/>
              <a:t>において非常に大きな問題となっています。そのため、結果の精度とカバー率はトレードオフの関係にあります（これは精度とリコールのトレードオフに関連しています）。</a:t>
            </a:r>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24BC7835-350D-4FB6-B7CC-0A8CD722ACEB}" type="slidenum">
              <a:rPr kumimoji="1" lang="ja-JP" altLang="en-US" smtClean="0"/>
              <a:t>68</a:t>
            </a:fld>
            <a:endParaRPr kumimoji="1" lang="ja-JP" altLang="en-US"/>
          </a:p>
        </p:txBody>
      </p:sp>
    </p:spTree>
    <p:extLst>
      <p:ext uri="{BB962C8B-B14F-4D97-AF65-F5344CB8AC3E}">
        <p14:creationId xmlns:p14="http://schemas.microsoft.com/office/powerpoint/2010/main" val="1932755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ビグラムタガー</a:t>
            </a:r>
          </a:p>
          <a:p>
            <a:r>
              <a:rPr kumimoji="1" lang="ja-JP" altLang="en-US" dirty="0"/>
              <a:t>前提条件</a:t>
            </a:r>
          </a:p>
          <a:p>
            <a:r>
              <a:rPr kumimoji="1" lang="ja-JP" altLang="en-US" dirty="0"/>
              <a:t>単語はお互いに独立している</a:t>
            </a:r>
          </a:p>
          <a:p>
            <a:r>
              <a:rPr kumimoji="1" lang="ja-JP" altLang="en-US" dirty="0"/>
              <a:t>単語のアイデンティティはタグにのみ依存する</a:t>
            </a:r>
          </a:p>
          <a:p>
            <a:r>
              <a:rPr kumimoji="1" lang="ja-JP" altLang="en-US" dirty="0"/>
              <a:t>タグは前のタグにのみ依存する</a:t>
            </a:r>
          </a:p>
          <a:p>
            <a:r>
              <a:rPr kumimoji="1" lang="ja-JP" altLang="en-US" dirty="0"/>
              <a:t>このような前提で作られた</a:t>
            </a:r>
            <a:r>
              <a:rPr kumimoji="1" lang="en-US" altLang="ja-JP" dirty="0"/>
              <a:t>GM</a:t>
            </a:r>
            <a:r>
              <a:rPr kumimoji="1" lang="ja-JP" altLang="en-US" dirty="0"/>
              <a:t>はどのようなものでしょうか？</a:t>
            </a:r>
          </a:p>
          <a:p>
            <a:endParaRPr kumimoji="1" lang="ja-JP" altLang="en-US" dirty="0"/>
          </a:p>
        </p:txBody>
      </p:sp>
      <p:sp>
        <p:nvSpPr>
          <p:cNvPr id="4" name="スライド番号プレースホルダー 3"/>
          <p:cNvSpPr>
            <a:spLocks noGrp="1"/>
          </p:cNvSpPr>
          <p:nvPr>
            <p:ph type="sldNum" sz="quarter" idx="5"/>
          </p:nvPr>
        </p:nvSpPr>
        <p:spPr/>
        <p:txBody>
          <a:bodyPr/>
          <a:lstStyle/>
          <a:p>
            <a:fld id="{24BC7835-350D-4FB6-B7CC-0A8CD722ACEB}" type="slidenum">
              <a:rPr kumimoji="1" lang="ja-JP" altLang="en-US" smtClean="0"/>
              <a:t>69</a:t>
            </a:fld>
            <a:endParaRPr kumimoji="1" lang="ja-JP" altLang="en-US"/>
          </a:p>
        </p:txBody>
      </p:sp>
    </p:spTree>
    <p:extLst>
      <p:ext uri="{BB962C8B-B14F-4D97-AF65-F5344CB8AC3E}">
        <p14:creationId xmlns:p14="http://schemas.microsoft.com/office/powerpoint/2010/main" val="30133118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は、単語を単体で見ただけでも意外とできるものです。</a:t>
            </a:r>
          </a:p>
        </p:txBody>
      </p:sp>
      <p:sp>
        <p:nvSpPr>
          <p:cNvPr id="4" name="スライド番号プレースホルダー 3"/>
          <p:cNvSpPr>
            <a:spLocks noGrp="1"/>
          </p:cNvSpPr>
          <p:nvPr>
            <p:ph type="sldNum" sz="quarter" idx="5"/>
          </p:nvPr>
        </p:nvSpPr>
        <p:spPr/>
        <p:txBody>
          <a:bodyPr/>
          <a:lstStyle/>
          <a:p>
            <a:fld id="{24BC7835-350D-4FB6-B7CC-0A8CD722ACEB}" type="slidenum">
              <a:rPr kumimoji="1" lang="ja-JP" altLang="en-US" smtClean="0"/>
              <a:t>73</a:t>
            </a:fld>
            <a:endParaRPr kumimoji="1" lang="ja-JP" altLang="en-US"/>
          </a:p>
        </p:txBody>
      </p:sp>
    </p:spTree>
    <p:extLst>
      <p:ext uri="{BB962C8B-B14F-4D97-AF65-F5344CB8AC3E}">
        <p14:creationId xmlns:p14="http://schemas.microsoft.com/office/powerpoint/2010/main" val="22039794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単語とその環境を見て、配列情報がない場合は？</a:t>
            </a:r>
          </a:p>
        </p:txBody>
      </p:sp>
      <p:sp>
        <p:nvSpPr>
          <p:cNvPr id="4" name="スライド番号プレースホルダー 3"/>
          <p:cNvSpPr>
            <a:spLocks noGrp="1"/>
          </p:cNvSpPr>
          <p:nvPr>
            <p:ph type="sldNum" sz="quarter" idx="5"/>
          </p:nvPr>
        </p:nvSpPr>
        <p:spPr/>
        <p:txBody>
          <a:bodyPr/>
          <a:lstStyle/>
          <a:p>
            <a:fld id="{24BC7835-350D-4FB6-B7CC-0A8CD722ACEB}" type="slidenum">
              <a:rPr kumimoji="1" lang="ja-JP" altLang="en-US" smtClean="0"/>
              <a:t>74</a:t>
            </a:fld>
            <a:endParaRPr kumimoji="1" lang="ja-JP" altLang="en-US"/>
          </a:p>
        </p:txBody>
      </p:sp>
    </p:spTree>
    <p:extLst>
      <p:ext uri="{BB962C8B-B14F-4D97-AF65-F5344CB8AC3E}">
        <p14:creationId xmlns:p14="http://schemas.microsoft.com/office/powerpoint/2010/main" val="12760225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言語的苦情</a:t>
            </a:r>
          </a:p>
          <a:p>
            <a:r>
              <a:rPr kumimoji="1" lang="ja-JP" altLang="en-US" dirty="0"/>
              <a:t>タガーの言語知識はどこにありますか？</a:t>
            </a:r>
          </a:p>
          <a:p>
            <a:r>
              <a:rPr kumimoji="1" lang="ja-JP" altLang="en-US" dirty="0"/>
              <a:t>数字の巨大な表</a:t>
            </a:r>
          </a:p>
          <a:p>
            <a:r>
              <a:rPr kumimoji="1" lang="ja-JP" altLang="en-US" dirty="0"/>
              <a:t>データから浮かび上がる可能性のある言語学的洞察はありませんか？</a:t>
            </a:r>
          </a:p>
          <a:p>
            <a:r>
              <a:rPr kumimoji="1" lang="ja-JP" altLang="en-US" dirty="0"/>
              <a:t>したがって、手作りのルールセットを使用して、入力文にタグを付けることができます。たとえば、入力が限定詞の後に続く場合は、名詞としてタグ付けします。</a:t>
            </a:r>
          </a:p>
        </p:txBody>
      </p:sp>
      <p:sp>
        <p:nvSpPr>
          <p:cNvPr id="4" name="スライド番号プレースホルダー 3"/>
          <p:cNvSpPr>
            <a:spLocks noGrp="1"/>
          </p:cNvSpPr>
          <p:nvPr>
            <p:ph type="sldNum" sz="quarter" idx="5"/>
          </p:nvPr>
        </p:nvSpPr>
        <p:spPr/>
        <p:txBody>
          <a:bodyPr/>
          <a:lstStyle/>
          <a:p>
            <a:fld id="{24BC7835-350D-4FB6-B7CC-0A8CD722ACEB}" type="slidenum">
              <a:rPr kumimoji="1" lang="ja-JP" altLang="en-US" smtClean="0"/>
              <a:t>75</a:t>
            </a:fld>
            <a:endParaRPr kumimoji="1" lang="ja-JP" altLang="en-US"/>
          </a:p>
        </p:txBody>
      </p:sp>
    </p:spTree>
    <p:extLst>
      <p:ext uri="{BB962C8B-B14F-4D97-AF65-F5344CB8AC3E}">
        <p14:creationId xmlns:p14="http://schemas.microsoft.com/office/powerpoint/2010/main" val="2346200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変換ベースの学習の例</a:t>
            </a:r>
          </a:p>
          <a:p>
            <a:r>
              <a:rPr kumimoji="1" lang="ja-JP" altLang="en-US" dirty="0"/>
              <a:t>基本的な考え方：最初に（頻度を使用して）簡単な作業を行い、次にコンテキストルールを使用して修正します。</a:t>
            </a:r>
          </a:p>
          <a:p>
            <a:r>
              <a:rPr kumimoji="1" lang="ja-JP" altLang="en-US" dirty="0"/>
              <a:t>非常に人気があります（無料で入手でき、かなりうまく機能します）</a:t>
            </a:r>
          </a:p>
          <a:p>
            <a:r>
              <a:rPr kumimoji="1" lang="ja-JP" altLang="en-US" dirty="0"/>
              <a:t>おそらく最も広く使用されているタガー（特に</a:t>
            </a:r>
            <a:r>
              <a:rPr kumimoji="1" lang="en-US" altLang="ja-JP" dirty="0"/>
              <a:t>NLP</a:t>
            </a:r>
            <a:r>
              <a:rPr kumimoji="1" lang="ja-JP" altLang="en-US" dirty="0"/>
              <a:t>外）</a:t>
            </a:r>
          </a:p>
          <a:p>
            <a:r>
              <a:rPr kumimoji="1" lang="en-US" altLang="ja-JP" dirty="0"/>
              <a:t>…</a:t>
            </a:r>
            <a:r>
              <a:rPr kumimoji="1" lang="ja-JP" altLang="en-US" dirty="0"/>
              <a:t>。 しかし、最も正確ではありません：</a:t>
            </a:r>
            <a:r>
              <a:rPr kumimoji="1" lang="en-US" altLang="ja-JP" dirty="0"/>
              <a:t>96.6</a:t>
            </a:r>
            <a:r>
              <a:rPr kumimoji="1" lang="ja-JP" altLang="en-US" dirty="0"/>
              <a:t>％</a:t>
            </a:r>
            <a:r>
              <a:rPr kumimoji="1" lang="en-US" altLang="ja-JP" dirty="0"/>
              <a:t>/ 82.0</a:t>
            </a:r>
            <a:r>
              <a:rPr kumimoji="1" lang="ja-JP" altLang="en-US" dirty="0"/>
              <a:t>％</a:t>
            </a:r>
          </a:p>
          <a:p>
            <a:r>
              <a:rPr kumimoji="1" lang="ja-JP" altLang="en-US" dirty="0"/>
              <a:t>教師あり方法：タグ付きコーパスが必要</a:t>
            </a:r>
          </a:p>
        </p:txBody>
      </p:sp>
      <p:sp>
        <p:nvSpPr>
          <p:cNvPr id="4" name="スライド番号プレースホルダー 3"/>
          <p:cNvSpPr>
            <a:spLocks noGrp="1"/>
          </p:cNvSpPr>
          <p:nvPr>
            <p:ph type="sldNum" sz="quarter" idx="5"/>
          </p:nvPr>
        </p:nvSpPr>
        <p:spPr/>
        <p:txBody>
          <a:bodyPr/>
          <a:lstStyle/>
          <a:p>
            <a:fld id="{24BC7835-350D-4FB6-B7CC-0A8CD722ACEB}" type="slidenum">
              <a:rPr kumimoji="1" lang="ja-JP" altLang="en-US" smtClean="0"/>
              <a:t>76</a:t>
            </a:fld>
            <a:endParaRPr kumimoji="1" lang="ja-JP" altLang="en-US"/>
          </a:p>
        </p:txBody>
      </p:sp>
    </p:spTree>
    <p:extLst>
      <p:ext uri="{BB962C8B-B14F-4D97-AF65-F5344CB8AC3E}">
        <p14:creationId xmlns:p14="http://schemas.microsoft.com/office/powerpoint/2010/main" val="13417575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単純な（精度の低い）ルールから始めます</a:t>
            </a:r>
            <a:r>
              <a:rPr kumimoji="1" lang="en-US" altLang="ja-JP" dirty="0"/>
              <a:t>…</a:t>
            </a:r>
            <a:r>
              <a:rPr kumimoji="1" lang="ja-JP" altLang="en-US" dirty="0"/>
              <a:t>タグ付けされたコーパスからより良いルールを学びます</a:t>
            </a:r>
          </a:p>
          <a:p>
            <a:r>
              <a:rPr kumimoji="1" lang="ja-JP" altLang="en-US" dirty="0"/>
              <a:t>最初に各単語に最も可能性の高い</a:t>
            </a:r>
            <a:r>
              <a:rPr kumimoji="1" lang="en-US" altLang="ja-JP" dirty="0"/>
              <a:t>POS</a:t>
            </a:r>
            <a:r>
              <a:rPr kumimoji="1" lang="ja-JP" altLang="en-US" dirty="0"/>
              <a:t>のタグを付けます</a:t>
            </a:r>
          </a:p>
          <a:p>
            <a:r>
              <a:rPr kumimoji="1" lang="ja-JP" altLang="en-US" dirty="0"/>
              <a:t>一連の変換を調べて、タグ付きコーパスと比較してタグ付けの決定を改善するものを確認します</a:t>
            </a:r>
          </a:p>
          <a:p>
            <a:r>
              <a:rPr kumimoji="1" lang="ja-JP" altLang="en-US" dirty="0"/>
              <a:t>最良の変換を使用してコーパスにタグを付け直す</a:t>
            </a:r>
          </a:p>
          <a:p>
            <a:r>
              <a:rPr kumimoji="1" lang="ja-JP" altLang="en-US" dirty="0"/>
              <a:t>たとえば、パフォーマンスが向上しなくなるまで繰り返します</a:t>
            </a:r>
          </a:p>
          <a:p>
            <a:r>
              <a:rPr kumimoji="1" lang="ja-JP" altLang="en-US" dirty="0"/>
              <a:t>結果：新しいタグなしテキストに適用できるタグ付け手順（変換の順序付きリスト）</a:t>
            </a:r>
          </a:p>
        </p:txBody>
      </p:sp>
      <p:sp>
        <p:nvSpPr>
          <p:cNvPr id="4" name="スライド番号プレースホルダー 3"/>
          <p:cNvSpPr>
            <a:spLocks noGrp="1"/>
          </p:cNvSpPr>
          <p:nvPr>
            <p:ph type="sldNum" sz="quarter" idx="5"/>
          </p:nvPr>
        </p:nvSpPr>
        <p:spPr/>
        <p:txBody>
          <a:bodyPr/>
          <a:lstStyle/>
          <a:p>
            <a:fld id="{24BC7835-350D-4FB6-B7CC-0A8CD722ACEB}" type="slidenum">
              <a:rPr kumimoji="1" lang="ja-JP" altLang="en-US" smtClean="0"/>
              <a:t>77</a:t>
            </a:fld>
            <a:endParaRPr kumimoji="1" lang="ja-JP" altLang="en-US"/>
          </a:p>
        </p:txBody>
      </p:sp>
    </p:spTree>
    <p:extLst>
      <p:ext uri="{BB962C8B-B14F-4D97-AF65-F5344CB8AC3E}">
        <p14:creationId xmlns:p14="http://schemas.microsoft.com/office/powerpoint/2010/main" val="2220130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CC38AD-E9D1-5B7E-9A37-9498F10C824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9C626D8-A036-711C-B355-1EEEFB9245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7D73CE3-06C0-954C-4F74-FD7649455FF6}"/>
              </a:ext>
            </a:extLst>
          </p:cNvPr>
          <p:cNvSpPr>
            <a:spLocks noGrp="1"/>
          </p:cNvSpPr>
          <p:nvPr>
            <p:ph type="dt" sz="half" idx="10"/>
          </p:nvPr>
        </p:nvSpPr>
        <p:spPr/>
        <p:txBody>
          <a:bodyPr/>
          <a:lstStyle/>
          <a:p>
            <a:fld id="{B0C6FE24-B8AD-4EF4-9C4C-77FF3B230865}" type="datetimeFigureOut">
              <a:rPr kumimoji="1" lang="ja-JP" altLang="en-US" smtClean="0"/>
              <a:t>2024/10/6</a:t>
            </a:fld>
            <a:endParaRPr kumimoji="1" lang="ja-JP" altLang="en-US"/>
          </a:p>
        </p:txBody>
      </p:sp>
      <p:sp>
        <p:nvSpPr>
          <p:cNvPr id="5" name="フッター プレースホルダー 4">
            <a:extLst>
              <a:ext uri="{FF2B5EF4-FFF2-40B4-BE49-F238E27FC236}">
                <a16:creationId xmlns:a16="http://schemas.microsoft.com/office/drawing/2014/main" id="{9C141E92-555C-4BB9-A68A-BED6481DC51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D24E421-70EA-397F-D4E5-03B6791CC551}"/>
              </a:ext>
            </a:extLst>
          </p:cNvPr>
          <p:cNvSpPr>
            <a:spLocks noGrp="1"/>
          </p:cNvSpPr>
          <p:nvPr>
            <p:ph type="sldNum" sz="quarter" idx="12"/>
          </p:nvPr>
        </p:nvSpPr>
        <p:spPr/>
        <p:txBody>
          <a:bodyPr/>
          <a:lstStyle/>
          <a:p>
            <a:fld id="{FF9A5B26-6612-4033-BEF7-FF7C3E7FDA38}" type="slidenum">
              <a:rPr kumimoji="1" lang="ja-JP" altLang="en-US" smtClean="0"/>
              <a:t>‹#›</a:t>
            </a:fld>
            <a:endParaRPr kumimoji="1" lang="ja-JP" altLang="en-US"/>
          </a:p>
        </p:txBody>
      </p:sp>
    </p:spTree>
    <p:extLst>
      <p:ext uri="{BB962C8B-B14F-4D97-AF65-F5344CB8AC3E}">
        <p14:creationId xmlns:p14="http://schemas.microsoft.com/office/powerpoint/2010/main" val="3605868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7A5055-2513-524D-212D-1C7D85E4F62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411BED0-243F-EBA0-B876-A3193A79A5B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063635E-1C8A-FF7B-D357-FF746802F8F5}"/>
              </a:ext>
            </a:extLst>
          </p:cNvPr>
          <p:cNvSpPr>
            <a:spLocks noGrp="1"/>
          </p:cNvSpPr>
          <p:nvPr>
            <p:ph type="dt" sz="half" idx="10"/>
          </p:nvPr>
        </p:nvSpPr>
        <p:spPr/>
        <p:txBody>
          <a:bodyPr/>
          <a:lstStyle/>
          <a:p>
            <a:fld id="{B0C6FE24-B8AD-4EF4-9C4C-77FF3B230865}" type="datetimeFigureOut">
              <a:rPr kumimoji="1" lang="ja-JP" altLang="en-US" smtClean="0"/>
              <a:t>2024/10/6</a:t>
            </a:fld>
            <a:endParaRPr kumimoji="1" lang="ja-JP" altLang="en-US"/>
          </a:p>
        </p:txBody>
      </p:sp>
      <p:sp>
        <p:nvSpPr>
          <p:cNvPr id="5" name="フッター プレースホルダー 4">
            <a:extLst>
              <a:ext uri="{FF2B5EF4-FFF2-40B4-BE49-F238E27FC236}">
                <a16:creationId xmlns:a16="http://schemas.microsoft.com/office/drawing/2014/main" id="{C0399DBB-C0ED-6AF1-D3B0-73886F88A38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3C4EC7B-399E-F81F-714E-7FC0025EAAF8}"/>
              </a:ext>
            </a:extLst>
          </p:cNvPr>
          <p:cNvSpPr>
            <a:spLocks noGrp="1"/>
          </p:cNvSpPr>
          <p:nvPr>
            <p:ph type="sldNum" sz="quarter" idx="12"/>
          </p:nvPr>
        </p:nvSpPr>
        <p:spPr/>
        <p:txBody>
          <a:bodyPr/>
          <a:lstStyle/>
          <a:p>
            <a:fld id="{FF9A5B26-6612-4033-BEF7-FF7C3E7FDA38}" type="slidenum">
              <a:rPr kumimoji="1" lang="ja-JP" altLang="en-US" smtClean="0"/>
              <a:t>‹#›</a:t>
            </a:fld>
            <a:endParaRPr kumimoji="1" lang="ja-JP" altLang="en-US"/>
          </a:p>
        </p:txBody>
      </p:sp>
    </p:spTree>
    <p:extLst>
      <p:ext uri="{BB962C8B-B14F-4D97-AF65-F5344CB8AC3E}">
        <p14:creationId xmlns:p14="http://schemas.microsoft.com/office/powerpoint/2010/main" val="281279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F0F954-1E99-E18F-9435-538B5F82147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CF37AA9-0F77-7229-3820-FD9B95BD23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92D43AE-A2CC-76FC-1727-168677A93285}"/>
              </a:ext>
            </a:extLst>
          </p:cNvPr>
          <p:cNvSpPr>
            <a:spLocks noGrp="1"/>
          </p:cNvSpPr>
          <p:nvPr>
            <p:ph type="dt" sz="half" idx="10"/>
          </p:nvPr>
        </p:nvSpPr>
        <p:spPr/>
        <p:txBody>
          <a:bodyPr/>
          <a:lstStyle/>
          <a:p>
            <a:fld id="{B0C6FE24-B8AD-4EF4-9C4C-77FF3B230865}" type="datetimeFigureOut">
              <a:rPr kumimoji="1" lang="ja-JP" altLang="en-US" smtClean="0"/>
              <a:t>2024/10/6</a:t>
            </a:fld>
            <a:endParaRPr kumimoji="1" lang="ja-JP" altLang="en-US"/>
          </a:p>
        </p:txBody>
      </p:sp>
      <p:sp>
        <p:nvSpPr>
          <p:cNvPr id="5" name="フッター プレースホルダー 4">
            <a:extLst>
              <a:ext uri="{FF2B5EF4-FFF2-40B4-BE49-F238E27FC236}">
                <a16:creationId xmlns:a16="http://schemas.microsoft.com/office/drawing/2014/main" id="{2E30B36E-0071-E742-1A5F-EA04C01CE57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CFD20E6-5EC9-CE08-C349-BB9516093EF1}"/>
              </a:ext>
            </a:extLst>
          </p:cNvPr>
          <p:cNvSpPr>
            <a:spLocks noGrp="1"/>
          </p:cNvSpPr>
          <p:nvPr>
            <p:ph type="sldNum" sz="quarter" idx="12"/>
          </p:nvPr>
        </p:nvSpPr>
        <p:spPr/>
        <p:txBody>
          <a:bodyPr/>
          <a:lstStyle/>
          <a:p>
            <a:fld id="{FF9A5B26-6612-4033-BEF7-FF7C3E7FDA38}" type="slidenum">
              <a:rPr kumimoji="1" lang="ja-JP" altLang="en-US" smtClean="0"/>
              <a:t>‹#›</a:t>
            </a:fld>
            <a:endParaRPr kumimoji="1" lang="ja-JP" altLang="en-US"/>
          </a:p>
        </p:txBody>
      </p:sp>
    </p:spTree>
    <p:extLst>
      <p:ext uri="{BB962C8B-B14F-4D97-AF65-F5344CB8AC3E}">
        <p14:creationId xmlns:p14="http://schemas.microsoft.com/office/powerpoint/2010/main" val="3529882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B52E2D-15DD-F112-8E56-63648E0A07E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C86F6D2-0487-EA8F-310C-11589AA8E85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11329CA-1572-098A-F893-49DA21AE97A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0632235-7D0C-B226-F370-8B0ED9D99A8A}"/>
              </a:ext>
            </a:extLst>
          </p:cNvPr>
          <p:cNvSpPr>
            <a:spLocks noGrp="1"/>
          </p:cNvSpPr>
          <p:nvPr>
            <p:ph type="dt" sz="half" idx="10"/>
          </p:nvPr>
        </p:nvSpPr>
        <p:spPr/>
        <p:txBody>
          <a:bodyPr/>
          <a:lstStyle/>
          <a:p>
            <a:fld id="{B0C6FE24-B8AD-4EF4-9C4C-77FF3B230865}" type="datetimeFigureOut">
              <a:rPr kumimoji="1" lang="ja-JP" altLang="en-US" smtClean="0"/>
              <a:t>2024/10/6</a:t>
            </a:fld>
            <a:endParaRPr kumimoji="1" lang="ja-JP" altLang="en-US"/>
          </a:p>
        </p:txBody>
      </p:sp>
      <p:sp>
        <p:nvSpPr>
          <p:cNvPr id="6" name="フッター プレースホルダー 5">
            <a:extLst>
              <a:ext uri="{FF2B5EF4-FFF2-40B4-BE49-F238E27FC236}">
                <a16:creationId xmlns:a16="http://schemas.microsoft.com/office/drawing/2014/main" id="{F47F214C-4149-BDE6-A7C0-CF203A241DE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55C8A6D-1794-30A3-6EBF-109072A96793}"/>
              </a:ext>
            </a:extLst>
          </p:cNvPr>
          <p:cNvSpPr>
            <a:spLocks noGrp="1"/>
          </p:cNvSpPr>
          <p:nvPr>
            <p:ph type="sldNum" sz="quarter" idx="12"/>
          </p:nvPr>
        </p:nvSpPr>
        <p:spPr/>
        <p:txBody>
          <a:bodyPr/>
          <a:lstStyle/>
          <a:p>
            <a:fld id="{FF9A5B26-6612-4033-BEF7-FF7C3E7FDA38}" type="slidenum">
              <a:rPr kumimoji="1" lang="ja-JP" altLang="en-US" smtClean="0"/>
              <a:t>‹#›</a:t>
            </a:fld>
            <a:endParaRPr kumimoji="1" lang="ja-JP" altLang="en-US"/>
          </a:p>
        </p:txBody>
      </p:sp>
    </p:spTree>
    <p:extLst>
      <p:ext uri="{BB962C8B-B14F-4D97-AF65-F5344CB8AC3E}">
        <p14:creationId xmlns:p14="http://schemas.microsoft.com/office/powerpoint/2010/main" val="811380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9B2A80-075E-3ADD-7759-282B82E886C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1228ADA-91F9-46A7-30A4-F79D4FC502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59718E2-E679-2210-BA2A-2FD973F1734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3E12E08-DBAE-B187-C74E-8E2B0C4756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2267233-F9CD-5864-40B6-4F502CF2372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0502C45-D3BB-DE63-4545-4DB674EF87FB}"/>
              </a:ext>
            </a:extLst>
          </p:cNvPr>
          <p:cNvSpPr>
            <a:spLocks noGrp="1"/>
          </p:cNvSpPr>
          <p:nvPr>
            <p:ph type="dt" sz="half" idx="10"/>
          </p:nvPr>
        </p:nvSpPr>
        <p:spPr/>
        <p:txBody>
          <a:bodyPr/>
          <a:lstStyle/>
          <a:p>
            <a:fld id="{B0C6FE24-B8AD-4EF4-9C4C-77FF3B230865}" type="datetimeFigureOut">
              <a:rPr kumimoji="1" lang="ja-JP" altLang="en-US" smtClean="0"/>
              <a:t>2024/10/6</a:t>
            </a:fld>
            <a:endParaRPr kumimoji="1" lang="ja-JP" altLang="en-US"/>
          </a:p>
        </p:txBody>
      </p:sp>
      <p:sp>
        <p:nvSpPr>
          <p:cNvPr id="8" name="フッター プレースホルダー 7">
            <a:extLst>
              <a:ext uri="{FF2B5EF4-FFF2-40B4-BE49-F238E27FC236}">
                <a16:creationId xmlns:a16="http://schemas.microsoft.com/office/drawing/2014/main" id="{3064A2DA-89A0-3D05-8DFD-1ECC58A5B62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6758395-E84C-7D01-596C-A45EA8AA386A}"/>
              </a:ext>
            </a:extLst>
          </p:cNvPr>
          <p:cNvSpPr>
            <a:spLocks noGrp="1"/>
          </p:cNvSpPr>
          <p:nvPr>
            <p:ph type="sldNum" sz="quarter" idx="12"/>
          </p:nvPr>
        </p:nvSpPr>
        <p:spPr/>
        <p:txBody>
          <a:bodyPr/>
          <a:lstStyle/>
          <a:p>
            <a:fld id="{FF9A5B26-6612-4033-BEF7-FF7C3E7FDA38}" type="slidenum">
              <a:rPr kumimoji="1" lang="ja-JP" altLang="en-US" smtClean="0"/>
              <a:t>‹#›</a:t>
            </a:fld>
            <a:endParaRPr kumimoji="1" lang="ja-JP" altLang="en-US"/>
          </a:p>
        </p:txBody>
      </p:sp>
    </p:spTree>
    <p:extLst>
      <p:ext uri="{BB962C8B-B14F-4D97-AF65-F5344CB8AC3E}">
        <p14:creationId xmlns:p14="http://schemas.microsoft.com/office/powerpoint/2010/main" val="1769279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A0BB51-6EE6-238C-9C12-510AEF92234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E44F791-F8FE-FFAE-58FA-A196BD750100}"/>
              </a:ext>
            </a:extLst>
          </p:cNvPr>
          <p:cNvSpPr>
            <a:spLocks noGrp="1"/>
          </p:cNvSpPr>
          <p:nvPr>
            <p:ph type="dt" sz="half" idx="10"/>
          </p:nvPr>
        </p:nvSpPr>
        <p:spPr/>
        <p:txBody>
          <a:bodyPr/>
          <a:lstStyle/>
          <a:p>
            <a:fld id="{B0C6FE24-B8AD-4EF4-9C4C-77FF3B230865}" type="datetimeFigureOut">
              <a:rPr kumimoji="1" lang="ja-JP" altLang="en-US" smtClean="0"/>
              <a:t>2024/10/6</a:t>
            </a:fld>
            <a:endParaRPr kumimoji="1" lang="ja-JP" altLang="en-US"/>
          </a:p>
        </p:txBody>
      </p:sp>
      <p:sp>
        <p:nvSpPr>
          <p:cNvPr id="4" name="フッター プレースホルダー 3">
            <a:extLst>
              <a:ext uri="{FF2B5EF4-FFF2-40B4-BE49-F238E27FC236}">
                <a16:creationId xmlns:a16="http://schemas.microsoft.com/office/drawing/2014/main" id="{35800779-1365-7239-3649-18F8E757429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4BF6125-FC36-AEC5-4E93-F68BBA7BD57C}"/>
              </a:ext>
            </a:extLst>
          </p:cNvPr>
          <p:cNvSpPr>
            <a:spLocks noGrp="1"/>
          </p:cNvSpPr>
          <p:nvPr>
            <p:ph type="sldNum" sz="quarter" idx="12"/>
          </p:nvPr>
        </p:nvSpPr>
        <p:spPr/>
        <p:txBody>
          <a:bodyPr/>
          <a:lstStyle/>
          <a:p>
            <a:fld id="{FF9A5B26-6612-4033-BEF7-FF7C3E7FDA38}" type="slidenum">
              <a:rPr kumimoji="1" lang="ja-JP" altLang="en-US" smtClean="0"/>
              <a:t>‹#›</a:t>
            </a:fld>
            <a:endParaRPr kumimoji="1" lang="ja-JP" altLang="en-US"/>
          </a:p>
        </p:txBody>
      </p:sp>
    </p:spTree>
    <p:extLst>
      <p:ext uri="{BB962C8B-B14F-4D97-AF65-F5344CB8AC3E}">
        <p14:creationId xmlns:p14="http://schemas.microsoft.com/office/powerpoint/2010/main" val="781124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961EA89-3697-032E-B05E-5DE705745F9D}"/>
              </a:ext>
            </a:extLst>
          </p:cNvPr>
          <p:cNvSpPr>
            <a:spLocks noGrp="1"/>
          </p:cNvSpPr>
          <p:nvPr>
            <p:ph type="dt" sz="half" idx="10"/>
          </p:nvPr>
        </p:nvSpPr>
        <p:spPr/>
        <p:txBody>
          <a:bodyPr/>
          <a:lstStyle/>
          <a:p>
            <a:fld id="{B0C6FE24-B8AD-4EF4-9C4C-77FF3B230865}" type="datetimeFigureOut">
              <a:rPr kumimoji="1" lang="ja-JP" altLang="en-US" smtClean="0"/>
              <a:t>2024/10/6</a:t>
            </a:fld>
            <a:endParaRPr kumimoji="1" lang="ja-JP" altLang="en-US"/>
          </a:p>
        </p:txBody>
      </p:sp>
      <p:sp>
        <p:nvSpPr>
          <p:cNvPr id="3" name="フッター プレースホルダー 2">
            <a:extLst>
              <a:ext uri="{FF2B5EF4-FFF2-40B4-BE49-F238E27FC236}">
                <a16:creationId xmlns:a16="http://schemas.microsoft.com/office/drawing/2014/main" id="{C1F59B3E-7B00-C184-5C17-3B1A5738BA4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C457A99-19C3-EEEB-F953-44A1DD0FB51B}"/>
              </a:ext>
            </a:extLst>
          </p:cNvPr>
          <p:cNvSpPr>
            <a:spLocks noGrp="1"/>
          </p:cNvSpPr>
          <p:nvPr>
            <p:ph type="sldNum" sz="quarter" idx="12"/>
          </p:nvPr>
        </p:nvSpPr>
        <p:spPr/>
        <p:txBody>
          <a:bodyPr/>
          <a:lstStyle/>
          <a:p>
            <a:fld id="{FF9A5B26-6612-4033-BEF7-FF7C3E7FDA38}" type="slidenum">
              <a:rPr kumimoji="1" lang="ja-JP" altLang="en-US" smtClean="0"/>
              <a:t>‹#›</a:t>
            </a:fld>
            <a:endParaRPr kumimoji="1" lang="ja-JP" altLang="en-US"/>
          </a:p>
        </p:txBody>
      </p:sp>
    </p:spTree>
    <p:extLst>
      <p:ext uri="{BB962C8B-B14F-4D97-AF65-F5344CB8AC3E}">
        <p14:creationId xmlns:p14="http://schemas.microsoft.com/office/powerpoint/2010/main" val="3376466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F0DC6B-BEF1-A510-DE54-2E97F77B26E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A18FE4-564B-F184-F710-EA9367E151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7F46E82-C68B-4A14-7071-1AECB8E4CC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E7F5F04-D583-36C3-17F0-A76B77C77180}"/>
              </a:ext>
            </a:extLst>
          </p:cNvPr>
          <p:cNvSpPr>
            <a:spLocks noGrp="1"/>
          </p:cNvSpPr>
          <p:nvPr>
            <p:ph type="dt" sz="half" idx="10"/>
          </p:nvPr>
        </p:nvSpPr>
        <p:spPr/>
        <p:txBody>
          <a:bodyPr/>
          <a:lstStyle/>
          <a:p>
            <a:fld id="{B0C6FE24-B8AD-4EF4-9C4C-77FF3B230865}" type="datetimeFigureOut">
              <a:rPr kumimoji="1" lang="ja-JP" altLang="en-US" smtClean="0"/>
              <a:t>2024/10/6</a:t>
            </a:fld>
            <a:endParaRPr kumimoji="1" lang="ja-JP" altLang="en-US"/>
          </a:p>
        </p:txBody>
      </p:sp>
      <p:sp>
        <p:nvSpPr>
          <p:cNvPr id="6" name="フッター プレースホルダー 5">
            <a:extLst>
              <a:ext uri="{FF2B5EF4-FFF2-40B4-BE49-F238E27FC236}">
                <a16:creationId xmlns:a16="http://schemas.microsoft.com/office/drawing/2014/main" id="{3CAF3E1A-2B0D-6611-3370-FB6619DF300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F40BE6D-E7F0-15BD-49C8-3B37EED7EA16}"/>
              </a:ext>
            </a:extLst>
          </p:cNvPr>
          <p:cNvSpPr>
            <a:spLocks noGrp="1"/>
          </p:cNvSpPr>
          <p:nvPr>
            <p:ph type="sldNum" sz="quarter" idx="12"/>
          </p:nvPr>
        </p:nvSpPr>
        <p:spPr/>
        <p:txBody>
          <a:bodyPr/>
          <a:lstStyle/>
          <a:p>
            <a:fld id="{FF9A5B26-6612-4033-BEF7-FF7C3E7FDA38}" type="slidenum">
              <a:rPr kumimoji="1" lang="ja-JP" altLang="en-US" smtClean="0"/>
              <a:t>‹#›</a:t>
            </a:fld>
            <a:endParaRPr kumimoji="1" lang="ja-JP" altLang="en-US"/>
          </a:p>
        </p:txBody>
      </p:sp>
    </p:spTree>
    <p:extLst>
      <p:ext uri="{BB962C8B-B14F-4D97-AF65-F5344CB8AC3E}">
        <p14:creationId xmlns:p14="http://schemas.microsoft.com/office/powerpoint/2010/main" val="2791269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B48564-AFB5-2C7E-85FE-149B10662F7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D576E06-6B3B-10AE-307E-3E7A940726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8366E5E-CE50-6A3E-F40E-E0EC1094F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1C61DA8-92CC-C682-054E-925F7236C6B4}"/>
              </a:ext>
            </a:extLst>
          </p:cNvPr>
          <p:cNvSpPr>
            <a:spLocks noGrp="1"/>
          </p:cNvSpPr>
          <p:nvPr>
            <p:ph type="dt" sz="half" idx="10"/>
          </p:nvPr>
        </p:nvSpPr>
        <p:spPr/>
        <p:txBody>
          <a:bodyPr/>
          <a:lstStyle/>
          <a:p>
            <a:fld id="{B0C6FE24-B8AD-4EF4-9C4C-77FF3B230865}" type="datetimeFigureOut">
              <a:rPr kumimoji="1" lang="ja-JP" altLang="en-US" smtClean="0"/>
              <a:t>2024/10/6</a:t>
            </a:fld>
            <a:endParaRPr kumimoji="1" lang="ja-JP" altLang="en-US"/>
          </a:p>
        </p:txBody>
      </p:sp>
      <p:sp>
        <p:nvSpPr>
          <p:cNvPr id="6" name="フッター プレースホルダー 5">
            <a:extLst>
              <a:ext uri="{FF2B5EF4-FFF2-40B4-BE49-F238E27FC236}">
                <a16:creationId xmlns:a16="http://schemas.microsoft.com/office/drawing/2014/main" id="{CD61C2AE-A096-B629-3586-6B04DD215ED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3A0842F-D643-505C-F4E8-73D44352F023}"/>
              </a:ext>
            </a:extLst>
          </p:cNvPr>
          <p:cNvSpPr>
            <a:spLocks noGrp="1"/>
          </p:cNvSpPr>
          <p:nvPr>
            <p:ph type="sldNum" sz="quarter" idx="12"/>
          </p:nvPr>
        </p:nvSpPr>
        <p:spPr/>
        <p:txBody>
          <a:bodyPr/>
          <a:lstStyle/>
          <a:p>
            <a:fld id="{FF9A5B26-6612-4033-BEF7-FF7C3E7FDA38}" type="slidenum">
              <a:rPr kumimoji="1" lang="ja-JP" altLang="en-US" smtClean="0"/>
              <a:t>‹#›</a:t>
            </a:fld>
            <a:endParaRPr kumimoji="1" lang="ja-JP" altLang="en-US"/>
          </a:p>
        </p:txBody>
      </p:sp>
    </p:spTree>
    <p:extLst>
      <p:ext uri="{BB962C8B-B14F-4D97-AF65-F5344CB8AC3E}">
        <p14:creationId xmlns:p14="http://schemas.microsoft.com/office/powerpoint/2010/main" val="3296427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5981C2-4359-2F27-E6DE-B23A59DE1A5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3D608F1-1765-045D-BC84-A82E7F10360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45CD591-7270-7AA4-2252-D792B5046769}"/>
              </a:ext>
            </a:extLst>
          </p:cNvPr>
          <p:cNvSpPr>
            <a:spLocks noGrp="1"/>
          </p:cNvSpPr>
          <p:nvPr>
            <p:ph type="dt" sz="half" idx="10"/>
          </p:nvPr>
        </p:nvSpPr>
        <p:spPr/>
        <p:txBody>
          <a:bodyPr/>
          <a:lstStyle/>
          <a:p>
            <a:fld id="{B0C6FE24-B8AD-4EF4-9C4C-77FF3B230865}" type="datetimeFigureOut">
              <a:rPr kumimoji="1" lang="ja-JP" altLang="en-US" smtClean="0"/>
              <a:t>2024/10/6</a:t>
            </a:fld>
            <a:endParaRPr kumimoji="1" lang="ja-JP" altLang="en-US"/>
          </a:p>
        </p:txBody>
      </p:sp>
      <p:sp>
        <p:nvSpPr>
          <p:cNvPr id="5" name="フッター プレースホルダー 4">
            <a:extLst>
              <a:ext uri="{FF2B5EF4-FFF2-40B4-BE49-F238E27FC236}">
                <a16:creationId xmlns:a16="http://schemas.microsoft.com/office/drawing/2014/main" id="{F3DF1255-1AE3-32D6-DD09-7BC24A4BE5A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80FB085-DE85-7940-D5F2-9E7842619870}"/>
              </a:ext>
            </a:extLst>
          </p:cNvPr>
          <p:cNvSpPr>
            <a:spLocks noGrp="1"/>
          </p:cNvSpPr>
          <p:nvPr>
            <p:ph type="sldNum" sz="quarter" idx="12"/>
          </p:nvPr>
        </p:nvSpPr>
        <p:spPr/>
        <p:txBody>
          <a:bodyPr/>
          <a:lstStyle/>
          <a:p>
            <a:fld id="{FF9A5B26-6612-4033-BEF7-FF7C3E7FDA38}" type="slidenum">
              <a:rPr kumimoji="1" lang="ja-JP" altLang="en-US" smtClean="0"/>
              <a:t>‹#›</a:t>
            </a:fld>
            <a:endParaRPr kumimoji="1" lang="ja-JP" altLang="en-US"/>
          </a:p>
        </p:txBody>
      </p:sp>
    </p:spTree>
    <p:extLst>
      <p:ext uri="{BB962C8B-B14F-4D97-AF65-F5344CB8AC3E}">
        <p14:creationId xmlns:p14="http://schemas.microsoft.com/office/powerpoint/2010/main" val="3535190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05B9BA5-5132-8B54-D1D6-A23FC4A6437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C053808-5AE3-24FF-DDDD-50069C2BC0C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2D60005-45C8-00C3-5437-78AB06F27029}"/>
              </a:ext>
            </a:extLst>
          </p:cNvPr>
          <p:cNvSpPr>
            <a:spLocks noGrp="1"/>
          </p:cNvSpPr>
          <p:nvPr>
            <p:ph type="dt" sz="half" idx="10"/>
          </p:nvPr>
        </p:nvSpPr>
        <p:spPr/>
        <p:txBody>
          <a:bodyPr/>
          <a:lstStyle/>
          <a:p>
            <a:fld id="{B0C6FE24-B8AD-4EF4-9C4C-77FF3B230865}" type="datetimeFigureOut">
              <a:rPr kumimoji="1" lang="ja-JP" altLang="en-US" smtClean="0"/>
              <a:t>2024/10/6</a:t>
            </a:fld>
            <a:endParaRPr kumimoji="1" lang="ja-JP" altLang="en-US"/>
          </a:p>
        </p:txBody>
      </p:sp>
      <p:sp>
        <p:nvSpPr>
          <p:cNvPr id="5" name="フッター プレースホルダー 4">
            <a:extLst>
              <a:ext uri="{FF2B5EF4-FFF2-40B4-BE49-F238E27FC236}">
                <a16:creationId xmlns:a16="http://schemas.microsoft.com/office/drawing/2014/main" id="{89AFEF9B-D8DA-EAA6-E617-3A825067FC1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CC241F6-CB05-18C4-FCD4-167C0254A977}"/>
              </a:ext>
            </a:extLst>
          </p:cNvPr>
          <p:cNvSpPr>
            <a:spLocks noGrp="1"/>
          </p:cNvSpPr>
          <p:nvPr>
            <p:ph type="sldNum" sz="quarter" idx="12"/>
          </p:nvPr>
        </p:nvSpPr>
        <p:spPr/>
        <p:txBody>
          <a:bodyPr/>
          <a:lstStyle/>
          <a:p>
            <a:fld id="{FF9A5B26-6612-4033-BEF7-FF7C3E7FDA38}" type="slidenum">
              <a:rPr kumimoji="1" lang="ja-JP" altLang="en-US" smtClean="0"/>
              <a:t>‹#›</a:t>
            </a:fld>
            <a:endParaRPr kumimoji="1" lang="ja-JP" altLang="en-US"/>
          </a:p>
        </p:txBody>
      </p:sp>
    </p:spTree>
    <p:extLst>
      <p:ext uri="{BB962C8B-B14F-4D97-AF65-F5344CB8AC3E}">
        <p14:creationId xmlns:p14="http://schemas.microsoft.com/office/powerpoint/2010/main" val="821852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FFFBE8A-7455-119D-936D-6B7064CA59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6E321D2-6842-A89A-7621-F2F8C8DD76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0C44B3-3A5A-A3E5-B62D-67BD79639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C6FE24-B8AD-4EF4-9C4C-77FF3B230865}" type="datetimeFigureOut">
              <a:rPr kumimoji="1" lang="ja-JP" altLang="en-US" smtClean="0"/>
              <a:t>2024/10/6</a:t>
            </a:fld>
            <a:endParaRPr kumimoji="1" lang="ja-JP" altLang="en-US"/>
          </a:p>
        </p:txBody>
      </p:sp>
      <p:sp>
        <p:nvSpPr>
          <p:cNvPr id="5" name="フッター プレースホルダー 4">
            <a:extLst>
              <a:ext uri="{FF2B5EF4-FFF2-40B4-BE49-F238E27FC236}">
                <a16:creationId xmlns:a16="http://schemas.microsoft.com/office/drawing/2014/main" id="{4627CD45-8211-115C-5C92-B3FB4DEFEA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DEBF12D-7C4C-BA59-6A76-94E2C9BF85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9A5B26-6612-4033-BEF7-FF7C3E7FDA38}" type="slidenum">
              <a:rPr kumimoji="1" lang="ja-JP" altLang="en-US" smtClean="0"/>
              <a:t>‹#›</a:t>
            </a:fld>
            <a:endParaRPr kumimoji="1" lang="ja-JP" altLang="en-US"/>
          </a:p>
        </p:txBody>
      </p:sp>
    </p:spTree>
    <p:extLst>
      <p:ext uri="{BB962C8B-B14F-4D97-AF65-F5344CB8AC3E}">
        <p14:creationId xmlns:p14="http://schemas.microsoft.com/office/powerpoint/2010/main" val="727471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huggingface.co/#:~:text=We%E2%80%99re%20on%20a%20journey%20to%20advance%20and%20democratize%20artificial%20intelligence" TargetMode="External"/><Relationship Id="rId2" Type="http://schemas.openxmlformats.org/officeDocument/2006/relationships/hyperlink" Target="https://www.nltk.org/" TargetMode="External"/><Relationship Id="rId1" Type="http://schemas.openxmlformats.org/officeDocument/2006/relationships/slideLayout" Target="../slideLayouts/slideLayout2.xml"/><Relationship Id="rId6" Type="http://schemas.openxmlformats.org/officeDocument/2006/relationships/hyperlink" Target="https://colab.research.google.com/" TargetMode="External"/><Relationship Id="rId5" Type="http://schemas.openxmlformats.org/officeDocument/2006/relationships/hyperlink" Target="https://megagonlabs.github.io/ginza/" TargetMode="External"/><Relationship Id="rId4" Type="http://schemas.openxmlformats.org/officeDocument/2006/relationships/hyperlink" Target="https://pytorch.org/"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nltk.org/api/nltk.text.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0.wmf"/></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3.wmf"/><Relationship Id="rId5" Type="http://schemas.openxmlformats.org/officeDocument/2006/relationships/oleObject" Target="../embeddings/oleObject3.bin"/><Relationship Id="rId4" Type="http://schemas.openxmlformats.org/officeDocument/2006/relationships/image" Target="../media/image22.wmf"/></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5.wmf"/></Relationships>
</file>

<file path=ppt/slides/_rels/slide49.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2.wmf"/><Relationship Id="rId5" Type="http://schemas.openxmlformats.org/officeDocument/2006/relationships/oleObject" Target="../embeddings/oleObject6.bin"/><Relationship Id="rId4" Type="http://schemas.openxmlformats.org/officeDocument/2006/relationships/image" Target="../media/image26.wmf"/></Relationships>
</file>

<file path=ppt/slides/_rels/slide50.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9.bin"/><Relationship Id="rId4" Type="http://schemas.openxmlformats.org/officeDocument/2006/relationships/image" Target="../media/image27.wmf"/></Relationships>
</file>

<file path=ppt/slides/_rels/slide5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oleObject" Target="../embeddings/oleObject11.bin"/></Relationships>
</file>

<file path=ppt/slides/_rels/slide5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34.wmf"/><Relationship Id="rId4" Type="http://schemas.openxmlformats.org/officeDocument/2006/relationships/oleObject" Target="../embeddings/oleObject13.bin"/></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3.wmf"/><Relationship Id="rId5" Type="http://schemas.openxmlformats.org/officeDocument/2006/relationships/oleObject" Target="../embeddings/oleObject15.bin"/><Relationship Id="rId4" Type="http://schemas.openxmlformats.org/officeDocument/2006/relationships/image" Target="../media/image35.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8.wmf"/></Relationships>
</file>

<file path=ppt/slides/_rels/slide6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41.wmf"/><Relationship Id="rId4" Type="http://schemas.openxmlformats.org/officeDocument/2006/relationships/oleObject" Target="../embeddings/oleObject18.bin"/></Relationships>
</file>

<file path=ppt/slides/_rels/slide6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4.wmf"/><Relationship Id="rId7" Type="http://schemas.openxmlformats.org/officeDocument/2006/relationships/image" Target="../media/image46.wmf"/><Relationship Id="rId2"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oleObject" Target="../embeddings/oleObject22.bin"/><Relationship Id="rId5" Type="http://schemas.openxmlformats.org/officeDocument/2006/relationships/image" Target="../media/image45.wmf"/><Relationship Id="rId4" Type="http://schemas.openxmlformats.org/officeDocument/2006/relationships/oleObject" Target="../embeddings/oleObject21.bin"/></Relationships>
</file>

<file path=ppt/slides/_rels/slide72.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23.bin"/><Relationship Id="rId1" Type="http://schemas.openxmlformats.org/officeDocument/2006/relationships/slideLayout" Target="../slideLayouts/slideLayout2.xml"/><Relationship Id="rId5" Type="http://schemas.openxmlformats.org/officeDocument/2006/relationships/image" Target="../media/image48.wmf"/><Relationship Id="rId4" Type="http://schemas.openxmlformats.org/officeDocument/2006/relationships/oleObject" Target="../embeddings/oleObject24.bin"/></Relationships>
</file>

<file path=ppt/slides/_rels/slide7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1.wmf"/></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B00E8C-FA35-A2F8-0BBC-45C6F317649B}"/>
              </a:ext>
            </a:extLst>
          </p:cNvPr>
          <p:cNvSpPr>
            <a:spLocks noGrp="1"/>
          </p:cNvSpPr>
          <p:nvPr>
            <p:ph type="ctrTitle"/>
          </p:nvPr>
        </p:nvSpPr>
        <p:spPr/>
        <p:txBody>
          <a:bodyPr>
            <a:normAutofit/>
          </a:bodyPr>
          <a:lstStyle/>
          <a:p>
            <a:r>
              <a:rPr lang="en-US" altLang="ja-JP" dirty="0"/>
              <a:t>NLTK Tutorial and NLP Features</a:t>
            </a:r>
            <a:endParaRPr kumimoji="1" lang="ja-JP" altLang="en-US" dirty="0"/>
          </a:p>
        </p:txBody>
      </p:sp>
      <p:sp>
        <p:nvSpPr>
          <p:cNvPr id="3" name="字幕 2">
            <a:extLst>
              <a:ext uri="{FF2B5EF4-FFF2-40B4-BE49-F238E27FC236}">
                <a16:creationId xmlns:a16="http://schemas.microsoft.com/office/drawing/2014/main" id="{0FB0F31E-5791-5588-1A31-E0CE96734B1A}"/>
              </a:ext>
            </a:extLst>
          </p:cNvPr>
          <p:cNvSpPr>
            <a:spLocks noGrp="1"/>
          </p:cNvSpPr>
          <p:nvPr>
            <p:ph type="subTitle" idx="1"/>
          </p:nvPr>
        </p:nvSpPr>
        <p:spPr/>
        <p:txBody>
          <a:bodyPr>
            <a:normAutofit lnSpcReduction="10000"/>
          </a:bodyPr>
          <a:lstStyle/>
          <a:p>
            <a:r>
              <a:rPr lang="en-US" altLang="ja-JP" dirty="0"/>
              <a:t>ITA17 Natural Language Processing with Deep Learning</a:t>
            </a:r>
          </a:p>
          <a:p>
            <a:r>
              <a:rPr lang="en-US" altLang="ja-JP" dirty="0"/>
              <a:t>Lecture #2 (2024/10/7)</a:t>
            </a:r>
          </a:p>
          <a:p>
            <a:r>
              <a:rPr kumimoji="1" lang="en-US" altLang="ja-JP" dirty="0"/>
              <a:t>Yuichi Yaguchi, </a:t>
            </a:r>
            <a:r>
              <a:rPr kumimoji="1" lang="en-US" altLang="ja-JP" dirty="0" err="1"/>
              <a:t>Ph.D</a:t>
            </a:r>
            <a:r>
              <a:rPr lang="en-US" altLang="ja-JP" dirty="0"/>
              <a:t> (CSE)</a:t>
            </a:r>
            <a:br>
              <a:rPr kumimoji="1" lang="en-US" altLang="ja-JP" dirty="0"/>
            </a:br>
            <a:endParaRPr kumimoji="1" lang="ja-JP" altLang="en-US" dirty="0"/>
          </a:p>
          <a:p>
            <a:endParaRPr kumimoji="1" lang="ja-JP" altLang="en-US" dirty="0"/>
          </a:p>
        </p:txBody>
      </p:sp>
    </p:spTree>
    <p:extLst>
      <p:ext uri="{BB962C8B-B14F-4D97-AF65-F5344CB8AC3E}">
        <p14:creationId xmlns:p14="http://schemas.microsoft.com/office/powerpoint/2010/main" val="2239150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E289B5-A80C-C014-8670-23414C509F5F}"/>
              </a:ext>
            </a:extLst>
          </p:cNvPr>
          <p:cNvSpPr>
            <a:spLocks noGrp="1"/>
          </p:cNvSpPr>
          <p:nvPr>
            <p:ph type="title"/>
          </p:nvPr>
        </p:nvSpPr>
        <p:spPr/>
        <p:txBody>
          <a:bodyPr/>
          <a:lstStyle/>
          <a:p>
            <a:r>
              <a:rPr lang="en-US" altLang="ja-JP" dirty="0"/>
              <a:t>Coding Environment</a:t>
            </a:r>
            <a:endParaRPr kumimoji="1" lang="ja-JP" altLang="en-US" dirty="0"/>
          </a:p>
        </p:txBody>
      </p:sp>
      <p:sp>
        <p:nvSpPr>
          <p:cNvPr id="3" name="コンテンツ プレースホルダー 2">
            <a:extLst>
              <a:ext uri="{FF2B5EF4-FFF2-40B4-BE49-F238E27FC236}">
                <a16:creationId xmlns:a16="http://schemas.microsoft.com/office/drawing/2014/main" id="{FCAAED0E-7C39-519D-7D03-799D73CAB336}"/>
              </a:ext>
            </a:extLst>
          </p:cNvPr>
          <p:cNvSpPr>
            <a:spLocks noGrp="1"/>
          </p:cNvSpPr>
          <p:nvPr>
            <p:ph idx="1"/>
          </p:nvPr>
        </p:nvSpPr>
        <p:spPr/>
        <p:txBody>
          <a:bodyPr/>
          <a:lstStyle/>
          <a:p>
            <a:r>
              <a:rPr kumimoji="1" lang="en-US" altLang="ja-JP" dirty="0"/>
              <a:t>Current NLT: Python-based</a:t>
            </a:r>
          </a:p>
          <a:p>
            <a:pPr lvl="1"/>
            <a:r>
              <a:rPr lang="en-US" altLang="ja-JP" dirty="0"/>
              <a:t>NLTK Library</a:t>
            </a:r>
            <a:r>
              <a:rPr lang="ja-JP" altLang="en-US" dirty="0"/>
              <a:t> </a:t>
            </a:r>
            <a:r>
              <a:rPr lang="fr-CH" altLang="ja-JP" dirty="0">
                <a:hlinkClick r:id="rId2"/>
              </a:rPr>
              <a:t>https://www.nltk.org/</a:t>
            </a:r>
            <a:endParaRPr lang="fr-CH" altLang="ja-JP" dirty="0"/>
          </a:p>
          <a:p>
            <a:pPr lvl="1"/>
            <a:r>
              <a:rPr kumimoji="1" lang="fr-CH" altLang="ja-JP" dirty="0"/>
              <a:t>Huggin</a:t>
            </a:r>
            <a:r>
              <a:rPr lang="fr-CH" altLang="ja-JP" dirty="0"/>
              <a:t>g Face – AI Data Corpus: </a:t>
            </a:r>
            <a:r>
              <a:rPr lang="en-US" altLang="ja-JP" dirty="0">
                <a:hlinkClick r:id="rId3"/>
              </a:rPr>
              <a:t>Hugging Face – The AI community building the future.</a:t>
            </a:r>
            <a:endParaRPr lang="en-US" altLang="ja-JP" dirty="0"/>
          </a:p>
          <a:p>
            <a:pPr lvl="1"/>
            <a:r>
              <a:rPr lang="en-US" altLang="ja-JP" dirty="0"/>
              <a:t>Torch (</a:t>
            </a:r>
            <a:r>
              <a:rPr lang="en-US" altLang="ja-JP" dirty="0" err="1"/>
              <a:t>PyTorch</a:t>
            </a:r>
            <a:r>
              <a:rPr lang="en-US" altLang="ja-JP" dirty="0"/>
              <a:t>)</a:t>
            </a:r>
            <a:r>
              <a:rPr lang="ja-JP" altLang="en-US" dirty="0"/>
              <a:t> </a:t>
            </a:r>
            <a:r>
              <a:rPr lang="fr-CH" altLang="ja-JP" dirty="0">
                <a:hlinkClick r:id="rId4"/>
              </a:rPr>
              <a:t>https://pytorch.org/</a:t>
            </a:r>
            <a:endParaRPr lang="fr-CH" altLang="ja-JP" dirty="0"/>
          </a:p>
          <a:p>
            <a:pPr lvl="2"/>
            <a:r>
              <a:rPr lang="en-US" altLang="ja-JP" dirty="0"/>
              <a:t>Transformer, BERT, etc.</a:t>
            </a:r>
            <a:endParaRPr lang="fr-CH" altLang="ja-JP" dirty="0"/>
          </a:p>
          <a:p>
            <a:pPr lvl="1"/>
            <a:r>
              <a:rPr kumimoji="1" lang="fr-CH" altLang="ja-JP" dirty="0"/>
              <a:t>Japanese Corpus</a:t>
            </a:r>
            <a:r>
              <a:rPr lang="fr-CH" altLang="ja-JP" dirty="0"/>
              <a:t> Ginza: </a:t>
            </a:r>
            <a:r>
              <a:rPr lang="fr-CH" altLang="ja-JP" dirty="0">
                <a:hlinkClick r:id="rId5"/>
              </a:rPr>
              <a:t>https://megagonlabs.github.io/ginza/</a:t>
            </a:r>
            <a:endParaRPr lang="fr-CH" altLang="ja-JP" dirty="0"/>
          </a:p>
          <a:p>
            <a:r>
              <a:rPr lang="en-US" altLang="ja-JP" dirty="0"/>
              <a:t>Interface and Development Environment: Google </a:t>
            </a:r>
            <a:r>
              <a:rPr lang="en-US" altLang="ja-JP" dirty="0" err="1"/>
              <a:t>Colab</a:t>
            </a:r>
            <a:endParaRPr lang="en-US" altLang="ja-JP" dirty="0"/>
          </a:p>
          <a:p>
            <a:pPr lvl="1"/>
            <a:r>
              <a:rPr kumimoji="1" lang="fr-CH" altLang="ja-JP" dirty="0">
                <a:hlinkClick r:id="rId6"/>
              </a:rPr>
              <a:t>https://colab.research.google.com/</a:t>
            </a:r>
            <a:endParaRPr kumimoji="1" lang="fr-CH" altLang="ja-JP" dirty="0"/>
          </a:p>
          <a:p>
            <a:pPr marL="457200" lvl="1" indent="0">
              <a:buNone/>
            </a:pPr>
            <a:endParaRPr kumimoji="1" lang="ja-JP" altLang="en-US" dirty="0"/>
          </a:p>
        </p:txBody>
      </p:sp>
    </p:spTree>
    <p:extLst>
      <p:ext uri="{BB962C8B-B14F-4D97-AF65-F5344CB8AC3E}">
        <p14:creationId xmlns:p14="http://schemas.microsoft.com/office/powerpoint/2010/main" val="1868413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3A4FF6-BA2A-75F2-383A-3B17C3BB9EF4}"/>
              </a:ext>
            </a:extLst>
          </p:cNvPr>
          <p:cNvSpPr>
            <a:spLocks noGrp="1"/>
          </p:cNvSpPr>
          <p:nvPr>
            <p:ph type="title"/>
          </p:nvPr>
        </p:nvSpPr>
        <p:spPr/>
        <p:txBody>
          <a:bodyPr/>
          <a:lstStyle/>
          <a:p>
            <a:r>
              <a:rPr lang="en-US" altLang="ja-JP" dirty="0"/>
              <a:t>Google </a:t>
            </a:r>
            <a:r>
              <a:rPr lang="en-US" altLang="ja-JP" dirty="0" err="1"/>
              <a:t>Colab</a:t>
            </a:r>
            <a:r>
              <a:rPr lang="en-US" altLang="ja-JP" dirty="0"/>
              <a:t> and NLTK</a:t>
            </a:r>
            <a:endParaRPr kumimoji="1" lang="ja-JP" altLang="en-US" dirty="0"/>
          </a:p>
        </p:txBody>
      </p:sp>
      <p:sp>
        <p:nvSpPr>
          <p:cNvPr id="3" name="コンテンツ プレースホルダー 2">
            <a:extLst>
              <a:ext uri="{FF2B5EF4-FFF2-40B4-BE49-F238E27FC236}">
                <a16:creationId xmlns:a16="http://schemas.microsoft.com/office/drawing/2014/main" id="{65AB44D8-079F-AB23-DA25-3655CB81827A}"/>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5D082181-9040-ECB2-D7CB-C8BE96EC7895}"/>
              </a:ext>
            </a:extLst>
          </p:cNvPr>
          <p:cNvPicPr>
            <a:picLocks noChangeAspect="1"/>
          </p:cNvPicPr>
          <p:nvPr/>
        </p:nvPicPr>
        <p:blipFill>
          <a:blip r:embed="rId2"/>
          <a:stretch>
            <a:fillRect/>
          </a:stretch>
        </p:blipFill>
        <p:spPr>
          <a:xfrm>
            <a:off x="952275" y="1583227"/>
            <a:ext cx="9692279" cy="4836134"/>
          </a:xfrm>
          <a:prstGeom prst="rect">
            <a:avLst/>
          </a:prstGeom>
        </p:spPr>
      </p:pic>
      <p:sp>
        <p:nvSpPr>
          <p:cNvPr id="6" name="正方形/長方形 5">
            <a:extLst>
              <a:ext uri="{FF2B5EF4-FFF2-40B4-BE49-F238E27FC236}">
                <a16:creationId xmlns:a16="http://schemas.microsoft.com/office/drawing/2014/main" id="{04F83A71-C5E0-D1ED-2F83-8D85BA20836E}"/>
              </a:ext>
            </a:extLst>
          </p:cNvPr>
          <p:cNvSpPr/>
          <p:nvPr/>
        </p:nvSpPr>
        <p:spPr>
          <a:xfrm>
            <a:off x="6831218" y="3909055"/>
            <a:ext cx="2237033" cy="74410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Pre-installed!</a:t>
            </a:r>
            <a:endParaRPr kumimoji="1" lang="ja-JP" altLang="en-US" dirty="0">
              <a:solidFill>
                <a:schemeClr val="tx1"/>
              </a:solidFill>
            </a:endParaRPr>
          </a:p>
        </p:txBody>
      </p:sp>
    </p:spTree>
    <p:extLst>
      <p:ext uri="{BB962C8B-B14F-4D97-AF65-F5344CB8AC3E}">
        <p14:creationId xmlns:p14="http://schemas.microsoft.com/office/powerpoint/2010/main" val="273687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3A4FF6-BA2A-75F2-383A-3B17C3BB9EF4}"/>
              </a:ext>
            </a:extLst>
          </p:cNvPr>
          <p:cNvSpPr>
            <a:spLocks noGrp="1"/>
          </p:cNvSpPr>
          <p:nvPr>
            <p:ph type="title"/>
          </p:nvPr>
        </p:nvSpPr>
        <p:spPr/>
        <p:txBody>
          <a:bodyPr/>
          <a:lstStyle/>
          <a:p>
            <a:r>
              <a:rPr lang="en-US" altLang="ja-JP" dirty="0"/>
              <a:t>Google </a:t>
            </a:r>
            <a:r>
              <a:rPr lang="en-US" altLang="ja-JP" dirty="0" err="1"/>
              <a:t>Colab</a:t>
            </a:r>
            <a:r>
              <a:rPr lang="en-US" altLang="ja-JP" dirty="0"/>
              <a:t> and NLTK</a:t>
            </a:r>
            <a:endParaRPr kumimoji="1" lang="ja-JP" altLang="en-US" dirty="0"/>
          </a:p>
        </p:txBody>
      </p:sp>
      <p:sp>
        <p:nvSpPr>
          <p:cNvPr id="3" name="コンテンツ プレースホルダー 2">
            <a:extLst>
              <a:ext uri="{FF2B5EF4-FFF2-40B4-BE49-F238E27FC236}">
                <a16:creationId xmlns:a16="http://schemas.microsoft.com/office/drawing/2014/main" id="{65AB44D8-079F-AB23-DA25-3655CB81827A}"/>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5D082181-9040-ECB2-D7CB-C8BE96EC7895}"/>
              </a:ext>
            </a:extLst>
          </p:cNvPr>
          <p:cNvPicPr>
            <a:picLocks noChangeAspect="1"/>
          </p:cNvPicPr>
          <p:nvPr/>
        </p:nvPicPr>
        <p:blipFill>
          <a:blip r:embed="rId2"/>
          <a:stretch>
            <a:fillRect/>
          </a:stretch>
        </p:blipFill>
        <p:spPr>
          <a:xfrm>
            <a:off x="952275" y="1583227"/>
            <a:ext cx="9692279" cy="4836134"/>
          </a:xfrm>
          <a:prstGeom prst="rect">
            <a:avLst/>
          </a:prstGeom>
        </p:spPr>
      </p:pic>
      <p:sp>
        <p:nvSpPr>
          <p:cNvPr id="6" name="正方形/長方形 5">
            <a:extLst>
              <a:ext uri="{FF2B5EF4-FFF2-40B4-BE49-F238E27FC236}">
                <a16:creationId xmlns:a16="http://schemas.microsoft.com/office/drawing/2014/main" id="{04F83A71-C5E0-D1ED-2F83-8D85BA20836E}"/>
              </a:ext>
            </a:extLst>
          </p:cNvPr>
          <p:cNvSpPr/>
          <p:nvPr/>
        </p:nvSpPr>
        <p:spPr>
          <a:xfrm>
            <a:off x="6831218" y="3909055"/>
            <a:ext cx="2237033" cy="74410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Pre-installed!</a:t>
            </a:r>
            <a:endParaRPr kumimoji="1" lang="ja-JP" altLang="en-US" dirty="0">
              <a:solidFill>
                <a:schemeClr val="tx1"/>
              </a:solidFill>
            </a:endParaRPr>
          </a:p>
        </p:txBody>
      </p:sp>
    </p:spTree>
    <p:extLst>
      <p:ext uri="{BB962C8B-B14F-4D97-AF65-F5344CB8AC3E}">
        <p14:creationId xmlns:p14="http://schemas.microsoft.com/office/powerpoint/2010/main" val="3369962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6D988E-5153-C61F-3CB4-2A89F5775692}"/>
              </a:ext>
            </a:extLst>
          </p:cNvPr>
          <p:cNvSpPr>
            <a:spLocks noGrp="1"/>
          </p:cNvSpPr>
          <p:nvPr>
            <p:ph type="title"/>
          </p:nvPr>
        </p:nvSpPr>
        <p:spPr/>
        <p:txBody>
          <a:bodyPr/>
          <a:lstStyle/>
          <a:p>
            <a:r>
              <a:rPr lang="en-US" altLang="ja-JP" dirty="0" err="1"/>
              <a:t>nltk.Text</a:t>
            </a:r>
            <a:r>
              <a:rPr lang="en-US" altLang="ja-JP" dirty="0"/>
              <a:t> (Class)</a:t>
            </a:r>
            <a:endParaRPr kumimoji="1" lang="ja-JP" altLang="en-US" dirty="0"/>
          </a:p>
        </p:txBody>
      </p:sp>
      <p:sp>
        <p:nvSpPr>
          <p:cNvPr id="3" name="コンテンツ プレースホルダー 2">
            <a:extLst>
              <a:ext uri="{FF2B5EF4-FFF2-40B4-BE49-F238E27FC236}">
                <a16:creationId xmlns:a16="http://schemas.microsoft.com/office/drawing/2014/main" id="{AC15D6E3-B5C6-0468-1529-4468C3B9CBBD}"/>
              </a:ext>
            </a:extLst>
          </p:cNvPr>
          <p:cNvSpPr>
            <a:spLocks noGrp="1"/>
          </p:cNvSpPr>
          <p:nvPr>
            <p:ph idx="1"/>
          </p:nvPr>
        </p:nvSpPr>
        <p:spPr/>
        <p:txBody>
          <a:bodyPr>
            <a:normAutofit fontScale="70000" lnSpcReduction="20000"/>
          </a:bodyPr>
          <a:lstStyle/>
          <a:p>
            <a:r>
              <a:rPr lang="fr-CH" altLang="ja-JP" dirty="0">
                <a:hlinkClick r:id="rId2"/>
              </a:rPr>
              <a:t>NLTK :: nltk.text module</a:t>
            </a:r>
            <a:endParaRPr lang="en-US" altLang="ja-JP" dirty="0"/>
          </a:p>
          <a:p>
            <a:r>
              <a:rPr lang="en-US" altLang="ja-JP" dirty="0" err="1"/>
              <a:t>nltk.Text</a:t>
            </a:r>
            <a:r>
              <a:rPr lang="en-US" altLang="ja-JP" dirty="0"/>
              <a:t> – Wrapping word lists (tokenized list)</a:t>
            </a:r>
          </a:p>
          <a:p>
            <a:pPr lvl="1"/>
            <a:r>
              <a:rPr lang="en-US" altLang="ja-JP" dirty="0" err="1">
                <a:highlight>
                  <a:srgbClr val="FFFF00"/>
                </a:highlight>
              </a:rPr>
              <a:t>collocation</a:t>
            </a:r>
            <a:r>
              <a:rPr lang="en-US" altLang="ja-JP" dirty="0" err="1"/>
              <a:t>_list</a:t>
            </a:r>
            <a:r>
              <a:rPr lang="en-US" altLang="ja-JP" dirty="0"/>
              <a:t>(num=20, </a:t>
            </a:r>
            <a:r>
              <a:rPr lang="en-US" altLang="ja-JP" dirty="0" err="1"/>
              <a:t>window_size</a:t>
            </a:r>
            <a:r>
              <a:rPr lang="en-US" altLang="ja-JP" dirty="0"/>
              <a:t>=2)</a:t>
            </a:r>
          </a:p>
          <a:p>
            <a:pPr lvl="1"/>
            <a:r>
              <a:rPr lang="en-US" altLang="ja-JP" dirty="0"/>
              <a:t>collocations(num=20, </a:t>
            </a:r>
            <a:r>
              <a:rPr lang="en-US" altLang="ja-JP" dirty="0" err="1"/>
              <a:t>window_size</a:t>
            </a:r>
            <a:r>
              <a:rPr lang="en-US" altLang="ja-JP" dirty="0"/>
              <a:t>=2)</a:t>
            </a:r>
          </a:p>
          <a:p>
            <a:pPr lvl="1"/>
            <a:r>
              <a:rPr lang="en-US" altLang="ja-JP" dirty="0" err="1"/>
              <a:t>common_contexts</a:t>
            </a:r>
            <a:r>
              <a:rPr lang="en-US" altLang="ja-JP" dirty="0"/>
              <a:t>(words, num=20)</a:t>
            </a:r>
          </a:p>
          <a:p>
            <a:pPr lvl="1"/>
            <a:r>
              <a:rPr lang="en-US" altLang="ja-JP" dirty="0">
                <a:highlight>
                  <a:srgbClr val="FFFF00"/>
                </a:highlight>
              </a:rPr>
              <a:t>concordance</a:t>
            </a:r>
            <a:r>
              <a:rPr lang="en-US" altLang="ja-JP" dirty="0"/>
              <a:t>(word, width=79, lines=25)</a:t>
            </a:r>
          </a:p>
          <a:p>
            <a:pPr lvl="1"/>
            <a:r>
              <a:rPr lang="en-US" altLang="ja-JP" dirty="0" err="1"/>
              <a:t>concordance_list</a:t>
            </a:r>
            <a:r>
              <a:rPr lang="en-US" altLang="ja-JP" dirty="0"/>
              <a:t>(word, width=79, lines=25)</a:t>
            </a:r>
          </a:p>
          <a:p>
            <a:pPr lvl="1"/>
            <a:r>
              <a:rPr lang="fr-CH" altLang="ja-JP" dirty="0">
                <a:highlight>
                  <a:srgbClr val="FFFF00"/>
                </a:highlight>
              </a:rPr>
              <a:t>count</a:t>
            </a:r>
            <a:r>
              <a:rPr lang="fr-CH" altLang="ja-JP" dirty="0"/>
              <a:t>(word)</a:t>
            </a:r>
          </a:p>
          <a:p>
            <a:pPr lvl="1"/>
            <a:r>
              <a:rPr lang="fr-CH" altLang="ja-JP" dirty="0">
                <a:highlight>
                  <a:srgbClr val="FFFF00"/>
                </a:highlight>
              </a:rPr>
              <a:t>dispersion</a:t>
            </a:r>
            <a:r>
              <a:rPr lang="fr-CH" altLang="ja-JP" dirty="0"/>
              <a:t>_plot(words)</a:t>
            </a:r>
          </a:p>
          <a:p>
            <a:pPr lvl="1"/>
            <a:r>
              <a:rPr lang="fr-CH" altLang="ja-JP" dirty="0"/>
              <a:t>findall(regexp)</a:t>
            </a:r>
          </a:p>
          <a:p>
            <a:pPr lvl="1"/>
            <a:r>
              <a:rPr lang="en-US" altLang="ja-JP" dirty="0"/>
              <a:t>generate(length=100, </a:t>
            </a:r>
            <a:r>
              <a:rPr lang="en-US" altLang="ja-JP" dirty="0" err="1"/>
              <a:t>text_seed</a:t>
            </a:r>
            <a:r>
              <a:rPr lang="en-US" altLang="ja-JP" dirty="0"/>
              <a:t>=None, </a:t>
            </a:r>
            <a:r>
              <a:rPr lang="en-US" altLang="ja-JP" dirty="0" err="1"/>
              <a:t>random_seed</a:t>
            </a:r>
            <a:r>
              <a:rPr lang="en-US" altLang="ja-JP" dirty="0"/>
              <a:t>=42)</a:t>
            </a:r>
          </a:p>
          <a:p>
            <a:pPr lvl="1"/>
            <a:r>
              <a:rPr lang="fr-CH" altLang="ja-JP" dirty="0"/>
              <a:t>index(word)</a:t>
            </a:r>
          </a:p>
          <a:p>
            <a:pPr lvl="1"/>
            <a:r>
              <a:rPr lang="fr-CH" altLang="ja-JP" dirty="0"/>
              <a:t>plot(*args)</a:t>
            </a:r>
            <a:r>
              <a:rPr lang="ja-JP" altLang="en-US" dirty="0"/>
              <a:t> </a:t>
            </a:r>
            <a:r>
              <a:rPr lang="en-US" altLang="ja-JP" dirty="0"/>
              <a:t>:=</a:t>
            </a:r>
            <a:r>
              <a:rPr lang="ja-JP" altLang="en-US" dirty="0"/>
              <a:t> </a:t>
            </a:r>
            <a:r>
              <a:rPr lang="fr-CH" altLang="ja-JP" dirty="0"/>
              <a:t>nltk.prob.FreqDist.plot()</a:t>
            </a:r>
          </a:p>
          <a:p>
            <a:pPr lvl="1"/>
            <a:r>
              <a:rPr lang="fr-CH" altLang="ja-JP" dirty="0"/>
              <a:t>readability(method)</a:t>
            </a:r>
          </a:p>
          <a:p>
            <a:pPr lvl="1"/>
            <a:r>
              <a:rPr lang="fr-CH" altLang="ja-JP" dirty="0">
                <a:highlight>
                  <a:srgbClr val="FFFF00"/>
                </a:highlight>
              </a:rPr>
              <a:t>similar</a:t>
            </a:r>
            <a:r>
              <a:rPr lang="fr-CH" altLang="ja-JP" dirty="0"/>
              <a:t>(word, num=20)</a:t>
            </a:r>
          </a:p>
          <a:p>
            <a:pPr lvl="1"/>
            <a:r>
              <a:rPr lang="fr-CH" altLang="ja-JP" dirty="0"/>
              <a:t>vocab()</a:t>
            </a:r>
          </a:p>
        </p:txBody>
      </p:sp>
    </p:spTree>
    <p:extLst>
      <p:ext uri="{BB962C8B-B14F-4D97-AF65-F5344CB8AC3E}">
        <p14:creationId xmlns:p14="http://schemas.microsoft.com/office/powerpoint/2010/main" val="3891007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FFAD2B-8334-B9C8-5F86-2CFC850187AF}"/>
              </a:ext>
            </a:extLst>
          </p:cNvPr>
          <p:cNvSpPr>
            <a:spLocks noGrp="1"/>
          </p:cNvSpPr>
          <p:nvPr>
            <p:ph type="title"/>
          </p:nvPr>
        </p:nvSpPr>
        <p:spPr/>
        <p:txBody>
          <a:bodyPr/>
          <a:lstStyle/>
          <a:p>
            <a:r>
              <a:rPr kumimoji="1" lang="en-US" altLang="ja-JP" dirty="0"/>
              <a:t>Collocation</a:t>
            </a:r>
            <a:endParaRPr kumimoji="1" lang="ja-JP" altLang="en-US" dirty="0"/>
          </a:p>
        </p:txBody>
      </p:sp>
      <p:sp>
        <p:nvSpPr>
          <p:cNvPr id="3" name="コンテンツ プレースホルダー 2">
            <a:extLst>
              <a:ext uri="{FF2B5EF4-FFF2-40B4-BE49-F238E27FC236}">
                <a16:creationId xmlns:a16="http://schemas.microsoft.com/office/drawing/2014/main" id="{75DAFA80-E82F-D98D-77CF-589B4FCD247C}"/>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0E5D993C-05DE-A292-44CE-0319C849723E}"/>
              </a:ext>
            </a:extLst>
          </p:cNvPr>
          <p:cNvPicPr>
            <a:picLocks noChangeAspect="1"/>
          </p:cNvPicPr>
          <p:nvPr/>
        </p:nvPicPr>
        <p:blipFill>
          <a:blip r:embed="rId2"/>
          <a:stretch>
            <a:fillRect/>
          </a:stretch>
        </p:blipFill>
        <p:spPr>
          <a:xfrm>
            <a:off x="2440203" y="1471105"/>
            <a:ext cx="6732884" cy="4952355"/>
          </a:xfrm>
          <a:prstGeom prst="rect">
            <a:avLst/>
          </a:prstGeom>
        </p:spPr>
      </p:pic>
    </p:spTree>
    <p:extLst>
      <p:ext uri="{BB962C8B-B14F-4D97-AF65-F5344CB8AC3E}">
        <p14:creationId xmlns:p14="http://schemas.microsoft.com/office/powerpoint/2010/main" val="1080074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CFC267-53E4-C5C6-B702-08A90DC57DB4}"/>
              </a:ext>
            </a:extLst>
          </p:cNvPr>
          <p:cNvSpPr>
            <a:spLocks noGrp="1"/>
          </p:cNvSpPr>
          <p:nvPr>
            <p:ph type="title"/>
          </p:nvPr>
        </p:nvSpPr>
        <p:spPr/>
        <p:txBody>
          <a:bodyPr/>
          <a:lstStyle/>
          <a:p>
            <a:r>
              <a:rPr kumimoji="1" lang="en-US" altLang="ja-JP" dirty="0"/>
              <a:t>Concordance</a:t>
            </a:r>
            <a:endParaRPr kumimoji="1" lang="ja-JP" altLang="en-US" dirty="0"/>
          </a:p>
        </p:txBody>
      </p:sp>
      <p:sp>
        <p:nvSpPr>
          <p:cNvPr id="3" name="コンテンツ プレースホルダー 2">
            <a:extLst>
              <a:ext uri="{FF2B5EF4-FFF2-40B4-BE49-F238E27FC236}">
                <a16:creationId xmlns:a16="http://schemas.microsoft.com/office/drawing/2014/main" id="{C1B27A04-97CC-BE7C-70E0-B85F5F8ABB47}"/>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FC88931E-667B-A902-5BE6-A901A870ACE7}"/>
              </a:ext>
            </a:extLst>
          </p:cNvPr>
          <p:cNvPicPr>
            <a:picLocks noChangeAspect="1"/>
          </p:cNvPicPr>
          <p:nvPr/>
        </p:nvPicPr>
        <p:blipFill>
          <a:blip r:embed="rId2"/>
          <a:stretch>
            <a:fillRect/>
          </a:stretch>
        </p:blipFill>
        <p:spPr>
          <a:xfrm>
            <a:off x="1661493" y="1690688"/>
            <a:ext cx="8869013" cy="4010585"/>
          </a:xfrm>
          <a:prstGeom prst="rect">
            <a:avLst/>
          </a:prstGeom>
        </p:spPr>
      </p:pic>
    </p:spTree>
    <p:extLst>
      <p:ext uri="{BB962C8B-B14F-4D97-AF65-F5344CB8AC3E}">
        <p14:creationId xmlns:p14="http://schemas.microsoft.com/office/powerpoint/2010/main" val="877630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23F14A-E4F6-5160-DF3B-0F5A2D32A578}"/>
              </a:ext>
            </a:extLst>
          </p:cNvPr>
          <p:cNvSpPr>
            <a:spLocks noGrp="1"/>
          </p:cNvSpPr>
          <p:nvPr>
            <p:ph type="title"/>
          </p:nvPr>
        </p:nvSpPr>
        <p:spPr/>
        <p:txBody>
          <a:bodyPr/>
          <a:lstStyle/>
          <a:p>
            <a:r>
              <a:rPr kumimoji="1" lang="en-US" altLang="ja-JP" dirty="0"/>
              <a:t>Count, Dispersion</a:t>
            </a:r>
            <a:endParaRPr kumimoji="1" lang="ja-JP" altLang="en-US" dirty="0"/>
          </a:p>
        </p:txBody>
      </p:sp>
      <p:sp>
        <p:nvSpPr>
          <p:cNvPr id="3" name="コンテンツ プレースホルダー 2">
            <a:extLst>
              <a:ext uri="{FF2B5EF4-FFF2-40B4-BE49-F238E27FC236}">
                <a16:creationId xmlns:a16="http://schemas.microsoft.com/office/drawing/2014/main" id="{85BE989C-3732-F427-FEB7-BC10C8FEFC89}"/>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E235C469-B7FB-3FFE-9005-0C28C6766FD0}"/>
              </a:ext>
            </a:extLst>
          </p:cNvPr>
          <p:cNvPicPr>
            <a:picLocks noChangeAspect="1"/>
          </p:cNvPicPr>
          <p:nvPr/>
        </p:nvPicPr>
        <p:blipFill>
          <a:blip r:embed="rId2"/>
          <a:stretch>
            <a:fillRect/>
          </a:stretch>
        </p:blipFill>
        <p:spPr>
          <a:xfrm>
            <a:off x="3032940" y="1400123"/>
            <a:ext cx="5523742" cy="5202341"/>
          </a:xfrm>
          <a:prstGeom prst="rect">
            <a:avLst/>
          </a:prstGeom>
        </p:spPr>
      </p:pic>
    </p:spTree>
    <p:extLst>
      <p:ext uri="{BB962C8B-B14F-4D97-AF65-F5344CB8AC3E}">
        <p14:creationId xmlns:p14="http://schemas.microsoft.com/office/powerpoint/2010/main" val="2087406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1C6CC9-9343-1CCB-C1E0-6DCCD3E393C7}"/>
              </a:ext>
            </a:extLst>
          </p:cNvPr>
          <p:cNvSpPr>
            <a:spLocks noGrp="1"/>
          </p:cNvSpPr>
          <p:nvPr>
            <p:ph type="title"/>
          </p:nvPr>
        </p:nvSpPr>
        <p:spPr/>
        <p:txBody>
          <a:bodyPr/>
          <a:lstStyle/>
          <a:p>
            <a:r>
              <a:rPr lang="en-US" altLang="ja-JP" dirty="0"/>
              <a:t>S</a:t>
            </a:r>
            <a:r>
              <a:rPr kumimoji="1" lang="en-US" altLang="ja-JP" dirty="0"/>
              <a:t>imilar</a:t>
            </a:r>
            <a:endParaRPr kumimoji="1" lang="ja-JP" altLang="en-US" dirty="0"/>
          </a:p>
        </p:txBody>
      </p:sp>
      <p:sp>
        <p:nvSpPr>
          <p:cNvPr id="3" name="コンテンツ プレースホルダー 2">
            <a:extLst>
              <a:ext uri="{FF2B5EF4-FFF2-40B4-BE49-F238E27FC236}">
                <a16:creationId xmlns:a16="http://schemas.microsoft.com/office/drawing/2014/main" id="{A8B9BCBF-5A62-4287-6D10-EDFF1951F681}"/>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4DBD5D25-74F3-4814-B612-B291BD9FBAC1}"/>
              </a:ext>
            </a:extLst>
          </p:cNvPr>
          <p:cNvPicPr>
            <a:picLocks noChangeAspect="1"/>
          </p:cNvPicPr>
          <p:nvPr/>
        </p:nvPicPr>
        <p:blipFill>
          <a:blip r:embed="rId2"/>
          <a:stretch>
            <a:fillRect/>
          </a:stretch>
        </p:blipFill>
        <p:spPr>
          <a:xfrm>
            <a:off x="2102339" y="1866592"/>
            <a:ext cx="7792537" cy="3600953"/>
          </a:xfrm>
          <a:prstGeom prst="rect">
            <a:avLst/>
          </a:prstGeom>
        </p:spPr>
      </p:pic>
    </p:spTree>
    <p:extLst>
      <p:ext uri="{BB962C8B-B14F-4D97-AF65-F5344CB8AC3E}">
        <p14:creationId xmlns:p14="http://schemas.microsoft.com/office/powerpoint/2010/main" val="2782636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388666-1BD5-6F71-EB16-8E4533694522}"/>
              </a:ext>
            </a:extLst>
          </p:cNvPr>
          <p:cNvSpPr>
            <a:spLocks noGrp="1"/>
          </p:cNvSpPr>
          <p:nvPr>
            <p:ph type="title"/>
          </p:nvPr>
        </p:nvSpPr>
        <p:spPr/>
        <p:txBody>
          <a:bodyPr/>
          <a:lstStyle/>
          <a:p>
            <a:r>
              <a:rPr kumimoji="1" lang="en-US" altLang="ja-JP" dirty="0"/>
              <a:t>Document Feature (List/set)</a:t>
            </a:r>
            <a:endParaRPr kumimoji="1" lang="ja-JP" altLang="en-US" dirty="0"/>
          </a:p>
        </p:txBody>
      </p:sp>
      <p:sp>
        <p:nvSpPr>
          <p:cNvPr id="3" name="コンテンツ プレースホルダー 2">
            <a:extLst>
              <a:ext uri="{FF2B5EF4-FFF2-40B4-BE49-F238E27FC236}">
                <a16:creationId xmlns:a16="http://schemas.microsoft.com/office/drawing/2014/main" id="{4B7A5CAF-E1E4-B3E4-D630-661B76FAA7A5}"/>
              </a:ext>
            </a:extLst>
          </p:cNvPr>
          <p:cNvSpPr>
            <a:spLocks noGrp="1"/>
          </p:cNvSpPr>
          <p:nvPr>
            <p:ph idx="1"/>
          </p:nvPr>
        </p:nvSpPr>
        <p:spPr/>
        <p:txBody>
          <a:bodyPr/>
          <a:lstStyle/>
          <a:p>
            <a:r>
              <a:rPr kumimoji="1" lang="en-US" altLang="ja-JP" dirty="0" err="1"/>
              <a:t>len</a:t>
            </a:r>
            <a:r>
              <a:rPr kumimoji="1" lang="en-US" altLang="ja-JP" dirty="0"/>
              <a:t>(A): displays the number of words in document A</a:t>
            </a:r>
          </a:p>
          <a:p>
            <a:r>
              <a:rPr kumimoji="1" lang="en-US" altLang="ja-JP" dirty="0" err="1"/>
              <a:t>soreted</a:t>
            </a:r>
            <a:r>
              <a:rPr kumimoji="1" lang="en-US" altLang="ja-JP" dirty="0"/>
              <a:t>(): Sort the set in ascending order</a:t>
            </a:r>
          </a:p>
          <a:p>
            <a:r>
              <a:rPr kumimoji="1" lang="en-US" altLang="ja-JP" dirty="0"/>
              <a:t>set(): Number of words (vocabulary) in a document not allowing duplicates</a:t>
            </a:r>
          </a:p>
          <a:p>
            <a:r>
              <a:rPr kumimoji="1" lang="en-US" altLang="ja-JP" dirty="0" err="1"/>
              <a:t>len</a:t>
            </a:r>
            <a:r>
              <a:rPr kumimoji="1" lang="en-US" altLang="ja-JP" dirty="0"/>
              <a:t>(set(A))/</a:t>
            </a:r>
            <a:r>
              <a:rPr kumimoji="1" lang="en-US" altLang="ja-JP" dirty="0" err="1"/>
              <a:t>len</a:t>
            </a:r>
            <a:r>
              <a:rPr kumimoji="1" lang="en-US" altLang="ja-JP" dirty="0"/>
              <a:t>(A)): measure of vocabulary richness (no more than one 1 in a vocabulary)</a:t>
            </a:r>
          </a:p>
          <a:p>
            <a:r>
              <a:rPr kumimoji="1" lang="en-US" altLang="ja-JP" dirty="0"/>
              <a:t>count(): Frequency of the word specified in the argument</a:t>
            </a:r>
          </a:p>
          <a:p>
            <a:r>
              <a:rPr kumimoji="1" lang="en-US" altLang="ja-JP" dirty="0"/>
              <a:t>100 * </a:t>
            </a:r>
            <a:r>
              <a:rPr kumimoji="1" lang="en-US" altLang="ja-JP" dirty="0" err="1"/>
              <a:t>A.count</a:t>
            </a:r>
            <a:r>
              <a:rPr kumimoji="1" lang="en-US" altLang="ja-JP" dirty="0"/>
              <a:t>() / </a:t>
            </a:r>
            <a:r>
              <a:rPr kumimoji="1" lang="en-US" altLang="ja-JP" dirty="0" err="1"/>
              <a:t>len</a:t>
            </a:r>
            <a:r>
              <a:rPr kumimoji="1" lang="en-US" altLang="ja-JP" dirty="0"/>
              <a:t>(A): probability of occurrence of a particular word in document A</a:t>
            </a:r>
            <a:endParaRPr kumimoji="1" lang="ja-JP" altLang="en-US" dirty="0"/>
          </a:p>
        </p:txBody>
      </p:sp>
    </p:spTree>
    <p:extLst>
      <p:ext uri="{BB962C8B-B14F-4D97-AF65-F5344CB8AC3E}">
        <p14:creationId xmlns:p14="http://schemas.microsoft.com/office/powerpoint/2010/main" val="1726874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D192C7-69B1-86AB-1D08-79A70F3C3706}"/>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8241EA42-245B-C74C-CA77-1E0AB9126E55}"/>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3155CC8B-F62E-4A9B-369E-301376997FF5}"/>
              </a:ext>
            </a:extLst>
          </p:cNvPr>
          <p:cNvPicPr>
            <a:picLocks noChangeAspect="1"/>
          </p:cNvPicPr>
          <p:nvPr/>
        </p:nvPicPr>
        <p:blipFill>
          <a:blip r:embed="rId2"/>
          <a:stretch>
            <a:fillRect/>
          </a:stretch>
        </p:blipFill>
        <p:spPr>
          <a:xfrm>
            <a:off x="1559169" y="0"/>
            <a:ext cx="9073662" cy="6858000"/>
          </a:xfrm>
          <a:prstGeom prst="rect">
            <a:avLst/>
          </a:prstGeom>
        </p:spPr>
      </p:pic>
    </p:spTree>
    <p:extLst>
      <p:ext uri="{BB962C8B-B14F-4D97-AF65-F5344CB8AC3E}">
        <p14:creationId xmlns:p14="http://schemas.microsoft.com/office/powerpoint/2010/main" val="978245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7C4EF4-E1D9-7853-03D9-85D024CC8E6D}"/>
              </a:ext>
            </a:extLst>
          </p:cNvPr>
          <p:cNvSpPr>
            <a:spLocks noGrp="1"/>
          </p:cNvSpPr>
          <p:nvPr>
            <p:ph type="title"/>
          </p:nvPr>
        </p:nvSpPr>
        <p:spPr/>
        <p:txBody>
          <a:bodyPr/>
          <a:lstStyle/>
          <a:p>
            <a:r>
              <a:rPr kumimoji="1" lang="en-US" altLang="ja-JP" dirty="0"/>
              <a:t>Lexical Diversity</a:t>
            </a:r>
            <a:endParaRPr kumimoji="1" lang="ja-JP" altLang="en-US" dirty="0"/>
          </a:p>
        </p:txBody>
      </p:sp>
      <p:sp>
        <p:nvSpPr>
          <p:cNvPr id="3" name="コンテンツ プレースホルダー 2">
            <a:extLst>
              <a:ext uri="{FF2B5EF4-FFF2-40B4-BE49-F238E27FC236}">
                <a16:creationId xmlns:a16="http://schemas.microsoft.com/office/drawing/2014/main" id="{75EFB9F5-962D-E0DA-82D5-7F215EF90F6B}"/>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E56C98AB-28F8-D0D8-6839-1CA55C2D57AA}"/>
              </a:ext>
            </a:extLst>
          </p:cNvPr>
          <p:cNvPicPr>
            <a:picLocks noChangeAspect="1"/>
          </p:cNvPicPr>
          <p:nvPr/>
        </p:nvPicPr>
        <p:blipFill>
          <a:blip r:embed="rId2"/>
          <a:stretch>
            <a:fillRect/>
          </a:stretch>
        </p:blipFill>
        <p:spPr>
          <a:xfrm>
            <a:off x="2587907" y="2309273"/>
            <a:ext cx="7135221" cy="3867690"/>
          </a:xfrm>
          <a:prstGeom prst="rect">
            <a:avLst/>
          </a:prstGeom>
        </p:spPr>
      </p:pic>
    </p:spTree>
    <p:extLst>
      <p:ext uri="{BB962C8B-B14F-4D97-AF65-F5344CB8AC3E}">
        <p14:creationId xmlns:p14="http://schemas.microsoft.com/office/powerpoint/2010/main" val="2625194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40F4A3-F4BF-7C8F-AEF0-317D25F6A11C}"/>
              </a:ext>
            </a:extLst>
          </p:cNvPr>
          <p:cNvSpPr>
            <a:spLocks noGrp="1"/>
          </p:cNvSpPr>
          <p:nvPr>
            <p:ph type="title"/>
          </p:nvPr>
        </p:nvSpPr>
        <p:spPr>
          <a:xfrm>
            <a:off x="838200" y="365125"/>
            <a:ext cx="10515600" cy="1325563"/>
          </a:xfrm>
        </p:spPr>
        <p:txBody>
          <a:bodyPr/>
          <a:lstStyle/>
          <a:p>
            <a:r>
              <a:rPr lang="en-US" altLang="ja-JP" dirty="0"/>
              <a:t>Document Processing: List Operation</a:t>
            </a:r>
            <a:endParaRPr lang="ja-JP" altLang="en-US" dirty="0"/>
          </a:p>
        </p:txBody>
      </p:sp>
      <p:sp>
        <p:nvSpPr>
          <p:cNvPr id="5" name="コンテンツ プレースホルダー 4">
            <a:extLst>
              <a:ext uri="{FF2B5EF4-FFF2-40B4-BE49-F238E27FC236}">
                <a16:creationId xmlns:a16="http://schemas.microsoft.com/office/drawing/2014/main" id="{D645CA3C-238B-230A-CFC2-B6C1A62D96D7}"/>
              </a:ext>
            </a:extLst>
          </p:cNvPr>
          <p:cNvSpPr>
            <a:spLocks noGrp="1"/>
          </p:cNvSpPr>
          <p:nvPr>
            <p:ph idx="1"/>
          </p:nvPr>
        </p:nvSpPr>
        <p:spPr/>
        <p:txBody>
          <a:bodyPr>
            <a:normAutofit fontScale="70000" lnSpcReduction="20000"/>
          </a:bodyPr>
          <a:lstStyle/>
          <a:p>
            <a:r>
              <a:rPr lang="en-US" altLang="ja-JP" b="1" dirty="0" err="1"/>
              <a:t>list.append</a:t>
            </a:r>
            <a:r>
              <a:rPr lang="en-US" altLang="ja-JP" b="1" dirty="0"/>
              <a:t>(x)</a:t>
            </a:r>
            <a:r>
              <a:rPr lang="en-US" altLang="ja-JP" dirty="0"/>
              <a:t>: appends an element to the end of the list, equivalent to a[</a:t>
            </a:r>
            <a:r>
              <a:rPr lang="en-US" altLang="ja-JP" dirty="0" err="1"/>
              <a:t>len</a:t>
            </a:r>
            <a:r>
              <a:rPr lang="en-US" altLang="ja-JP" dirty="0"/>
              <a:t>(a):] = [x].</a:t>
            </a:r>
          </a:p>
          <a:p>
            <a:r>
              <a:rPr lang="en-US" altLang="ja-JP" b="1" dirty="0" err="1"/>
              <a:t>list.extend</a:t>
            </a:r>
            <a:r>
              <a:rPr lang="en-US" altLang="ja-JP" b="1" dirty="0"/>
              <a:t>(</a:t>
            </a:r>
            <a:r>
              <a:rPr lang="en-US" altLang="ja-JP" b="1" dirty="0" err="1"/>
              <a:t>iterable</a:t>
            </a:r>
            <a:r>
              <a:rPr lang="en-US" altLang="ja-JP" b="1" dirty="0"/>
              <a:t>)</a:t>
            </a:r>
            <a:r>
              <a:rPr lang="en-US" altLang="ja-JP" dirty="0"/>
              <a:t>: extends the list by adding all elements of </a:t>
            </a:r>
            <a:r>
              <a:rPr lang="en-US" altLang="ja-JP" dirty="0" err="1"/>
              <a:t>iterable</a:t>
            </a:r>
            <a:r>
              <a:rPr lang="en-US" altLang="ja-JP" dirty="0"/>
              <a:t> to the target list. a[</a:t>
            </a:r>
            <a:r>
              <a:rPr lang="en-US" altLang="ja-JP" dirty="0" err="1"/>
              <a:t>len</a:t>
            </a:r>
            <a:r>
              <a:rPr lang="en-US" altLang="ja-JP" dirty="0"/>
              <a:t>(a):] = equivalent to </a:t>
            </a:r>
            <a:r>
              <a:rPr lang="en-US" altLang="ja-JP" dirty="0" err="1"/>
              <a:t>iterable</a:t>
            </a:r>
            <a:r>
              <a:rPr lang="en-US" altLang="ja-JP" dirty="0"/>
              <a:t>.</a:t>
            </a:r>
          </a:p>
          <a:p>
            <a:r>
              <a:rPr lang="en-US" altLang="ja-JP" b="1" dirty="0" err="1"/>
              <a:t>list.insert</a:t>
            </a:r>
            <a:r>
              <a:rPr lang="en-US" altLang="ja-JP" b="1" dirty="0"/>
              <a:t>(</a:t>
            </a:r>
            <a:r>
              <a:rPr lang="en-US" altLang="ja-JP" b="1" dirty="0" err="1"/>
              <a:t>i</a:t>
            </a:r>
            <a:r>
              <a:rPr lang="en-US" altLang="ja-JP" b="1" dirty="0"/>
              <a:t>, x)</a:t>
            </a:r>
            <a:r>
              <a:rPr lang="en-US" altLang="ja-JP" dirty="0"/>
              <a:t>: inserts an element at the specified position. The first argument is the index of the list, and the insertion occurs immediately before the element with that index. Thus, </a:t>
            </a:r>
            <a:r>
              <a:rPr lang="en-US" altLang="ja-JP" dirty="0" err="1"/>
              <a:t>a.insert</a:t>
            </a:r>
            <a:r>
              <a:rPr lang="en-US" altLang="ja-JP" dirty="0"/>
              <a:t>(0, x) inserts at the beginning of the list. Also, </a:t>
            </a:r>
            <a:r>
              <a:rPr lang="en-US" altLang="ja-JP" dirty="0" err="1"/>
              <a:t>a.insert</a:t>
            </a:r>
            <a:r>
              <a:rPr lang="en-US" altLang="ja-JP" dirty="0"/>
              <a:t>(</a:t>
            </a:r>
            <a:r>
              <a:rPr lang="en-US" altLang="ja-JP" dirty="0" err="1"/>
              <a:t>len</a:t>
            </a:r>
            <a:r>
              <a:rPr lang="en-US" altLang="ja-JP" dirty="0"/>
              <a:t>(a), x) is equivalent to </a:t>
            </a:r>
            <a:r>
              <a:rPr lang="en-US" altLang="ja-JP" dirty="0" err="1"/>
              <a:t>a.append</a:t>
            </a:r>
            <a:r>
              <a:rPr lang="en-US" altLang="ja-JP" dirty="0"/>
              <a:t>(x).</a:t>
            </a:r>
          </a:p>
          <a:p>
            <a:r>
              <a:rPr lang="en-US" altLang="ja-JP" b="1" dirty="0" err="1"/>
              <a:t>list.remove</a:t>
            </a:r>
            <a:r>
              <a:rPr lang="en-US" altLang="ja-JP" b="1" dirty="0"/>
              <a:t>(x)</a:t>
            </a:r>
            <a:r>
              <a:rPr lang="en-US" altLang="ja-JP" dirty="0"/>
              <a:t>: removes the first element in the list with a value equal to x. If no element corresponds, a </a:t>
            </a:r>
            <a:r>
              <a:rPr lang="en-US" altLang="ja-JP" dirty="0" err="1"/>
              <a:t>ValueError</a:t>
            </a:r>
            <a:r>
              <a:rPr lang="en-US" altLang="ja-JP" dirty="0"/>
              <a:t> is raised.</a:t>
            </a:r>
          </a:p>
          <a:p>
            <a:r>
              <a:rPr lang="en-US" altLang="ja-JP" b="1" dirty="0" err="1"/>
              <a:t>list.pop</a:t>
            </a:r>
            <a:r>
              <a:rPr lang="en-US" altLang="ja-JP" b="1" dirty="0"/>
              <a:t>([</a:t>
            </a:r>
            <a:r>
              <a:rPr lang="en-US" altLang="ja-JP" b="1" dirty="0" err="1"/>
              <a:t>i</a:t>
            </a:r>
            <a:r>
              <a:rPr lang="en-US" altLang="ja-JP" b="1" dirty="0"/>
              <a:t>])</a:t>
            </a:r>
            <a:r>
              <a:rPr lang="en-US" altLang="ja-JP" dirty="0"/>
              <a:t>: removes the element at the specified position in the list from the list and returns that element. If no index is specified, </a:t>
            </a:r>
            <a:r>
              <a:rPr lang="en-US" altLang="ja-JP" dirty="0" err="1"/>
              <a:t>a.pop</a:t>
            </a:r>
            <a:r>
              <a:rPr lang="en-US" altLang="ja-JP" dirty="0"/>
              <a:t>() removes the element at the end of the list and returns it. Again, the element is removed. (The square brackets on either side of </a:t>
            </a:r>
            <a:r>
              <a:rPr lang="en-US" altLang="ja-JP" dirty="0" err="1"/>
              <a:t>i</a:t>
            </a:r>
            <a:r>
              <a:rPr lang="en-US" altLang="ja-JP" dirty="0"/>
              <a:t> in the method usage (signature) only indicate that this argument is optional, so there is no need to enter square brackets. You will see this notation frequently in the Python Library Reference).</a:t>
            </a:r>
            <a:endParaRPr lang="ja-JP" altLang="en-US" dirty="0"/>
          </a:p>
        </p:txBody>
      </p:sp>
    </p:spTree>
    <p:extLst>
      <p:ext uri="{BB962C8B-B14F-4D97-AF65-F5344CB8AC3E}">
        <p14:creationId xmlns:p14="http://schemas.microsoft.com/office/powerpoint/2010/main" val="2647024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40F4A3-F4BF-7C8F-AEF0-317D25F6A11C}"/>
              </a:ext>
            </a:extLst>
          </p:cNvPr>
          <p:cNvSpPr>
            <a:spLocks noGrp="1"/>
          </p:cNvSpPr>
          <p:nvPr>
            <p:ph type="title"/>
          </p:nvPr>
        </p:nvSpPr>
        <p:spPr>
          <a:xfrm>
            <a:off x="838200" y="365125"/>
            <a:ext cx="10515600" cy="1325563"/>
          </a:xfrm>
        </p:spPr>
        <p:txBody>
          <a:bodyPr/>
          <a:lstStyle/>
          <a:p>
            <a:r>
              <a:rPr lang="en-US" altLang="ja-JP" dirty="0"/>
              <a:t>Document Processing: List Operation</a:t>
            </a:r>
            <a:endParaRPr lang="ja-JP" altLang="en-US" dirty="0"/>
          </a:p>
        </p:txBody>
      </p:sp>
      <p:sp>
        <p:nvSpPr>
          <p:cNvPr id="5" name="コンテンツ プレースホルダー 4">
            <a:extLst>
              <a:ext uri="{FF2B5EF4-FFF2-40B4-BE49-F238E27FC236}">
                <a16:creationId xmlns:a16="http://schemas.microsoft.com/office/drawing/2014/main" id="{D645CA3C-238B-230A-CFC2-B6C1A62D96D7}"/>
              </a:ext>
            </a:extLst>
          </p:cNvPr>
          <p:cNvSpPr>
            <a:spLocks noGrp="1"/>
          </p:cNvSpPr>
          <p:nvPr>
            <p:ph idx="1"/>
          </p:nvPr>
        </p:nvSpPr>
        <p:spPr/>
        <p:txBody>
          <a:bodyPr>
            <a:normAutofit fontScale="85000" lnSpcReduction="20000"/>
          </a:bodyPr>
          <a:lstStyle/>
          <a:p>
            <a:r>
              <a:rPr lang="en-US" altLang="ja-JP" b="1" dirty="0" err="1"/>
              <a:t>list.clear</a:t>
            </a:r>
            <a:r>
              <a:rPr lang="en-US" altLang="ja-JP" b="1" dirty="0"/>
              <a:t>()</a:t>
            </a:r>
            <a:r>
              <a:rPr lang="en-US" altLang="ja-JP" dirty="0"/>
              <a:t>: removes all elements in the list, equivalent to del a[:].</a:t>
            </a:r>
          </a:p>
          <a:p>
            <a:r>
              <a:rPr lang="en-US" altLang="ja-JP" b="1" dirty="0" err="1"/>
              <a:t>list.index</a:t>
            </a:r>
            <a:r>
              <a:rPr lang="en-US" altLang="ja-JP" b="1" dirty="0"/>
              <a:t>(x[, start[, end]])</a:t>
            </a:r>
            <a:r>
              <a:rPr lang="en-US" altLang="ja-JP" dirty="0"/>
              <a:t>: returns the position of the first element in the list with a value equal to x, indexed starting from zero. If no element corresponds, a </a:t>
            </a:r>
            <a:r>
              <a:rPr lang="en-US" altLang="ja-JP" dirty="0" err="1"/>
              <a:t>ValueError</a:t>
            </a:r>
            <a:r>
              <a:rPr lang="en-US" altLang="ja-JP" dirty="0"/>
              <a:t> is sent. The optional arguments start and end are interpreted as a slice notation and can be used to specify a search range for the list. The index returned is not relative to the start argument, but to the beginning of the entire list.</a:t>
            </a:r>
          </a:p>
          <a:p>
            <a:r>
              <a:rPr lang="en-US" altLang="ja-JP" b="1" dirty="0" err="1"/>
              <a:t>list.count</a:t>
            </a:r>
            <a:r>
              <a:rPr lang="en-US" altLang="ja-JP" b="1" dirty="0"/>
              <a:t>(x)</a:t>
            </a:r>
            <a:r>
              <a:rPr lang="en-US" altLang="ja-JP" dirty="0"/>
              <a:t>: returns the number of times x appears in the list.</a:t>
            </a:r>
          </a:p>
          <a:p>
            <a:r>
              <a:rPr lang="en-US" altLang="ja-JP" b="1" dirty="0" err="1"/>
              <a:t>list.sort</a:t>
            </a:r>
            <a:r>
              <a:rPr lang="en-US" altLang="ja-JP" b="1" dirty="0"/>
              <a:t>(key=None, reverse=False)</a:t>
            </a:r>
            <a:r>
              <a:rPr lang="en-US" altLang="ja-JP" dirty="0"/>
              <a:t>: sorts the list items using in-place operations. The argument can be used to customize the sorting method. See the description of sorted().</a:t>
            </a:r>
          </a:p>
          <a:p>
            <a:r>
              <a:rPr lang="en-US" altLang="ja-JP" b="1" dirty="0" err="1"/>
              <a:t>list.reverse</a:t>
            </a:r>
            <a:r>
              <a:rPr lang="en-US" altLang="ja-JP" b="1" dirty="0"/>
              <a:t>()</a:t>
            </a:r>
            <a:r>
              <a:rPr lang="en-US" altLang="ja-JP" dirty="0"/>
              <a:t>: Reverse order the elements of the list using in-place operations.</a:t>
            </a:r>
          </a:p>
          <a:p>
            <a:r>
              <a:rPr lang="en-US" altLang="ja-JP" b="1" dirty="0" err="1"/>
              <a:t>list.copy</a:t>
            </a:r>
            <a:r>
              <a:rPr lang="en-US" altLang="ja-JP" b="1" dirty="0"/>
              <a:t>()</a:t>
            </a:r>
            <a:r>
              <a:rPr lang="en-US" altLang="ja-JP" dirty="0"/>
              <a:t>: returns a shallow copy of the list, equivalent to a[:].</a:t>
            </a:r>
          </a:p>
          <a:p>
            <a:endParaRPr lang="en-US" altLang="ja-JP" dirty="0"/>
          </a:p>
          <a:p>
            <a:endParaRPr lang="ja-JP" altLang="en-US" dirty="0"/>
          </a:p>
        </p:txBody>
      </p:sp>
    </p:spTree>
    <p:extLst>
      <p:ext uri="{BB962C8B-B14F-4D97-AF65-F5344CB8AC3E}">
        <p14:creationId xmlns:p14="http://schemas.microsoft.com/office/powerpoint/2010/main" val="1035031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14990E-1197-82D2-1798-596AA81BCFA0}"/>
              </a:ext>
            </a:extLst>
          </p:cNvPr>
          <p:cNvSpPr>
            <a:spLocks noGrp="1"/>
          </p:cNvSpPr>
          <p:nvPr>
            <p:ph type="title"/>
          </p:nvPr>
        </p:nvSpPr>
        <p:spPr/>
        <p:txBody>
          <a:bodyPr/>
          <a:lstStyle/>
          <a:p>
            <a:r>
              <a:rPr kumimoji="1" lang="en-US" altLang="ja-JP" dirty="0"/>
              <a:t>Statistic Feature on Document</a:t>
            </a:r>
            <a:endParaRPr kumimoji="1" lang="ja-JP" altLang="en-US" dirty="0"/>
          </a:p>
        </p:txBody>
      </p:sp>
      <p:sp>
        <p:nvSpPr>
          <p:cNvPr id="3" name="コンテンツ プレースホルダー 2">
            <a:extLst>
              <a:ext uri="{FF2B5EF4-FFF2-40B4-BE49-F238E27FC236}">
                <a16:creationId xmlns:a16="http://schemas.microsoft.com/office/drawing/2014/main" id="{1E708666-13C2-D216-E1DE-02E0BAEC84E8}"/>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700B1C60-A49A-9D08-F020-1A3AA7C82D28}"/>
              </a:ext>
            </a:extLst>
          </p:cNvPr>
          <p:cNvPicPr>
            <a:picLocks noChangeAspect="1"/>
          </p:cNvPicPr>
          <p:nvPr/>
        </p:nvPicPr>
        <p:blipFill>
          <a:blip r:embed="rId2"/>
          <a:stretch>
            <a:fillRect/>
          </a:stretch>
        </p:blipFill>
        <p:spPr>
          <a:xfrm>
            <a:off x="1120005" y="1389062"/>
            <a:ext cx="9708900" cy="5468938"/>
          </a:xfrm>
          <a:prstGeom prst="rect">
            <a:avLst/>
          </a:prstGeom>
        </p:spPr>
      </p:pic>
    </p:spTree>
    <p:extLst>
      <p:ext uri="{BB962C8B-B14F-4D97-AF65-F5344CB8AC3E}">
        <p14:creationId xmlns:p14="http://schemas.microsoft.com/office/powerpoint/2010/main" val="2332278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14990E-1197-82D2-1798-596AA81BCFA0}"/>
              </a:ext>
            </a:extLst>
          </p:cNvPr>
          <p:cNvSpPr>
            <a:spLocks noGrp="1"/>
          </p:cNvSpPr>
          <p:nvPr>
            <p:ph type="title"/>
          </p:nvPr>
        </p:nvSpPr>
        <p:spPr/>
        <p:txBody>
          <a:bodyPr/>
          <a:lstStyle/>
          <a:p>
            <a:r>
              <a:rPr kumimoji="1" lang="en-US" altLang="ja-JP" dirty="0"/>
              <a:t>Statistic Feature on Document</a:t>
            </a:r>
            <a:endParaRPr kumimoji="1" lang="ja-JP" altLang="en-US" dirty="0"/>
          </a:p>
        </p:txBody>
      </p:sp>
      <p:sp>
        <p:nvSpPr>
          <p:cNvPr id="3" name="コンテンツ プレースホルダー 2">
            <a:extLst>
              <a:ext uri="{FF2B5EF4-FFF2-40B4-BE49-F238E27FC236}">
                <a16:creationId xmlns:a16="http://schemas.microsoft.com/office/drawing/2014/main" id="{1E708666-13C2-D216-E1DE-02E0BAEC84E8}"/>
              </a:ext>
            </a:extLst>
          </p:cNvPr>
          <p:cNvSpPr>
            <a:spLocks noGrp="1"/>
          </p:cNvSpPr>
          <p:nvPr>
            <p:ph idx="1"/>
          </p:nvPr>
        </p:nvSpPr>
        <p:spPr/>
        <p:txBody>
          <a:bodyPr/>
          <a:lstStyle/>
          <a:p>
            <a:endParaRPr kumimoji="1" lang="ja-JP" altLang="en-US" dirty="0"/>
          </a:p>
        </p:txBody>
      </p:sp>
      <p:pic>
        <p:nvPicPr>
          <p:cNvPr id="6" name="図 5">
            <a:extLst>
              <a:ext uri="{FF2B5EF4-FFF2-40B4-BE49-F238E27FC236}">
                <a16:creationId xmlns:a16="http://schemas.microsoft.com/office/drawing/2014/main" id="{671622A7-4046-D084-6EDC-861DB4005545}"/>
              </a:ext>
            </a:extLst>
          </p:cNvPr>
          <p:cNvPicPr>
            <a:picLocks noChangeAspect="1"/>
          </p:cNvPicPr>
          <p:nvPr/>
        </p:nvPicPr>
        <p:blipFill>
          <a:blip r:embed="rId2"/>
          <a:stretch>
            <a:fillRect/>
          </a:stretch>
        </p:blipFill>
        <p:spPr>
          <a:xfrm>
            <a:off x="2947666" y="1402221"/>
            <a:ext cx="6296668" cy="5298870"/>
          </a:xfrm>
          <a:prstGeom prst="rect">
            <a:avLst/>
          </a:prstGeom>
        </p:spPr>
      </p:pic>
    </p:spTree>
    <p:extLst>
      <p:ext uri="{BB962C8B-B14F-4D97-AF65-F5344CB8AC3E}">
        <p14:creationId xmlns:p14="http://schemas.microsoft.com/office/powerpoint/2010/main" val="3610058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14990E-1197-82D2-1798-596AA81BCFA0}"/>
              </a:ext>
            </a:extLst>
          </p:cNvPr>
          <p:cNvSpPr>
            <a:spLocks noGrp="1"/>
          </p:cNvSpPr>
          <p:nvPr>
            <p:ph type="title"/>
          </p:nvPr>
        </p:nvSpPr>
        <p:spPr/>
        <p:txBody>
          <a:bodyPr/>
          <a:lstStyle/>
          <a:p>
            <a:r>
              <a:rPr kumimoji="1" lang="en-US" altLang="ja-JP" dirty="0"/>
              <a:t>Statistic Feature on Document</a:t>
            </a:r>
            <a:endParaRPr kumimoji="1" lang="ja-JP" altLang="en-US" dirty="0"/>
          </a:p>
        </p:txBody>
      </p:sp>
      <p:sp>
        <p:nvSpPr>
          <p:cNvPr id="3" name="コンテンツ プレースホルダー 2">
            <a:extLst>
              <a:ext uri="{FF2B5EF4-FFF2-40B4-BE49-F238E27FC236}">
                <a16:creationId xmlns:a16="http://schemas.microsoft.com/office/drawing/2014/main" id="{1E708666-13C2-D216-E1DE-02E0BAEC84E8}"/>
              </a:ext>
            </a:extLst>
          </p:cNvPr>
          <p:cNvSpPr>
            <a:spLocks noGrp="1"/>
          </p:cNvSpPr>
          <p:nvPr>
            <p:ph idx="1"/>
          </p:nvPr>
        </p:nvSpPr>
        <p:spPr/>
        <p:txBody>
          <a:bodyPr/>
          <a:lstStyle/>
          <a:p>
            <a:endParaRPr kumimoji="1" lang="ja-JP" altLang="en-US" dirty="0"/>
          </a:p>
        </p:txBody>
      </p:sp>
      <p:pic>
        <p:nvPicPr>
          <p:cNvPr id="5" name="図 4">
            <a:extLst>
              <a:ext uri="{FF2B5EF4-FFF2-40B4-BE49-F238E27FC236}">
                <a16:creationId xmlns:a16="http://schemas.microsoft.com/office/drawing/2014/main" id="{2A9252BB-03F3-8A64-542A-C9DDF59A6449}"/>
              </a:ext>
            </a:extLst>
          </p:cNvPr>
          <p:cNvPicPr>
            <a:picLocks noChangeAspect="1"/>
          </p:cNvPicPr>
          <p:nvPr/>
        </p:nvPicPr>
        <p:blipFill>
          <a:blip r:embed="rId2"/>
          <a:stretch>
            <a:fillRect/>
          </a:stretch>
        </p:blipFill>
        <p:spPr>
          <a:xfrm>
            <a:off x="2691722" y="1416677"/>
            <a:ext cx="6808556" cy="5219485"/>
          </a:xfrm>
          <a:prstGeom prst="rect">
            <a:avLst/>
          </a:prstGeom>
        </p:spPr>
      </p:pic>
    </p:spTree>
    <p:extLst>
      <p:ext uri="{BB962C8B-B14F-4D97-AF65-F5344CB8AC3E}">
        <p14:creationId xmlns:p14="http://schemas.microsoft.com/office/powerpoint/2010/main" val="2750726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7D59F3-46E6-3E08-C2D6-0D5D8D9D187A}"/>
              </a:ext>
            </a:extLst>
          </p:cNvPr>
          <p:cNvSpPr>
            <a:spLocks noGrp="1"/>
          </p:cNvSpPr>
          <p:nvPr>
            <p:ph type="title"/>
          </p:nvPr>
        </p:nvSpPr>
        <p:spPr/>
        <p:txBody>
          <a:bodyPr/>
          <a:lstStyle/>
          <a:p>
            <a:r>
              <a:rPr kumimoji="1" lang="en-US" altLang="ja-JP" dirty="0"/>
              <a:t>Word Search using set theory</a:t>
            </a:r>
            <a:endParaRPr kumimoji="1" lang="ja-JP" altLang="en-US" dirty="0"/>
          </a:p>
        </p:txBody>
      </p:sp>
      <p:sp>
        <p:nvSpPr>
          <p:cNvPr id="3" name="コンテンツ プレースホルダー 2">
            <a:extLst>
              <a:ext uri="{FF2B5EF4-FFF2-40B4-BE49-F238E27FC236}">
                <a16:creationId xmlns:a16="http://schemas.microsoft.com/office/drawing/2014/main" id="{4CD7BFC8-71A0-320E-906B-7FA944977CB0}"/>
              </a:ext>
            </a:extLst>
          </p:cNvPr>
          <p:cNvSpPr>
            <a:spLocks noGrp="1"/>
          </p:cNvSpPr>
          <p:nvPr>
            <p:ph idx="1"/>
          </p:nvPr>
        </p:nvSpPr>
        <p:spPr/>
        <p:txBody>
          <a:bodyPr/>
          <a:lstStyle/>
          <a:p>
            <a:r>
              <a:rPr kumimoji="1" lang="en-US" altLang="ja-JP" dirty="0"/>
              <a:t>{w | W ∈ V &amp; P (W) } can be written as</a:t>
            </a:r>
            <a:br>
              <a:rPr kumimoji="1" lang="en-US" altLang="ja-JP" dirty="0"/>
            </a:br>
            <a:r>
              <a:rPr kumimoji="1" lang="en-US" altLang="ja-JP" dirty="0"/>
              <a:t>[w for W in V if P(W)] ← Python notation is here is now</a:t>
            </a:r>
            <a:endParaRPr kumimoji="1" lang="ja-JP" altLang="en-US" dirty="0"/>
          </a:p>
        </p:txBody>
      </p:sp>
      <p:pic>
        <p:nvPicPr>
          <p:cNvPr id="5" name="図 4">
            <a:extLst>
              <a:ext uri="{FF2B5EF4-FFF2-40B4-BE49-F238E27FC236}">
                <a16:creationId xmlns:a16="http://schemas.microsoft.com/office/drawing/2014/main" id="{D61CFA90-AB74-7C0F-7E38-3B6C99543AF4}"/>
              </a:ext>
            </a:extLst>
          </p:cNvPr>
          <p:cNvPicPr>
            <a:picLocks noChangeAspect="1"/>
          </p:cNvPicPr>
          <p:nvPr/>
        </p:nvPicPr>
        <p:blipFill>
          <a:blip r:embed="rId2"/>
          <a:stretch>
            <a:fillRect/>
          </a:stretch>
        </p:blipFill>
        <p:spPr>
          <a:xfrm>
            <a:off x="1460875" y="2740062"/>
            <a:ext cx="8902907" cy="3931461"/>
          </a:xfrm>
          <a:prstGeom prst="rect">
            <a:avLst/>
          </a:prstGeom>
        </p:spPr>
      </p:pic>
    </p:spTree>
    <p:extLst>
      <p:ext uri="{BB962C8B-B14F-4D97-AF65-F5344CB8AC3E}">
        <p14:creationId xmlns:p14="http://schemas.microsoft.com/office/powerpoint/2010/main" val="835654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r>
              <a:rPr lang="en-US" altLang="ja-JP" dirty="0"/>
              <a:t>Features</a:t>
            </a:r>
          </a:p>
        </p:txBody>
      </p:sp>
      <p:sp>
        <p:nvSpPr>
          <p:cNvPr id="118787" name="Rectangle 3"/>
          <p:cNvSpPr>
            <a:spLocks noGrp="1" noChangeArrowheads="1"/>
          </p:cNvSpPr>
          <p:nvPr>
            <p:ph idx="1"/>
          </p:nvPr>
        </p:nvSpPr>
        <p:spPr/>
        <p:txBody>
          <a:bodyPr/>
          <a:lstStyle/>
          <a:p>
            <a:endParaRPr lang="en-US" altLang="ja-JP" dirty="0">
              <a:ea typeface="MS PGothic" panose="020B0600070205080204" pitchFamily="50" charset="-128"/>
            </a:endParaRPr>
          </a:p>
          <a:p>
            <a:endParaRPr lang="en-US" altLang="ja-JP" dirty="0">
              <a:ea typeface="MS PGothic" panose="020B0600070205080204" pitchFamily="50" charset="-128"/>
            </a:endParaRPr>
          </a:p>
          <a:p>
            <a:endParaRPr lang="en-US" altLang="ja-JP" dirty="0">
              <a:ea typeface="MS PGothic" panose="020B0600070205080204" pitchFamily="50" charset="-128"/>
            </a:endParaRPr>
          </a:p>
          <a:p>
            <a:endParaRPr lang="en-US" altLang="ja-JP" dirty="0">
              <a:ea typeface="MS PGothic" panose="020B0600070205080204" pitchFamily="50" charset="-128"/>
            </a:endParaRPr>
          </a:p>
          <a:p>
            <a:endParaRPr lang="en-US" altLang="ja-JP" dirty="0">
              <a:ea typeface="MS PGothic" panose="020B0600070205080204" pitchFamily="50" charset="-128"/>
            </a:endParaRPr>
          </a:p>
          <a:p>
            <a:r>
              <a:rPr lang="en-US" altLang="ja-JP" dirty="0">
                <a:ea typeface="MS PGothic" panose="020B0600070205080204" pitchFamily="50" charset="-128"/>
              </a:rPr>
              <a:t>Here the classification takes as input the whole string</a:t>
            </a:r>
          </a:p>
          <a:p>
            <a:r>
              <a:rPr lang="en-US" altLang="ja-JP" dirty="0">
                <a:ea typeface="MS PGothic" panose="020B0600070205080204" pitchFamily="50" charset="-128"/>
              </a:rPr>
              <a:t>What’s the problem with that?</a:t>
            </a:r>
          </a:p>
          <a:p>
            <a:r>
              <a:rPr lang="en-US" altLang="ja-JP" dirty="0">
                <a:ea typeface="MS PGothic" panose="020B0600070205080204" pitchFamily="50" charset="-128"/>
              </a:rPr>
              <a:t>What are the features that could be useful for this example?</a:t>
            </a:r>
          </a:p>
        </p:txBody>
      </p:sp>
      <p:sp>
        <p:nvSpPr>
          <p:cNvPr id="5" name="スライド番号プレースホルダー 4"/>
          <p:cNvSpPr>
            <a:spLocks noGrp="1"/>
          </p:cNvSpPr>
          <p:nvPr>
            <p:ph type="sldNum" sz="quarter" idx="12"/>
          </p:nvPr>
        </p:nvSpPr>
        <p:spPr/>
        <p:txBody>
          <a:bodyPr/>
          <a:lstStyle/>
          <a:p>
            <a:fld id="{88D8486A-9D65-4DFA-A48E-801CE90EFB55}" type="slidenum">
              <a:rPr lang="en-US" altLang="ja-JP" smtClean="0"/>
              <a:pPr/>
              <a:t>19</a:t>
            </a:fld>
            <a:endParaRPr lang="en-US" altLang="ja-JP"/>
          </a:p>
        </p:txBody>
      </p:sp>
      <p:sp>
        <p:nvSpPr>
          <p:cNvPr id="118788" name="Rectangle 4"/>
          <p:cNvSpPr>
            <a:spLocks noChangeArrowheads="1"/>
          </p:cNvSpPr>
          <p:nvPr/>
        </p:nvSpPr>
        <p:spPr bwMode="auto">
          <a:xfrm>
            <a:off x="2057400" y="3429001"/>
            <a:ext cx="7772400" cy="26273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nSpc>
                <a:spcPct val="90000"/>
              </a:lnSpc>
            </a:pPr>
            <a:endParaRPr lang="en-US" altLang="ja-JP" sz="2800" dirty="0">
              <a:ea typeface="MS PGothic" panose="020B0600070205080204" pitchFamily="50" charset="-128"/>
            </a:endParaRPr>
          </a:p>
        </p:txBody>
      </p:sp>
      <p:sp>
        <p:nvSpPr>
          <p:cNvPr id="9" name="正方形/長方形 8"/>
          <p:cNvSpPr/>
          <p:nvPr/>
        </p:nvSpPr>
        <p:spPr>
          <a:xfrm>
            <a:off x="3048000" y="2105561"/>
            <a:ext cx="6096000" cy="2646878"/>
          </a:xfrm>
          <a:prstGeom prst="rect">
            <a:avLst/>
          </a:prstGeom>
        </p:spPr>
        <p:txBody>
          <a:bodyPr>
            <a:spAutoFit/>
          </a:bodyPr>
          <a:lstStyle/>
          <a:p>
            <a:r>
              <a:rPr lang="en-US" altLang="ja-JP" dirty="0">
                <a:latin typeface="Courier New" panose="02070309020205020404" pitchFamily="49" charset="0"/>
                <a:ea typeface="MS PGothic" panose="020B0600070205080204" pitchFamily="50" charset="-128"/>
              </a:rPr>
              <a:t>&gt;&gt;&gt; text = "Seven-time Formula One champion Michael Schumacher took on the Shanghai circuit Saturday in qualifying for the first Chinese Grand Prix." </a:t>
            </a:r>
          </a:p>
          <a:p>
            <a:r>
              <a:rPr lang="en-US" altLang="ja-JP" dirty="0">
                <a:latin typeface="Courier New" panose="02070309020205020404" pitchFamily="49" charset="0"/>
                <a:ea typeface="MS PGothic" panose="020B0600070205080204" pitchFamily="50" charset="-128"/>
              </a:rPr>
              <a:t>&gt;&gt;&gt; label = “sport” </a:t>
            </a:r>
          </a:p>
          <a:p>
            <a:r>
              <a:rPr lang="en-US" altLang="ja-JP" dirty="0">
                <a:latin typeface="Courier New" panose="02070309020205020404" pitchFamily="49" charset="0"/>
                <a:ea typeface="MS PGothic" panose="020B0600070205080204" pitchFamily="50" charset="-128"/>
              </a:rPr>
              <a:t>&gt;&gt;&gt; </a:t>
            </a:r>
            <a:r>
              <a:rPr lang="en-US" altLang="ja-JP" dirty="0" err="1">
                <a:latin typeface="Courier New" panose="02070309020205020404" pitchFamily="49" charset="0"/>
                <a:ea typeface="MS PGothic" panose="020B0600070205080204" pitchFamily="50" charset="-128"/>
              </a:rPr>
              <a:t>labeled_text</a:t>
            </a:r>
            <a:r>
              <a:rPr lang="en-US" altLang="ja-JP" dirty="0">
                <a:latin typeface="Courier New" panose="02070309020205020404" pitchFamily="49" charset="0"/>
                <a:ea typeface="MS PGothic" panose="020B0600070205080204" pitchFamily="50" charset="-128"/>
              </a:rPr>
              <a:t> = </a:t>
            </a:r>
            <a:r>
              <a:rPr lang="en-US" altLang="ja-JP" dirty="0" err="1">
                <a:latin typeface="Courier New" panose="02070309020205020404" pitchFamily="49" charset="0"/>
                <a:ea typeface="MS PGothic" panose="020B0600070205080204" pitchFamily="50" charset="-128"/>
              </a:rPr>
              <a:t>LabeledText</a:t>
            </a:r>
            <a:r>
              <a:rPr lang="en-US" altLang="ja-JP" dirty="0">
                <a:latin typeface="Courier New" panose="02070309020205020404" pitchFamily="49" charset="0"/>
                <a:ea typeface="MS PGothic" panose="020B0600070205080204" pitchFamily="50" charset="-128"/>
              </a:rPr>
              <a:t>(text, label)</a:t>
            </a:r>
          </a:p>
          <a:p>
            <a:endParaRPr lang="en-US" altLang="ja-JP" dirty="0">
              <a:ea typeface="MS PGothic" panose="020B0600070205080204" pitchFamily="50" charset="-128"/>
            </a:endParaRPr>
          </a:p>
          <a:p>
            <a:endParaRPr lang="en-US" altLang="ja-JP" sz="4000" dirty="0">
              <a:ea typeface="MS PGothic" panose="020B0600070205080204" pitchFamily="50" charset="-128"/>
            </a:endParaRPr>
          </a:p>
        </p:txBody>
      </p:sp>
    </p:spTree>
    <p:extLst>
      <p:ext uri="{BB962C8B-B14F-4D97-AF65-F5344CB8AC3E}">
        <p14:creationId xmlns:p14="http://schemas.microsoft.com/office/powerpoint/2010/main" val="31897359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499"/>
                                          </p:stCondLst>
                                        </p:cTn>
                                        <p:tgtEl>
                                          <p:spTgt spid="11878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8"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ltLang="ja-JP"/>
              <a:t>Feature terminology</a:t>
            </a:r>
          </a:p>
        </p:txBody>
      </p:sp>
      <p:sp>
        <p:nvSpPr>
          <p:cNvPr id="120835" name="Rectangle 3"/>
          <p:cNvSpPr>
            <a:spLocks noGrp="1" noChangeArrowheads="1"/>
          </p:cNvSpPr>
          <p:nvPr>
            <p:ph type="body" idx="1"/>
          </p:nvPr>
        </p:nvSpPr>
        <p:spPr/>
        <p:txBody>
          <a:bodyPr>
            <a:normAutofit fontScale="92500" lnSpcReduction="10000"/>
          </a:bodyPr>
          <a:lstStyle/>
          <a:p>
            <a:r>
              <a:rPr lang="en-US" altLang="ja-JP" dirty="0"/>
              <a:t>Feature: </a:t>
            </a:r>
            <a:r>
              <a:rPr lang="en-US" altLang="ja-JP" b="1" dirty="0"/>
              <a:t>An aspect of the text  that is relevant to the task</a:t>
            </a:r>
          </a:p>
          <a:p>
            <a:r>
              <a:rPr lang="en-US" altLang="ja-JP" dirty="0"/>
              <a:t>Feature value: the realization of the feature in the text</a:t>
            </a:r>
          </a:p>
          <a:p>
            <a:r>
              <a:rPr lang="en-US" altLang="ja-JP" dirty="0"/>
              <a:t>Some typical features</a:t>
            </a:r>
          </a:p>
          <a:p>
            <a:pPr lvl="1"/>
            <a:r>
              <a:rPr lang="en-US" altLang="ja-JP" dirty="0"/>
              <a:t>Words present in text : Kerry, Schumacher, China… </a:t>
            </a:r>
          </a:p>
          <a:p>
            <a:pPr lvl="1"/>
            <a:r>
              <a:rPr lang="en-US" altLang="ja-JP" dirty="0"/>
              <a:t>Frequency of word: Kerry(10), Schumacher(1)…</a:t>
            </a:r>
          </a:p>
          <a:p>
            <a:pPr lvl="1"/>
            <a:r>
              <a:rPr lang="en-US" altLang="ja-JP" dirty="0"/>
              <a:t>Are there dates? Yes/no</a:t>
            </a:r>
          </a:p>
          <a:p>
            <a:pPr lvl="1"/>
            <a:r>
              <a:rPr lang="en-US" altLang="ja-JP" dirty="0"/>
              <a:t>Capitalization (is word capitalized?)</a:t>
            </a:r>
          </a:p>
          <a:p>
            <a:pPr lvl="1"/>
            <a:r>
              <a:rPr lang="en-US" altLang="ja-JP" dirty="0"/>
              <a:t>Are there PERSONS? Yes/no</a:t>
            </a:r>
          </a:p>
          <a:p>
            <a:pPr lvl="1"/>
            <a:r>
              <a:rPr lang="en-US" altLang="ja-JP" dirty="0"/>
              <a:t>Are there ORGANIZATIONS? Yes/no</a:t>
            </a:r>
          </a:p>
          <a:p>
            <a:pPr lvl="1"/>
            <a:r>
              <a:rPr lang="en-US" altLang="ja-JP" dirty="0"/>
              <a:t>WordNet: </a:t>
            </a:r>
            <a:r>
              <a:rPr lang="en-US" altLang="ja-JP" dirty="0" err="1"/>
              <a:t>Holonyms</a:t>
            </a:r>
            <a:r>
              <a:rPr lang="en-US" altLang="ja-JP" dirty="0"/>
              <a:t> (China is part of Asia), Synonyms(China, People's Republic of China, mainland China)</a:t>
            </a:r>
          </a:p>
          <a:p>
            <a:pPr lvl="1"/>
            <a:r>
              <a:rPr lang="en-US" altLang="ja-JP" dirty="0"/>
              <a:t>Chunks, parse trees, POS</a:t>
            </a:r>
          </a:p>
          <a:p>
            <a:pPr lvl="1"/>
            <a:endParaRPr lang="en-US" altLang="ja-JP" dirty="0"/>
          </a:p>
        </p:txBody>
      </p:sp>
      <p:sp>
        <p:nvSpPr>
          <p:cNvPr id="4" name="スライド番号プレースホルダー 3"/>
          <p:cNvSpPr>
            <a:spLocks noGrp="1"/>
          </p:cNvSpPr>
          <p:nvPr>
            <p:ph type="sldNum" sz="quarter" idx="12"/>
          </p:nvPr>
        </p:nvSpPr>
        <p:spPr/>
        <p:txBody>
          <a:bodyPr/>
          <a:lstStyle/>
          <a:p>
            <a:fld id="{F9C604FD-D6D8-4141-A603-D61067F9D0EC}" type="slidenum">
              <a:rPr lang="en-US" altLang="ja-JP" smtClean="0"/>
              <a:pPr/>
              <a:t>20</a:t>
            </a:fld>
            <a:endParaRPr lang="en-US" altLang="ja-JP"/>
          </a:p>
        </p:txBody>
      </p:sp>
    </p:spTree>
    <p:extLst>
      <p:ext uri="{BB962C8B-B14F-4D97-AF65-F5344CB8AC3E}">
        <p14:creationId xmlns:p14="http://schemas.microsoft.com/office/powerpoint/2010/main" val="1435487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altLang="ja-JP"/>
              <a:t>Feature Types</a:t>
            </a:r>
          </a:p>
        </p:txBody>
      </p:sp>
      <p:sp>
        <p:nvSpPr>
          <p:cNvPr id="122883" name="Rectangle 3"/>
          <p:cNvSpPr>
            <a:spLocks noGrp="1" noChangeArrowheads="1"/>
          </p:cNvSpPr>
          <p:nvPr>
            <p:ph type="body" idx="1"/>
          </p:nvPr>
        </p:nvSpPr>
        <p:spPr/>
        <p:txBody>
          <a:bodyPr/>
          <a:lstStyle/>
          <a:p>
            <a:r>
              <a:rPr lang="en-US" altLang="ja-JP" b="1" dirty="0">
                <a:ea typeface="MS PGothic" panose="020B0600070205080204" pitchFamily="50" charset="-128"/>
              </a:rPr>
              <a:t>Boolean (or Binary) Features</a:t>
            </a:r>
          </a:p>
          <a:p>
            <a:r>
              <a:rPr lang="en-US" altLang="ja-JP" dirty="0">
                <a:ea typeface="MS PGothic" panose="020B0600070205080204" pitchFamily="50" charset="-128"/>
              </a:rPr>
              <a:t>Features that generate </a:t>
            </a:r>
            <a:r>
              <a:rPr lang="en-US" altLang="ja-JP" dirty="0" err="1">
                <a:ea typeface="MS PGothic" panose="020B0600070205080204" pitchFamily="50" charset="-128"/>
              </a:rPr>
              <a:t>boolean</a:t>
            </a:r>
            <a:r>
              <a:rPr lang="en-US" altLang="ja-JP" dirty="0">
                <a:ea typeface="MS PGothic" panose="020B0600070205080204" pitchFamily="50" charset="-128"/>
              </a:rPr>
              <a:t> (binary) values. </a:t>
            </a:r>
          </a:p>
          <a:p>
            <a:r>
              <a:rPr lang="en-US" altLang="ja-JP" dirty="0">
                <a:ea typeface="MS PGothic" panose="020B0600070205080204" pitchFamily="50" charset="-128"/>
              </a:rPr>
              <a:t>Boolean features are the simplest and the most common type of feature. </a:t>
            </a:r>
          </a:p>
          <a:p>
            <a:pPr>
              <a:buFontTx/>
              <a:buNone/>
            </a:pPr>
            <a:endParaRPr lang="en-US" altLang="ja-JP" sz="2000" dirty="0">
              <a:ea typeface="MS PGothic" panose="020B0600070205080204" pitchFamily="50" charset="-128"/>
            </a:endParaRPr>
          </a:p>
          <a:p>
            <a:pPr lvl="1"/>
            <a:r>
              <a:rPr lang="en-US" altLang="ja-JP" sz="2000" dirty="0">
                <a:latin typeface="Courier New" panose="02070309020205020404" pitchFamily="49" charset="0"/>
                <a:ea typeface="MS PGothic" panose="020B0600070205080204" pitchFamily="50" charset="-128"/>
              </a:rPr>
              <a:t>f</a:t>
            </a:r>
            <a:r>
              <a:rPr lang="en-US" altLang="ja-JP" sz="2000" baseline="-25000" dirty="0">
                <a:latin typeface="Courier New" panose="02070309020205020404" pitchFamily="49" charset="0"/>
                <a:ea typeface="MS PGothic" panose="020B0600070205080204" pitchFamily="50" charset="-128"/>
              </a:rPr>
              <a:t>1</a:t>
            </a:r>
            <a:r>
              <a:rPr lang="en-US" altLang="ja-JP" sz="2000" dirty="0">
                <a:latin typeface="Courier New" panose="02070309020205020404" pitchFamily="49" charset="0"/>
                <a:ea typeface="MS PGothic" panose="020B0600070205080204" pitchFamily="50" charset="-128"/>
              </a:rPr>
              <a:t>(text) = 1  if text contain “Kerry”</a:t>
            </a:r>
          </a:p>
          <a:p>
            <a:pPr lvl="1">
              <a:buFontTx/>
              <a:buNone/>
            </a:pPr>
            <a:r>
              <a:rPr lang="en-US" altLang="ja-JP" sz="2000" dirty="0">
                <a:latin typeface="Courier New" panose="02070309020205020404" pitchFamily="49" charset="0"/>
                <a:ea typeface="MS PGothic" panose="020B0600070205080204" pitchFamily="50" charset="-128"/>
              </a:rPr>
              <a:t>             0 otherwise</a:t>
            </a:r>
          </a:p>
          <a:p>
            <a:pPr lvl="1"/>
            <a:r>
              <a:rPr lang="en-US" altLang="ja-JP" sz="2000" dirty="0">
                <a:latin typeface="Courier New" panose="02070309020205020404" pitchFamily="49" charset="0"/>
                <a:ea typeface="MS PGothic" panose="020B0600070205080204" pitchFamily="50" charset="-128"/>
              </a:rPr>
              <a:t>f</a:t>
            </a:r>
            <a:r>
              <a:rPr lang="en-US" altLang="ja-JP" sz="2000" baseline="-25000" dirty="0">
                <a:latin typeface="Courier New" panose="02070309020205020404" pitchFamily="49" charset="0"/>
                <a:ea typeface="MS PGothic" panose="020B0600070205080204" pitchFamily="50" charset="-128"/>
              </a:rPr>
              <a:t>2</a:t>
            </a:r>
            <a:r>
              <a:rPr lang="en-US" altLang="ja-JP" sz="2000" dirty="0">
                <a:latin typeface="Courier New" panose="02070309020205020404" pitchFamily="49" charset="0"/>
                <a:ea typeface="MS PGothic" panose="020B0600070205080204" pitchFamily="50" charset="-128"/>
              </a:rPr>
              <a:t>(text) = 1 if text contain PERSON</a:t>
            </a:r>
          </a:p>
          <a:p>
            <a:pPr lvl="1">
              <a:buFontTx/>
              <a:buNone/>
            </a:pPr>
            <a:r>
              <a:rPr lang="en-US" altLang="ja-JP" sz="2000" dirty="0">
                <a:latin typeface="Courier New" panose="02070309020205020404" pitchFamily="49" charset="0"/>
                <a:ea typeface="MS PGothic" panose="020B0600070205080204" pitchFamily="50" charset="-128"/>
              </a:rPr>
              <a:t>             0 otherwise</a:t>
            </a:r>
          </a:p>
          <a:p>
            <a:pPr lvl="1">
              <a:buFontTx/>
              <a:buNone/>
            </a:pPr>
            <a:endParaRPr lang="en-US" altLang="ja-JP" dirty="0">
              <a:latin typeface="Courier New" panose="02070309020205020404" pitchFamily="49" charset="0"/>
              <a:ea typeface="MS PGothic" panose="020B0600070205080204" pitchFamily="50" charset="-128"/>
            </a:endParaRPr>
          </a:p>
        </p:txBody>
      </p:sp>
      <p:sp>
        <p:nvSpPr>
          <p:cNvPr id="4" name="スライド番号プレースホルダー 3"/>
          <p:cNvSpPr>
            <a:spLocks noGrp="1"/>
          </p:cNvSpPr>
          <p:nvPr>
            <p:ph type="sldNum" sz="quarter" idx="12"/>
          </p:nvPr>
        </p:nvSpPr>
        <p:spPr/>
        <p:txBody>
          <a:bodyPr/>
          <a:lstStyle/>
          <a:p>
            <a:fld id="{C961A9DC-29A3-4F2B-A4D0-1A10F3D0421C}" type="slidenum">
              <a:rPr lang="en-US" altLang="ja-JP" smtClean="0"/>
              <a:pPr/>
              <a:t>21</a:t>
            </a:fld>
            <a:endParaRPr lang="en-US" altLang="ja-JP"/>
          </a:p>
        </p:txBody>
      </p:sp>
    </p:spTree>
    <p:extLst>
      <p:ext uri="{BB962C8B-B14F-4D97-AF65-F5344CB8AC3E}">
        <p14:creationId xmlns:p14="http://schemas.microsoft.com/office/powerpoint/2010/main" val="1873129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altLang="ja-JP"/>
              <a:t>Feature Types</a:t>
            </a:r>
          </a:p>
        </p:txBody>
      </p:sp>
      <p:sp>
        <p:nvSpPr>
          <p:cNvPr id="124931" name="Rectangle 3"/>
          <p:cNvSpPr>
            <a:spLocks noGrp="1" noChangeArrowheads="1"/>
          </p:cNvSpPr>
          <p:nvPr>
            <p:ph type="body" idx="1"/>
          </p:nvPr>
        </p:nvSpPr>
        <p:spPr/>
        <p:txBody>
          <a:bodyPr/>
          <a:lstStyle/>
          <a:p>
            <a:r>
              <a:rPr lang="en-US" altLang="ja-JP" b="1" dirty="0">
                <a:ea typeface="MS PGothic" panose="020B0600070205080204" pitchFamily="50" charset="-128"/>
              </a:rPr>
              <a:t>Integer Features</a:t>
            </a:r>
          </a:p>
          <a:p>
            <a:r>
              <a:rPr lang="en-US" altLang="ja-JP" dirty="0">
                <a:ea typeface="MS PGothic" panose="020B0600070205080204" pitchFamily="50" charset="-128"/>
              </a:rPr>
              <a:t>Features that generate integer values. </a:t>
            </a:r>
          </a:p>
          <a:p>
            <a:r>
              <a:rPr lang="en-US" altLang="ja-JP" dirty="0">
                <a:ea typeface="MS PGothic" panose="020B0600070205080204" pitchFamily="50" charset="-128"/>
              </a:rPr>
              <a:t>Integer features can be used to give classifiers access to more precise information about the text. </a:t>
            </a:r>
          </a:p>
          <a:p>
            <a:pPr>
              <a:buFontTx/>
              <a:buNone/>
            </a:pPr>
            <a:endParaRPr lang="en-US" altLang="ja-JP" dirty="0">
              <a:ea typeface="MS PGothic" panose="020B0600070205080204" pitchFamily="50" charset="-128"/>
            </a:endParaRPr>
          </a:p>
          <a:p>
            <a:pPr lvl="1"/>
            <a:r>
              <a:rPr lang="en-US" altLang="ja-JP" sz="2000" dirty="0">
                <a:latin typeface="Courier New" panose="02070309020205020404" pitchFamily="49" charset="0"/>
                <a:ea typeface="MS PGothic" panose="020B0600070205080204" pitchFamily="50" charset="-128"/>
              </a:rPr>
              <a:t>f</a:t>
            </a:r>
            <a:r>
              <a:rPr lang="en-US" altLang="ja-JP" sz="2000" baseline="-25000" dirty="0">
                <a:latin typeface="Courier New" panose="02070309020205020404" pitchFamily="49" charset="0"/>
                <a:ea typeface="MS PGothic" panose="020B0600070205080204" pitchFamily="50" charset="-128"/>
              </a:rPr>
              <a:t>1</a:t>
            </a:r>
            <a:r>
              <a:rPr lang="en-US" altLang="ja-JP" sz="2000" dirty="0">
                <a:latin typeface="Courier New" panose="02070309020205020404" pitchFamily="49" charset="0"/>
                <a:ea typeface="MS PGothic" panose="020B0600070205080204" pitchFamily="50" charset="-128"/>
              </a:rPr>
              <a:t>(text) = Number of times text contains “Kerry”</a:t>
            </a:r>
          </a:p>
          <a:p>
            <a:pPr lvl="1"/>
            <a:r>
              <a:rPr lang="en-US" altLang="ja-JP" sz="2000" dirty="0">
                <a:latin typeface="Courier New" panose="02070309020205020404" pitchFamily="49" charset="0"/>
                <a:ea typeface="MS PGothic" panose="020B0600070205080204" pitchFamily="50" charset="-128"/>
              </a:rPr>
              <a:t>f</a:t>
            </a:r>
            <a:r>
              <a:rPr lang="en-US" altLang="ja-JP" sz="2000" baseline="-25000" dirty="0">
                <a:latin typeface="Courier New" panose="02070309020205020404" pitchFamily="49" charset="0"/>
                <a:ea typeface="MS PGothic" panose="020B0600070205080204" pitchFamily="50" charset="-128"/>
              </a:rPr>
              <a:t>2</a:t>
            </a:r>
            <a:r>
              <a:rPr lang="en-US" altLang="ja-JP" sz="2000" dirty="0">
                <a:latin typeface="Courier New" panose="02070309020205020404" pitchFamily="49" charset="0"/>
                <a:ea typeface="MS PGothic" panose="020B0600070205080204" pitchFamily="50" charset="-128"/>
              </a:rPr>
              <a:t>(text) = Number of times text contains  PERSON</a:t>
            </a:r>
          </a:p>
        </p:txBody>
      </p:sp>
      <p:sp>
        <p:nvSpPr>
          <p:cNvPr id="4" name="スライド番号プレースホルダー 3"/>
          <p:cNvSpPr>
            <a:spLocks noGrp="1"/>
          </p:cNvSpPr>
          <p:nvPr>
            <p:ph type="sldNum" sz="quarter" idx="12"/>
          </p:nvPr>
        </p:nvSpPr>
        <p:spPr/>
        <p:txBody>
          <a:bodyPr/>
          <a:lstStyle/>
          <a:p>
            <a:fld id="{3BB1FC97-5419-4627-A9C3-00601A3EFF67}" type="slidenum">
              <a:rPr lang="en-US" altLang="ja-JP" smtClean="0"/>
              <a:pPr/>
              <a:t>22</a:t>
            </a:fld>
            <a:endParaRPr lang="en-US" altLang="ja-JP"/>
          </a:p>
        </p:txBody>
      </p:sp>
    </p:spTree>
    <p:extLst>
      <p:ext uri="{BB962C8B-B14F-4D97-AF65-F5344CB8AC3E}">
        <p14:creationId xmlns:p14="http://schemas.microsoft.com/office/powerpoint/2010/main" val="2505986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en-US" altLang="ja-JP"/>
              <a:t>Feature selection</a:t>
            </a:r>
          </a:p>
        </p:txBody>
      </p:sp>
      <p:sp>
        <p:nvSpPr>
          <p:cNvPr id="129027" name="Rectangle 3"/>
          <p:cNvSpPr>
            <a:spLocks noGrp="1" noChangeArrowheads="1"/>
          </p:cNvSpPr>
          <p:nvPr>
            <p:ph type="body" idx="1"/>
          </p:nvPr>
        </p:nvSpPr>
        <p:spPr/>
        <p:txBody>
          <a:bodyPr/>
          <a:lstStyle/>
          <a:p>
            <a:r>
              <a:rPr lang="en-US" altLang="ja-JP" dirty="0">
                <a:sym typeface="Wingdings" panose="05000000000000000000" pitchFamily="2" charset="2"/>
              </a:rPr>
              <a:t>Selecting relevant features and deciding how to encode them for a learning method can have an enormous impact on the learning method's ability to extract a good model</a:t>
            </a:r>
          </a:p>
          <a:p>
            <a:r>
              <a:rPr lang="en-US" altLang="ja-JP" dirty="0">
                <a:sym typeface="Wingdings" panose="05000000000000000000" pitchFamily="2" charset="2"/>
              </a:rPr>
              <a:t>How do we choose the “right” features?</a:t>
            </a:r>
          </a:p>
          <a:p>
            <a:r>
              <a:rPr lang="en-US" altLang="ja-JP" dirty="0">
                <a:sym typeface="Wingdings" panose="05000000000000000000" pitchFamily="2" charset="2"/>
              </a:rPr>
              <a:t>Typically, feature extractors are built through a process of trial-and-error, guided by intuitions about what information is relevant to the problem. </a:t>
            </a:r>
          </a:p>
          <a:p>
            <a:pPr lvl="1"/>
            <a:r>
              <a:rPr lang="en-US" altLang="ja-JP" dirty="0">
                <a:sym typeface="Wingdings" panose="05000000000000000000" pitchFamily="2" charset="2"/>
              </a:rPr>
              <a:t>But there are also more “principled” way of features selection </a:t>
            </a:r>
          </a:p>
        </p:txBody>
      </p:sp>
      <p:sp>
        <p:nvSpPr>
          <p:cNvPr id="4" name="スライド番号プレースホルダー 3"/>
          <p:cNvSpPr>
            <a:spLocks noGrp="1"/>
          </p:cNvSpPr>
          <p:nvPr>
            <p:ph type="sldNum" sz="quarter" idx="12"/>
          </p:nvPr>
        </p:nvSpPr>
        <p:spPr/>
        <p:txBody>
          <a:bodyPr/>
          <a:lstStyle/>
          <a:p>
            <a:fld id="{6058B210-3356-4BB5-A374-FFD08607387B}" type="slidenum">
              <a:rPr lang="en-US" altLang="ja-JP" smtClean="0"/>
              <a:pPr/>
              <a:t>23</a:t>
            </a:fld>
            <a:endParaRPr lang="en-US" altLang="ja-JP"/>
          </a:p>
        </p:txBody>
      </p:sp>
    </p:spTree>
    <p:extLst>
      <p:ext uri="{BB962C8B-B14F-4D97-AF65-F5344CB8AC3E}">
        <p14:creationId xmlns:p14="http://schemas.microsoft.com/office/powerpoint/2010/main" val="740605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r>
              <a:rPr lang="en-US" altLang="ja-JP"/>
              <a:t>Feature selection</a:t>
            </a:r>
          </a:p>
        </p:txBody>
      </p:sp>
      <p:sp>
        <p:nvSpPr>
          <p:cNvPr id="168963" name="Rectangle 3"/>
          <p:cNvSpPr>
            <a:spLocks noGrp="1" noChangeArrowheads="1"/>
          </p:cNvSpPr>
          <p:nvPr>
            <p:ph type="body" idx="1"/>
          </p:nvPr>
        </p:nvSpPr>
        <p:spPr/>
        <p:txBody>
          <a:bodyPr/>
          <a:lstStyle/>
          <a:p>
            <a:r>
              <a:rPr lang="en-US" altLang="ja-JP" dirty="0"/>
              <a:t>There are usually limits to the number of features that you should use with a given learning algorithm — if you provide too many features, then the algorithm will have a higher chance of relying on idiosyncrasies of your training data that don't generalize well to new examples. </a:t>
            </a:r>
          </a:p>
          <a:p>
            <a:pPr lvl="1"/>
            <a:r>
              <a:rPr lang="en-US" altLang="ja-JP" dirty="0"/>
              <a:t>This problem is known as </a:t>
            </a:r>
            <a:r>
              <a:rPr lang="en-US" altLang="ja-JP" b="1" dirty="0"/>
              <a:t>overfitting</a:t>
            </a:r>
            <a:r>
              <a:rPr lang="en-US" altLang="ja-JP" dirty="0"/>
              <a:t>, and can be especially problematic when working with small training sets. </a:t>
            </a:r>
          </a:p>
        </p:txBody>
      </p:sp>
      <p:sp>
        <p:nvSpPr>
          <p:cNvPr id="4" name="スライド番号プレースホルダー 3"/>
          <p:cNvSpPr>
            <a:spLocks noGrp="1"/>
          </p:cNvSpPr>
          <p:nvPr>
            <p:ph type="sldNum" sz="quarter" idx="12"/>
          </p:nvPr>
        </p:nvSpPr>
        <p:spPr/>
        <p:txBody>
          <a:bodyPr/>
          <a:lstStyle/>
          <a:p>
            <a:fld id="{D2E0C952-D5B5-4230-9977-69B36EA6D1B8}" type="slidenum">
              <a:rPr lang="en-US" altLang="ja-JP" smtClean="0"/>
              <a:pPr/>
              <a:t>24</a:t>
            </a:fld>
            <a:endParaRPr lang="en-US" altLang="ja-JP"/>
          </a:p>
        </p:txBody>
      </p:sp>
    </p:spTree>
    <p:extLst>
      <p:ext uri="{BB962C8B-B14F-4D97-AF65-F5344CB8AC3E}">
        <p14:creationId xmlns:p14="http://schemas.microsoft.com/office/powerpoint/2010/main" val="2071484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r>
              <a:rPr lang="en-US" altLang="ja-JP"/>
              <a:t>Feature selection</a:t>
            </a:r>
          </a:p>
        </p:txBody>
      </p:sp>
      <p:sp>
        <p:nvSpPr>
          <p:cNvPr id="169987" name="Rectangle 3"/>
          <p:cNvSpPr>
            <a:spLocks noGrp="1" noChangeArrowheads="1"/>
          </p:cNvSpPr>
          <p:nvPr>
            <p:ph type="body" idx="1"/>
          </p:nvPr>
        </p:nvSpPr>
        <p:spPr/>
        <p:txBody>
          <a:bodyPr/>
          <a:lstStyle/>
          <a:p>
            <a:r>
              <a:rPr lang="en-US" altLang="ja-JP" sz="2400" dirty="0">
                <a:ea typeface="MS PGothic" panose="020B0600070205080204" pitchFamily="50" charset="-128"/>
              </a:rPr>
              <a:t>Once an initial set of features has been chosen, a very productive method for refining the feature set is </a:t>
            </a:r>
            <a:r>
              <a:rPr lang="en-US" altLang="ja-JP" sz="2400" b="1" dirty="0">
                <a:ea typeface="MS PGothic" panose="020B0600070205080204" pitchFamily="50" charset="-128"/>
              </a:rPr>
              <a:t>error analysis</a:t>
            </a:r>
            <a:r>
              <a:rPr lang="en-US" altLang="ja-JP" sz="2400" dirty="0">
                <a:ea typeface="MS PGothic" panose="020B0600070205080204" pitchFamily="50" charset="-128"/>
              </a:rPr>
              <a:t>. First, we select a </a:t>
            </a:r>
            <a:r>
              <a:rPr lang="en-US" altLang="ja-JP" sz="2400" b="1" dirty="0">
                <a:ea typeface="MS PGothic" panose="020B0600070205080204" pitchFamily="50" charset="-128"/>
              </a:rPr>
              <a:t>development set</a:t>
            </a:r>
            <a:r>
              <a:rPr lang="en-US" altLang="ja-JP" sz="2400" dirty="0">
                <a:ea typeface="MS PGothic" panose="020B0600070205080204" pitchFamily="50" charset="-128"/>
              </a:rPr>
              <a:t>, containing the corpus data for creating the model. This development set is then subdivided into the </a:t>
            </a:r>
            <a:r>
              <a:rPr lang="en-US" altLang="ja-JP" sz="2400" b="1" dirty="0">
                <a:ea typeface="MS PGothic" panose="020B0600070205080204" pitchFamily="50" charset="-128"/>
              </a:rPr>
              <a:t>training set</a:t>
            </a:r>
            <a:r>
              <a:rPr lang="en-US" altLang="ja-JP" sz="2400" dirty="0">
                <a:ea typeface="MS PGothic" panose="020B0600070205080204" pitchFamily="50" charset="-128"/>
              </a:rPr>
              <a:t> and the </a:t>
            </a:r>
            <a:r>
              <a:rPr lang="en-US" altLang="ja-JP" sz="2400" b="1" dirty="0">
                <a:ea typeface="MS PGothic" panose="020B0600070205080204" pitchFamily="50" charset="-128"/>
              </a:rPr>
              <a:t>dev-test</a:t>
            </a:r>
            <a:r>
              <a:rPr lang="en-US" altLang="ja-JP" sz="2400" dirty="0">
                <a:ea typeface="MS PGothic" panose="020B0600070205080204" pitchFamily="50" charset="-128"/>
              </a:rPr>
              <a:t> set.</a:t>
            </a:r>
          </a:p>
          <a:p>
            <a:r>
              <a:rPr lang="en-US" altLang="ja-JP" sz="2400" dirty="0">
                <a:ea typeface="MS PGothic" panose="020B0600070205080204" pitchFamily="50" charset="-128"/>
              </a:rPr>
              <a:t>The training set is used to train the model, and the dev-test set is used to perform error analysis. </a:t>
            </a:r>
          </a:p>
          <a:p>
            <a:pPr lvl="1"/>
            <a:r>
              <a:rPr lang="en-US" altLang="ja-JP" sz="2000" dirty="0">
                <a:ea typeface="MS PGothic" panose="020B0600070205080204" pitchFamily="50" charset="-128"/>
              </a:rPr>
              <a:t>Look at errors, change features or model</a:t>
            </a:r>
          </a:p>
          <a:p>
            <a:r>
              <a:rPr lang="en-US" altLang="ja-JP" sz="2400" dirty="0">
                <a:ea typeface="MS PGothic" panose="020B0600070205080204" pitchFamily="50" charset="-128"/>
              </a:rPr>
              <a:t>The test set serves in our final evaluation of the system. </a:t>
            </a:r>
          </a:p>
        </p:txBody>
      </p:sp>
      <p:sp>
        <p:nvSpPr>
          <p:cNvPr id="5" name="スライド番号プレースホルダー 4"/>
          <p:cNvSpPr>
            <a:spLocks noGrp="1"/>
          </p:cNvSpPr>
          <p:nvPr>
            <p:ph type="sldNum" sz="quarter" idx="12"/>
          </p:nvPr>
        </p:nvSpPr>
        <p:spPr/>
        <p:txBody>
          <a:bodyPr/>
          <a:lstStyle/>
          <a:p>
            <a:fld id="{D89BD0E7-4F28-4C07-8BCF-AF26A116DBC6}" type="slidenum">
              <a:rPr lang="en-US" altLang="ja-JP" smtClean="0"/>
              <a:pPr/>
              <a:t>25</a:t>
            </a:fld>
            <a:endParaRPr lang="en-US" altLang="ja-JP"/>
          </a:p>
        </p:txBody>
      </p:sp>
      <p:pic>
        <p:nvPicPr>
          <p:cNvPr id="169988" name="Picture 4" descr="Snap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5114926"/>
            <a:ext cx="3276600"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306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B2BCC2-5804-C8DB-67F3-83174330E625}"/>
              </a:ext>
            </a:extLst>
          </p:cNvPr>
          <p:cNvSpPr>
            <a:spLocks noGrp="1"/>
          </p:cNvSpPr>
          <p:nvPr>
            <p:ph type="title"/>
          </p:nvPr>
        </p:nvSpPr>
        <p:spPr/>
        <p:txBody>
          <a:bodyPr/>
          <a:lstStyle/>
          <a:p>
            <a:r>
              <a:rPr kumimoji="1" lang="en-US" altLang="ja-JP" dirty="0"/>
              <a:t>NLP Feature</a:t>
            </a:r>
            <a:endParaRPr kumimoji="1" lang="ja-JP" altLang="en-US" dirty="0"/>
          </a:p>
        </p:txBody>
      </p:sp>
      <p:sp>
        <p:nvSpPr>
          <p:cNvPr id="3" name="コンテンツ プレースホルダー 2">
            <a:extLst>
              <a:ext uri="{FF2B5EF4-FFF2-40B4-BE49-F238E27FC236}">
                <a16:creationId xmlns:a16="http://schemas.microsoft.com/office/drawing/2014/main" id="{1BCDA303-36B4-38B0-9840-08A0E78F4047}"/>
              </a:ext>
            </a:extLst>
          </p:cNvPr>
          <p:cNvSpPr>
            <a:spLocks noGrp="1"/>
          </p:cNvSpPr>
          <p:nvPr>
            <p:ph idx="1"/>
          </p:nvPr>
        </p:nvSpPr>
        <p:spPr/>
        <p:txBody>
          <a:bodyPr/>
          <a:lstStyle/>
          <a:p>
            <a:r>
              <a:rPr kumimoji="1" lang="en-US" altLang="ja-JP" dirty="0"/>
              <a:t>Character (stream) </a:t>
            </a:r>
          </a:p>
          <a:p>
            <a:r>
              <a:rPr lang="en-US" altLang="ja-JP" dirty="0"/>
              <a:t>Word token (stream)</a:t>
            </a:r>
          </a:p>
          <a:p>
            <a:r>
              <a:rPr lang="en-US" altLang="ja-JP" dirty="0"/>
              <a:t>Collocation/</a:t>
            </a:r>
            <a:r>
              <a:rPr lang="en-US" altLang="ja-JP" dirty="0" err="1"/>
              <a:t>Cooccuration</a:t>
            </a:r>
            <a:endParaRPr lang="en-US" altLang="ja-JP" dirty="0"/>
          </a:p>
          <a:p>
            <a:r>
              <a:rPr lang="en-US" altLang="ja-JP" dirty="0"/>
              <a:t>Word Count / Frequency</a:t>
            </a:r>
          </a:p>
          <a:p>
            <a:r>
              <a:rPr lang="en-US" altLang="ja-JP" dirty="0"/>
              <a:t>Collocation/</a:t>
            </a:r>
            <a:r>
              <a:rPr lang="en-US" altLang="ja-JP" dirty="0" err="1"/>
              <a:t>Cooccuration</a:t>
            </a:r>
            <a:r>
              <a:rPr lang="en-US" altLang="ja-JP" dirty="0"/>
              <a:t> Frequency (Dependency)</a:t>
            </a:r>
          </a:p>
          <a:p>
            <a:pPr lvl="1"/>
            <a:r>
              <a:rPr kumimoji="1" lang="en-US" altLang="ja-JP" dirty="0"/>
              <a:t>N-Gram/Markov Chain</a:t>
            </a:r>
          </a:p>
          <a:p>
            <a:r>
              <a:rPr lang="en-US" altLang="ja-JP" dirty="0"/>
              <a:t>Meta-information (Tag, POS, etc.)</a:t>
            </a:r>
            <a:endParaRPr kumimoji="1" lang="en-US" altLang="ja-JP" dirty="0"/>
          </a:p>
        </p:txBody>
      </p:sp>
    </p:spTree>
    <p:extLst>
      <p:ext uri="{BB962C8B-B14F-4D97-AF65-F5344CB8AC3E}">
        <p14:creationId xmlns:p14="http://schemas.microsoft.com/office/powerpoint/2010/main" val="3540434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BBBEFB-90FC-7450-3898-E90F01A8A031}"/>
              </a:ext>
            </a:extLst>
          </p:cNvPr>
          <p:cNvSpPr>
            <a:spLocks noGrp="1"/>
          </p:cNvSpPr>
          <p:nvPr>
            <p:ph type="title"/>
          </p:nvPr>
        </p:nvSpPr>
        <p:spPr/>
        <p:txBody>
          <a:bodyPr/>
          <a:lstStyle/>
          <a:p>
            <a:r>
              <a:rPr lang="en-US" altLang="ja-JP" dirty="0"/>
              <a:t>Feature: Character</a:t>
            </a:r>
            <a:endParaRPr kumimoji="1" lang="ja-JP" altLang="en-US" dirty="0"/>
          </a:p>
        </p:txBody>
      </p:sp>
      <p:sp>
        <p:nvSpPr>
          <p:cNvPr id="3" name="コンテンツ プレースホルダー 2">
            <a:extLst>
              <a:ext uri="{FF2B5EF4-FFF2-40B4-BE49-F238E27FC236}">
                <a16:creationId xmlns:a16="http://schemas.microsoft.com/office/drawing/2014/main" id="{444B7597-5C14-B3C1-B33C-2B8114CB69D0}"/>
              </a:ext>
            </a:extLst>
          </p:cNvPr>
          <p:cNvSpPr>
            <a:spLocks noGrp="1"/>
          </p:cNvSpPr>
          <p:nvPr>
            <p:ph idx="1"/>
          </p:nvPr>
        </p:nvSpPr>
        <p:spPr/>
        <p:txBody>
          <a:bodyPr/>
          <a:lstStyle/>
          <a:p>
            <a:r>
              <a:rPr kumimoji="1" lang="en-US" altLang="ja-JP" dirty="0"/>
              <a:t>Ex) Regex() – character matching</a:t>
            </a:r>
            <a:endParaRPr kumimoji="1" lang="ja-JP" altLang="en-US" dirty="0"/>
          </a:p>
        </p:txBody>
      </p:sp>
      <p:pic>
        <p:nvPicPr>
          <p:cNvPr id="4" name="Picture 4" descr="Snap4">
            <a:extLst>
              <a:ext uri="{FF2B5EF4-FFF2-40B4-BE49-F238E27FC236}">
                <a16:creationId xmlns:a16="http://schemas.microsoft.com/office/drawing/2014/main" id="{CA550B8A-D6EE-12EF-C7BD-6AA6E79329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176" y="2514293"/>
            <a:ext cx="8353648" cy="4044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032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7365CB-002B-616B-4F4D-308866E2DA2A}"/>
              </a:ext>
            </a:extLst>
          </p:cNvPr>
          <p:cNvSpPr>
            <a:spLocks noGrp="1"/>
          </p:cNvSpPr>
          <p:nvPr>
            <p:ph type="title"/>
          </p:nvPr>
        </p:nvSpPr>
        <p:spPr/>
        <p:txBody>
          <a:bodyPr/>
          <a:lstStyle/>
          <a:p>
            <a:r>
              <a:rPr kumimoji="1" lang="en-US" altLang="ja-JP" dirty="0"/>
              <a:t>Feature: Word tokens</a:t>
            </a:r>
            <a:endParaRPr kumimoji="1" lang="ja-JP" altLang="en-US" dirty="0"/>
          </a:p>
        </p:txBody>
      </p:sp>
      <p:sp>
        <p:nvSpPr>
          <p:cNvPr id="3" name="コンテンツ プレースホルダー 2">
            <a:extLst>
              <a:ext uri="{FF2B5EF4-FFF2-40B4-BE49-F238E27FC236}">
                <a16:creationId xmlns:a16="http://schemas.microsoft.com/office/drawing/2014/main" id="{269AF479-2134-186D-5B33-72572ECC05E5}"/>
              </a:ext>
            </a:extLst>
          </p:cNvPr>
          <p:cNvSpPr>
            <a:spLocks noGrp="1"/>
          </p:cNvSpPr>
          <p:nvPr>
            <p:ph idx="1"/>
          </p:nvPr>
        </p:nvSpPr>
        <p:spPr/>
        <p:txBody>
          <a:bodyPr/>
          <a:lstStyle/>
          <a:p>
            <a:r>
              <a:rPr kumimoji="1" lang="en-US" altLang="ja-JP" dirty="0"/>
              <a:t>Ex) Bag of words</a:t>
            </a:r>
            <a:endParaRPr kumimoji="1" lang="ja-JP" altLang="en-US" dirty="0"/>
          </a:p>
        </p:txBody>
      </p:sp>
      <p:pic>
        <p:nvPicPr>
          <p:cNvPr id="4" name="Picture 2" descr="「bag of words slide」の画像検索結果">
            <a:extLst>
              <a:ext uri="{FF2B5EF4-FFF2-40B4-BE49-F238E27FC236}">
                <a16:creationId xmlns:a16="http://schemas.microsoft.com/office/drawing/2014/main" id="{413AC130-CC4F-C09D-5D71-080C48D584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0153" y="2223346"/>
            <a:ext cx="8236260" cy="451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77667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78DBCB-9BC0-DFA4-9149-87E8C88BAB12}"/>
              </a:ext>
            </a:extLst>
          </p:cNvPr>
          <p:cNvSpPr>
            <a:spLocks noGrp="1"/>
          </p:cNvSpPr>
          <p:nvPr>
            <p:ph type="title"/>
          </p:nvPr>
        </p:nvSpPr>
        <p:spPr/>
        <p:txBody>
          <a:bodyPr/>
          <a:lstStyle/>
          <a:p>
            <a:r>
              <a:rPr kumimoji="1" lang="en-US" altLang="ja-JP" dirty="0"/>
              <a:t>Bag-of-Words</a:t>
            </a:r>
            <a:endParaRPr kumimoji="1" lang="ja-JP" altLang="en-US" dirty="0"/>
          </a:p>
        </p:txBody>
      </p:sp>
      <p:sp>
        <p:nvSpPr>
          <p:cNvPr id="3" name="コンテンツ プレースホルダー 2">
            <a:extLst>
              <a:ext uri="{FF2B5EF4-FFF2-40B4-BE49-F238E27FC236}">
                <a16:creationId xmlns:a16="http://schemas.microsoft.com/office/drawing/2014/main" id="{1D2FCDA1-3BC1-8FD3-0C0F-FBE667BFB384}"/>
              </a:ext>
            </a:extLst>
          </p:cNvPr>
          <p:cNvSpPr>
            <a:spLocks noGrp="1"/>
          </p:cNvSpPr>
          <p:nvPr>
            <p:ph idx="1"/>
          </p:nvPr>
        </p:nvSpPr>
        <p:spPr>
          <a:xfrm>
            <a:off x="838200" y="4321523"/>
            <a:ext cx="10515600" cy="1855439"/>
          </a:xfrm>
        </p:spPr>
        <p:txBody>
          <a:bodyPr/>
          <a:lstStyle/>
          <a:p>
            <a:r>
              <a:rPr kumimoji="1" lang="en-US" altLang="ja-JP" dirty="0"/>
              <a:t>Disadvantages of Bag of Words</a:t>
            </a:r>
          </a:p>
          <a:p>
            <a:pPr lvl="1"/>
            <a:r>
              <a:rPr kumimoji="1" lang="en-US" altLang="ja-JP" dirty="0"/>
              <a:t>1. This method doesn’t preserve the word order.</a:t>
            </a:r>
          </a:p>
          <a:p>
            <a:pPr lvl="1"/>
            <a:r>
              <a:rPr kumimoji="1" lang="en-US" altLang="ja-JP" dirty="0"/>
              <a:t>2. It does not allow to draw of useful inferences for downstream NLP tasks.</a:t>
            </a:r>
            <a:endParaRPr kumimoji="1" lang="ja-JP" altLang="en-US" dirty="0"/>
          </a:p>
        </p:txBody>
      </p:sp>
      <p:pic>
        <p:nvPicPr>
          <p:cNvPr id="5" name="図 4">
            <a:extLst>
              <a:ext uri="{FF2B5EF4-FFF2-40B4-BE49-F238E27FC236}">
                <a16:creationId xmlns:a16="http://schemas.microsoft.com/office/drawing/2014/main" id="{B57D63B4-76E9-C01C-CABC-07DF1ADF8525}"/>
              </a:ext>
            </a:extLst>
          </p:cNvPr>
          <p:cNvPicPr>
            <a:picLocks noChangeAspect="1"/>
          </p:cNvPicPr>
          <p:nvPr/>
        </p:nvPicPr>
        <p:blipFill>
          <a:blip r:embed="rId2"/>
          <a:stretch>
            <a:fillRect/>
          </a:stretch>
        </p:blipFill>
        <p:spPr>
          <a:xfrm>
            <a:off x="2052073" y="2518860"/>
            <a:ext cx="8087854" cy="1676634"/>
          </a:xfrm>
          <a:prstGeom prst="rect">
            <a:avLst/>
          </a:prstGeom>
        </p:spPr>
      </p:pic>
      <p:pic>
        <p:nvPicPr>
          <p:cNvPr id="7" name="図 6">
            <a:extLst>
              <a:ext uri="{FF2B5EF4-FFF2-40B4-BE49-F238E27FC236}">
                <a16:creationId xmlns:a16="http://schemas.microsoft.com/office/drawing/2014/main" id="{03CAA364-CB8E-1FC7-BCB2-B1F9205E4A32}"/>
              </a:ext>
            </a:extLst>
          </p:cNvPr>
          <p:cNvPicPr>
            <a:picLocks noChangeAspect="1"/>
          </p:cNvPicPr>
          <p:nvPr/>
        </p:nvPicPr>
        <p:blipFill>
          <a:blip r:embed="rId3"/>
          <a:stretch>
            <a:fillRect/>
          </a:stretch>
        </p:blipFill>
        <p:spPr>
          <a:xfrm>
            <a:off x="4143102" y="1624309"/>
            <a:ext cx="3905795" cy="819264"/>
          </a:xfrm>
          <a:prstGeom prst="rect">
            <a:avLst/>
          </a:prstGeom>
        </p:spPr>
      </p:pic>
    </p:spTree>
    <p:extLst>
      <p:ext uri="{BB962C8B-B14F-4D97-AF65-F5344CB8AC3E}">
        <p14:creationId xmlns:p14="http://schemas.microsoft.com/office/powerpoint/2010/main" val="261352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US" altLang="ja-JP"/>
              <a:t>The NLP Pipeline</a:t>
            </a:r>
          </a:p>
        </p:txBody>
      </p:sp>
      <p:sp>
        <p:nvSpPr>
          <p:cNvPr id="223235" name="Rectangle 3"/>
          <p:cNvSpPr>
            <a:spLocks noGrp="1" noChangeArrowheads="1"/>
          </p:cNvSpPr>
          <p:nvPr>
            <p:ph type="body" idx="1"/>
          </p:nvPr>
        </p:nvSpPr>
        <p:spPr/>
        <p:txBody>
          <a:bodyPr>
            <a:normAutofit fontScale="92500" lnSpcReduction="10000"/>
          </a:bodyPr>
          <a:lstStyle/>
          <a:p>
            <a:r>
              <a:rPr lang="en-US" altLang="ja-JP" dirty="0"/>
              <a:t>For a given problem to be tackled</a:t>
            </a:r>
          </a:p>
          <a:p>
            <a:r>
              <a:rPr lang="en-US" altLang="ja-JP" dirty="0"/>
              <a:t>Choose corpus (or build your own)</a:t>
            </a:r>
          </a:p>
          <a:p>
            <a:pPr lvl="1"/>
            <a:r>
              <a:rPr lang="en-US" altLang="ja-JP" dirty="0"/>
              <a:t>Low level processing done to the text before the ‘real work’ begins</a:t>
            </a:r>
          </a:p>
          <a:p>
            <a:pPr lvl="2"/>
            <a:r>
              <a:rPr lang="en-US" altLang="ja-JP" dirty="0"/>
              <a:t>Important but often neglected</a:t>
            </a:r>
          </a:p>
          <a:p>
            <a:pPr lvl="1"/>
            <a:r>
              <a:rPr lang="en-US" altLang="ja-JP" dirty="0">
                <a:solidFill>
                  <a:srgbClr val="FF0000"/>
                </a:solidFill>
                <a:highlight>
                  <a:srgbClr val="FFFF00"/>
                </a:highlight>
              </a:rPr>
              <a:t>Low-leveling formatting issues</a:t>
            </a:r>
          </a:p>
          <a:p>
            <a:pPr lvl="2"/>
            <a:r>
              <a:rPr lang="en-US" altLang="ja-JP" dirty="0">
                <a:solidFill>
                  <a:srgbClr val="FF0000"/>
                </a:solidFill>
                <a:highlight>
                  <a:srgbClr val="FFFF00"/>
                </a:highlight>
              </a:rPr>
              <a:t>Junk formatting/content (Html tags, Tables)</a:t>
            </a:r>
          </a:p>
          <a:p>
            <a:pPr lvl="2"/>
            <a:r>
              <a:rPr lang="en-US" altLang="ja-JP" dirty="0">
                <a:solidFill>
                  <a:srgbClr val="FF0000"/>
                </a:solidFill>
                <a:highlight>
                  <a:srgbClr val="FFFF00"/>
                </a:highlight>
              </a:rPr>
              <a:t>Case change (i.e. everything to lower case)</a:t>
            </a:r>
          </a:p>
          <a:p>
            <a:pPr lvl="2"/>
            <a:r>
              <a:rPr lang="en-US" altLang="ja-JP" dirty="0">
                <a:solidFill>
                  <a:srgbClr val="FF0000"/>
                </a:solidFill>
                <a:highlight>
                  <a:srgbClr val="FFFF00"/>
                </a:highlight>
              </a:rPr>
              <a:t>Tokenization, sentence segmentation </a:t>
            </a:r>
            <a:r>
              <a:rPr lang="en-US" altLang="ja-JP" dirty="0"/>
              <a:t>	</a:t>
            </a:r>
          </a:p>
          <a:p>
            <a:r>
              <a:rPr lang="en-US" altLang="ja-JP" dirty="0"/>
              <a:t>Choose annotation to use (or choose the label set and label it yourself )</a:t>
            </a:r>
          </a:p>
          <a:p>
            <a:pPr lvl="1"/>
            <a:r>
              <a:rPr lang="en-US" altLang="ja-JP" dirty="0"/>
              <a:t>Check labeling (inconsistencies </a:t>
            </a:r>
            <a:r>
              <a:rPr lang="en-US" altLang="ja-JP" dirty="0" err="1"/>
              <a:t>etc</a:t>
            </a:r>
            <a:r>
              <a:rPr lang="en-US" altLang="ja-JP" dirty="0"/>
              <a:t>…)</a:t>
            </a:r>
          </a:p>
          <a:p>
            <a:r>
              <a:rPr lang="en-US" altLang="ja-JP" dirty="0"/>
              <a:t>Choose or implement new NLP algorithms</a:t>
            </a:r>
          </a:p>
          <a:p>
            <a:pPr lvl="1"/>
            <a:endParaRPr lang="en-US" altLang="ja-JP" dirty="0"/>
          </a:p>
        </p:txBody>
      </p:sp>
      <p:sp>
        <p:nvSpPr>
          <p:cNvPr id="4" name="スライド番号プレースホルダー 3"/>
          <p:cNvSpPr>
            <a:spLocks noGrp="1"/>
          </p:cNvSpPr>
          <p:nvPr>
            <p:ph type="sldNum" sz="quarter" idx="12"/>
          </p:nvPr>
        </p:nvSpPr>
        <p:spPr/>
        <p:txBody>
          <a:bodyPr/>
          <a:lstStyle/>
          <a:p>
            <a:fld id="{EE4F5F89-5DDE-419F-8676-6185357D5AD2}" type="slidenum">
              <a:rPr lang="en-US" altLang="ja-JP" smtClean="0"/>
              <a:pPr/>
              <a:t>30</a:t>
            </a:fld>
            <a:endParaRPr lang="en-US" altLang="ja-JP"/>
          </a:p>
        </p:txBody>
      </p:sp>
    </p:spTree>
    <p:extLst>
      <p:ext uri="{BB962C8B-B14F-4D97-AF65-F5344CB8AC3E}">
        <p14:creationId xmlns:p14="http://schemas.microsoft.com/office/powerpoint/2010/main" val="4280506924"/>
      </p:ext>
    </p:extLst>
  </p:cSld>
  <p:clrMapOvr>
    <a:masterClrMapping/>
  </p:clrMapOvr>
  <mc:AlternateContent xmlns:mc="http://schemas.openxmlformats.org/markup-compatibility/2006" xmlns:p14="http://schemas.microsoft.com/office/powerpoint/2010/main">
    <mc:Choice Requires="p14">
      <p:transition spd="slow" p14:dur="2000" advTm="67940"/>
    </mc:Choice>
    <mc:Fallback xmlns="">
      <p:transition spd="slow" advTm="6794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US" altLang="ja-JP"/>
              <a:t>Stemming</a:t>
            </a:r>
          </a:p>
        </p:txBody>
      </p:sp>
      <p:sp>
        <p:nvSpPr>
          <p:cNvPr id="5" name="コンテンツ プレースホルダー 4"/>
          <p:cNvSpPr>
            <a:spLocks noGrp="1"/>
          </p:cNvSpPr>
          <p:nvPr>
            <p:ph idx="1"/>
          </p:nvPr>
        </p:nvSpPr>
        <p:spPr/>
        <p:txBody>
          <a:bodyPr/>
          <a:lstStyle/>
          <a:p>
            <a:r>
              <a:rPr lang="en-US" altLang="ja-JP" dirty="0">
                <a:ea typeface="MS PGothic" panose="020B0600070205080204" pitchFamily="50" charset="-128"/>
              </a:rPr>
              <a:t>The removal of the inflectional ending from words (strip off any affixes)</a:t>
            </a:r>
          </a:p>
          <a:p>
            <a:pPr lvl="2"/>
            <a:r>
              <a:rPr lang="en-US" altLang="ja-JP" i="1" dirty="0">
                <a:ea typeface="MS PGothic" panose="020B0600070205080204" pitchFamily="50" charset="-128"/>
              </a:rPr>
              <a:t>Laughing, laugh, laughs, laughed</a:t>
            </a:r>
            <a:r>
              <a:rPr lang="en-US" altLang="ja-JP" i="1" dirty="0">
                <a:ea typeface="MS PGothic" panose="020B0600070205080204" pitchFamily="50" charset="-128"/>
                <a:sym typeface="Wingdings" panose="05000000000000000000" pitchFamily="2" charset="2"/>
              </a:rPr>
              <a:t> laugh</a:t>
            </a:r>
          </a:p>
          <a:p>
            <a:pPr lvl="1"/>
            <a:r>
              <a:rPr lang="en-US" altLang="ja-JP" dirty="0">
                <a:ea typeface="MS PGothic" panose="020B0600070205080204" pitchFamily="50" charset="-128"/>
                <a:sym typeface="Wingdings" panose="05000000000000000000" pitchFamily="2" charset="2"/>
              </a:rPr>
              <a:t>Problems</a:t>
            </a:r>
          </a:p>
          <a:p>
            <a:pPr lvl="2"/>
            <a:r>
              <a:rPr lang="en-US" altLang="ja-JP" dirty="0">
                <a:ea typeface="MS PGothic" panose="020B0600070205080204" pitchFamily="50" charset="-128"/>
                <a:sym typeface="Wingdings" panose="05000000000000000000" pitchFamily="2" charset="2"/>
              </a:rPr>
              <a:t>Can conflate semantically different words</a:t>
            </a:r>
          </a:p>
          <a:p>
            <a:pPr lvl="3"/>
            <a:r>
              <a:rPr lang="en-US" altLang="ja-JP" i="1" dirty="0">
                <a:ea typeface="MS PGothic" panose="020B0600070205080204" pitchFamily="50" charset="-128"/>
              </a:rPr>
              <a:t>Gallery</a:t>
            </a:r>
            <a:r>
              <a:rPr lang="en-US" altLang="ja-JP" dirty="0">
                <a:ea typeface="MS PGothic" panose="020B0600070205080204" pitchFamily="50" charset="-128"/>
              </a:rPr>
              <a:t> and </a:t>
            </a:r>
            <a:r>
              <a:rPr lang="en-US" altLang="ja-JP" i="1" dirty="0">
                <a:ea typeface="MS PGothic" panose="020B0600070205080204" pitchFamily="50" charset="-128"/>
              </a:rPr>
              <a:t>gall</a:t>
            </a:r>
            <a:r>
              <a:rPr lang="en-US" altLang="ja-JP" dirty="0">
                <a:ea typeface="MS PGothic" panose="020B0600070205080204" pitchFamily="50" charset="-128"/>
              </a:rPr>
              <a:t> may both be stemmed to </a:t>
            </a:r>
            <a:r>
              <a:rPr lang="en-US" altLang="ja-JP" i="1" dirty="0">
                <a:ea typeface="MS PGothic" panose="020B0600070205080204" pitchFamily="50" charset="-128"/>
              </a:rPr>
              <a:t>gall</a:t>
            </a:r>
            <a:endParaRPr lang="en-US" altLang="ja-JP" dirty="0">
              <a:ea typeface="MS PGothic" panose="020B0600070205080204" pitchFamily="50" charset="-128"/>
            </a:endParaRPr>
          </a:p>
          <a:p>
            <a:pPr lvl="1"/>
            <a:r>
              <a:rPr lang="en-US" altLang="ja-JP" dirty="0">
                <a:ea typeface="MS PGothic" panose="020B0600070205080204" pitchFamily="50" charset="-128"/>
              </a:rPr>
              <a:t>A further step is to make sure that the resulting form is a known word in a dictionary, a task known as </a:t>
            </a:r>
            <a:r>
              <a:rPr lang="en-US" altLang="ja-JP" i="1" dirty="0">
                <a:ea typeface="MS PGothic" panose="020B0600070205080204" pitchFamily="50" charset="-128"/>
              </a:rPr>
              <a:t>lemmatization</a:t>
            </a:r>
            <a:r>
              <a:rPr lang="en-US" altLang="ja-JP" dirty="0">
                <a:ea typeface="MS PGothic" panose="020B0600070205080204" pitchFamily="50" charset="-128"/>
              </a:rPr>
              <a:t>. </a:t>
            </a:r>
          </a:p>
          <a:p>
            <a:endParaRPr kumimoji="1" lang="ja-JP" altLang="en-US" dirty="0"/>
          </a:p>
        </p:txBody>
      </p:sp>
      <p:sp>
        <p:nvSpPr>
          <p:cNvPr id="4" name="スライド番号プレースホルダー 3"/>
          <p:cNvSpPr>
            <a:spLocks noGrp="1"/>
          </p:cNvSpPr>
          <p:nvPr>
            <p:ph type="sldNum" sz="quarter" idx="12"/>
          </p:nvPr>
        </p:nvSpPr>
        <p:spPr/>
        <p:txBody>
          <a:bodyPr/>
          <a:lstStyle/>
          <a:p>
            <a:fld id="{28035359-E972-4BFE-91D7-095B4EB2C996}" type="slidenum">
              <a:rPr lang="en-US" altLang="ja-JP" smtClean="0"/>
              <a:pPr/>
              <a:t>31</a:t>
            </a:fld>
            <a:endParaRPr lang="en-US" altLang="ja-JP"/>
          </a:p>
        </p:txBody>
      </p:sp>
    </p:spTree>
    <p:extLst>
      <p:ext uri="{BB962C8B-B14F-4D97-AF65-F5344CB8AC3E}">
        <p14:creationId xmlns:p14="http://schemas.microsoft.com/office/powerpoint/2010/main" val="2318524932"/>
      </p:ext>
    </p:extLst>
  </p:cSld>
  <p:clrMapOvr>
    <a:masterClrMapping/>
  </p:clrMapOvr>
  <mc:AlternateContent xmlns:mc="http://schemas.openxmlformats.org/markup-compatibility/2006" xmlns:p14="http://schemas.microsoft.com/office/powerpoint/2010/main">
    <mc:Choice Requires="p14">
      <p:transition spd="slow" p14:dur="2000" advTm="91116"/>
    </mc:Choice>
    <mc:Fallback xmlns="">
      <p:transition spd="slow" advTm="91116"/>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r>
              <a:rPr lang="en-US" altLang="ja-JP"/>
              <a:t>Text Normalization</a:t>
            </a:r>
          </a:p>
        </p:txBody>
      </p:sp>
      <p:sp>
        <p:nvSpPr>
          <p:cNvPr id="5" name="コンテンツ プレースホルダー 4"/>
          <p:cNvSpPr>
            <a:spLocks noGrp="1"/>
          </p:cNvSpPr>
          <p:nvPr>
            <p:ph idx="1"/>
          </p:nvPr>
        </p:nvSpPr>
        <p:spPr/>
        <p:txBody>
          <a:bodyPr/>
          <a:lstStyle/>
          <a:p>
            <a:r>
              <a:rPr lang="en-US" altLang="ja-JP" sz="2400" dirty="0">
                <a:ea typeface="MS PGothic" panose="020B0600070205080204" pitchFamily="50" charset="-128"/>
              </a:rPr>
              <a:t>Stemming</a:t>
            </a:r>
          </a:p>
          <a:p>
            <a:r>
              <a:rPr lang="en-US" altLang="ja-JP" sz="2400" dirty="0">
                <a:ea typeface="MS PGothic" panose="020B0600070205080204" pitchFamily="50" charset="-128"/>
              </a:rPr>
              <a:t>Convert to lower case</a:t>
            </a:r>
          </a:p>
          <a:p>
            <a:r>
              <a:rPr lang="en-US" altLang="ja-JP" sz="2400" dirty="0">
                <a:ea typeface="MS PGothic" panose="020B0600070205080204" pitchFamily="50" charset="-128"/>
              </a:rPr>
              <a:t>Identifying </a:t>
            </a:r>
            <a:r>
              <a:rPr lang="en-US" altLang="ja-JP" sz="2400" i="1" dirty="0">
                <a:ea typeface="MS PGothic" panose="020B0600070205080204" pitchFamily="50" charset="-128"/>
              </a:rPr>
              <a:t>non-standard words</a:t>
            </a:r>
            <a:r>
              <a:rPr lang="en-US" altLang="ja-JP" sz="2400" dirty="0">
                <a:ea typeface="MS PGothic" panose="020B0600070205080204" pitchFamily="50" charset="-128"/>
              </a:rPr>
              <a:t> including numbers, abbreviations, and dates, and mapping any such tokens to a special vocabulary. </a:t>
            </a:r>
          </a:p>
          <a:p>
            <a:pPr lvl="1"/>
            <a:r>
              <a:rPr lang="en-US" altLang="ja-JP" sz="2000" dirty="0">
                <a:ea typeface="MS PGothic" panose="020B0600070205080204" pitchFamily="50" charset="-128"/>
              </a:rPr>
              <a:t>For example, every decimal number could be mapped to a single token 0.0, and every acronym could be mapped to AAA. This keeps the vocabulary small and improves the accuracy of many language modeling tasks. </a:t>
            </a:r>
          </a:p>
          <a:p>
            <a:r>
              <a:rPr lang="en-US" altLang="ja-JP" sz="2400" dirty="0">
                <a:ea typeface="MS PGothic" panose="020B0600070205080204" pitchFamily="50" charset="-128"/>
              </a:rPr>
              <a:t>Lemmatization</a:t>
            </a:r>
          </a:p>
          <a:p>
            <a:pPr lvl="1"/>
            <a:r>
              <a:rPr lang="en-US" altLang="ja-JP" sz="2000" dirty="0">
                <a:ea typeface="MS PGothic" panose="020B0600070205080204" pitchFamily="50" charset="-128"/>
              </a:rPr>
              <a:t>Make sure that the resulting form is a known word in a dictionary </a:t>
            </a:r>
          </a:p>
          <a:p>
            <a:pPr lvl="1"/>
            <a:r>
              <a:rPr lang="en-US" altLang="ja-JP" sz="2000" dirty="0">
                <a:ea typeface="MS PGothic" panose="020B0600070205080204" pitchFamily="50" charset="-128"/>
              </a:rPr>
              <a:t>WordNet </a:t>
            </a:r>
            <a:r>
              <a:rPr lang="en-US" altLang="ja-JP" sz="2000" dirty="0" err="1">
                <a:ea typeface="MS PGothic" panose="020B0600070205080204" pitchFamily="50" charset="-128"/>
              </a:rPr>
              <a:t>lemmatizer</a:t>
            </a:r>
            <a:r>
              <a:rPr lang="en-US" altLang="ja-JP" sz="2000" dirty="0">
                <a:ea typeface="MS PGothic" panose="020B0600070205080204" pitchFamily="50" charset="-128"/>
              </a:rPr>
              <a:t> only removes affixes if the resulting word is in its dictionary </a:t>
            </a:r>
          </a:p>
          <a:p>
            <a:endParaRPr kumimoji="1" lang="ja-JP" altLang="en-US" dirty="0"/>
          </a:p>
        </p:txBody>
      </p:sp>
      <p:sp>
        <p:nvSpPr>
          <p:cNvPr id="4" name="スライド番号プレースホルダー 3"/>
          <p:cNvSpPr>
            <a:spLocks noGrp="1"/>
          </p:cNvSpPr>
          <p:nvPr>
            <p:ph type="sldNum" sz="quarter" idx="12"/>
          </p:nvPr>
        </p:nvSpPr>
        <p:spPr/>
        <p:txBody>
          <a:bodyPr/>
          <a:lstStyle/>
          <a:p>
            <a:fld id="{D79A8597-4FFE-499C-8FFE-7026D1DADE73}" type="slidenum">
              <a:rPr lang="en-US" altLang="ja-JP" smtClean="0"/>
              <a:pPr/>
              <a:t>32</a:t>
            </a:fld>
            <a:endParaRPr lang="en-US" altLang="ja-JP"/>
          </a:p>
        </p:txBody>
      </p:sp>
    </p:spTree>
    <p:extLst>
      <p:ext uri="{BB962C8B-B14F-4D97-AF65-F5344CB8AC3E}">
        <p14:creationId xmlns:p14="http://schemas.microsoft.com/office/powerpoint/2010/main" val="4174265963"/>
      </p:ext>
    </p:extLst>
  </p:cSld>
  <p:clrMapOvr>
    <a:masterClrMapping/>
  </p:clrMapOvr>
  <mc:AlternateContent xmlns:mc="http://schemas.openxmlformats.org/markup-compatibility/2006" xmlns:p14="http://schemas.microsoft.com/office/powerpoint/2010/main">
    <mc:Choice Requires="p14">
      <p:transition spd="slow" p14:dur="2000" advTm="189212"/>
    </mc:Choice>
    <mc:Fallback xmlns="">
      <p:transition spd="slow" advTm="189212"/>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r>
              <a:rPr lang="en-US" altLang="ja-JP"/>
              <a:t>Lemmatization</a:t>
            </a:r>
          </a:p>
        </p:txBody>
      </p:sp>
      <p:sp>
        <p:nvSpPr>
          <p:cNvPr id="4" name="コンテンツ プレースホルダー 3"/>
          <p:cNvSpPr>
            <a:spLocks noGrp="1"/>
          </p:cNvSpPr>
          <p:nvPr>
            <p:ph idx="1"/>
          </p:nvPr>
        </p:nvSpPr>
        <p:spPr>
          <a:xfrm>
            <a:off x="838200" y="1825625"/>
            <a:ext cx="4433711" cy="4351338"/>
          </a:xfrm>
        </p:spPr>
        <p:txBody>
          <a:bodyPr/>
          <a:lstStyle/>
          <a:p>
            <a:r>
              <a:rPr lang="en-US" altLang="ja-JP" dirty="0">
                <a:ea typeface="MS PGothic" panose="020B0600070205080204" pitchFamily="50" charset="-128"/>
              </a:rPr>
              <a:t>WordNet </a:t>
            </a:r>
            <a:r>
              <a:rPr lang="en-US" altLang="ja-JP" dirty="0" err="1">
                <a:ea typeface="MS PGothic" panose="020B0600070205080204" pitchFamily="50" charset="-128"/>
              </a:rPr>
              <a:t>lemmatizer</a:t>
            </a:r>
            <a:r>
              <a:rPr lang="en-US" altLang="ja-JP" dirty="0">
                <a:ea typeface="MS PGothic" panose="020B0600070205080204" pitchFamily="50" charset="-128"/>
              </a:rPr>
              <a:t> only removes affixes if the resulting word is in its dictionary</a:t>
            </a:r>
          </a:p>
          <a:p>
            <a:r>
              <a:rPr lang="en-US" altLang="ja-JP" dirty="0">
                <a:ea typeface="MS PGothic" panose="020B0600070205080204" pitchFamily="50" charset="-128"/>
              </a:rPr>
              <a:t>The WordNet </a:t>
            </a:r>
            <a:r>
              <a:rPr lang="en-US" altLang="ja-JP" dirty="0" err="1">
                <a:ea typeface="MS PGothic" panose="020B0600070205080204" pitchFamily="50" charset="-128"/>
              </a:rPr>
              <a:t>lemmatizer</a:t>
            </a:r>
            <a:r>
              <a:rPr lang="en-US" altLang="ja-JP" dirty="0">
                <a:ea typeface="MS PGothic" panose="020B0600070205080204" pitchFamily="50" charset="-128"/>
              </a:rPr>
              <a:t> is a good choice if you want to compile the vocabulary of some texts and want a list of valid lemmas </a:t>
            </a:r>
          </a:p>
          <a:p>
            <a:endParaRPr lang="en-US" altLang="ja-JP" dirty="0">
              <a:ea typeface="MS PGothic" panose="020B0600070205080204" pitchFamily="50" charset="-128"/>
            </a:endParaRPr>
          </a:p>
          <a:p>
            <a:endParaRPr kumimoji="1" lang="ja-JP" altLang="en-US" dirty="0"/>
          </a:p>
        </p:txBody>
      </p:sp>
      <p:sp>
        <p:nvSpPr>
          <p:cNvPr id="8" name="スライド番号プレースホルダー 7"/>
          <p:cNvSpPr>
            <a:spLocks noGrp="1"/>
          </p:cNvSpPr>
          <p:nvPr>
            <p:ph type="sldNum" sz="quarter" idx="12"/>
          </p:nvPr>
        </p:nvSpPr>
        <p:spPr/>
        <p:txBody>
          <a:bodyPr/>
          <a:lstStyle/>
          <a:p>
            <a:fld id="{9E9A6C43-1056-4A58-B780-3AA8CE6562B9}" type="slidenum">
              <a:rPr lang="en-US" altLang="ja-JP" smtClean="0"/>
              <a:pPr/>
              <a:t>33</a:t>
            </a:fld>
            <a:endParaRPr lang="en-US" altLang="ja-JP"/>
          </a:p>
        </p:txBody>
      </p:sp>
      <p:grpSp>
        <p:nvGrpSpPr>
          <p:cNvPr id="157703" name="Group 7"/>
          <p:cNvGrpSpPr>
            <a:grpSpLocks/>
          </p:cNvGrpSpPr>
          <p:nvPr/>
        </p:nvGrpSpPr>
        <p:grpSpPr bwMode="auto">
          <a:xfrm>
            <a:off x="5141578" y="1690688"/>
            <a:ext cx="6856237" cy="1981200"/>
            <a:chOff x="480" y="3072"/>
            <a:chExt cx="4998" cy="1248"/>
          </a:xfrm>
        </p:grpSpPr>
        <p:sp>
          <p:nvSpPr>
            <p:cNvPr id="157700" name="Rectangle 4"/>
            <p:cNvSpPr>
              <a:spLocks noChangeArrowheads="1"/>
            </p:cNvSpPr>
            <p:nvPr/>
          </p:nvSpPr>
          <p:spPr bwMode="auto">
            <a:xfrm>
              <a:off x="816" y="4032"/>
              <a:ext cx="40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buFontTx/>
                <a:buNone/>
              </a:pPr>
              <a:r>
                <a:rPr lang="en-US" altLang="ja-JP" sz="1600">
                  <a:ea typeface="MS PGothic" panose="020B0600070205080204" pitchFamily="50" charset="-128"/>
                </a:rPr>
                <a:t>Notice that if doesn't handle </a:t>
              </a:r>
              <a:r>
                <a:rPr lang="en-US" altLang="ja-JP" sz="1600" i="1">
                  <a:ea typeface="MS PGothic" panose="020B0600070205080204" pitchFamily="50" charset="-128"/>
                </a:rPr>
                <a:t>lying</a:t>
              </a:r>
              <a:r>
                <a:rPr lang="en-US" altLang="ja-JP" sz="1600">
                  <a:ea typeface="MS PGothic" panose="020B0600070205080204" pitchFamily="50" charset="-128"/>
                </a:rPr>
                <a:t>, but it converts </a:t>
              </a:r>
              <a:r>
                <a:rPr lang="en-US" altLang="ja-JP" sz="1600" i="1">
                  <a:ea typeface="MS PGothic" panose="020B0600070205080204" pitchFamily="50" charset="-128"/>
                </a:rPr>
                <a:t>women</a:t>
              </a:r>
              <a:r>
                <a:rPr lang="en-US" altLang="ja-JP" sz="1600">
                  <a:ea typeface="MS PGothic" panose="020B0600070205080204" pitchFamily="50" charset="-128"/>
                </a:rPr>
                <a:t> to </a:t>
              </a:r>
              <a:r>
                <a:rPr lang="en-US" altLang="ja-JP" sz="1600" i="1">
                  <a:ea typeface="MS PGothic" panose="020B0600070205080204" pitchFamily="50" charset="-128"/>
                </a:rPr>
                <a:t>woman</a:t>
              </a:r>
              <a:r>
                <a:rPr lang="en-US" altLang="ja-JP" sz="2000">
                  <a:ea typeface="MS PGothic" panose="020B0600070205080204" pitchFamily="50" charset="-128"/>
                </a:rPr>
                <a:t>.</a:t>
              </a:r>
            </a:p>
          </p:txBody>
        </p:sp>
        <p:pic>
          <p:nvPicPr>
            <p:cNvPr id="157701" name="Picture 5" descr="Snap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 y="3072"/>
              <a:ext cx="4998" cy="945"/>
            </a:xfrm>
            <a:prstGeom prst="rect">
              <a:avLst/>
            </a:prstGeom>
            <a:noFill/>
            <a:extLst>
              <a:ext uri="{909E8E84-426E-40DD-AFC4-6F175D3DCCD1}">
                <a14:hiddenFill xmlns:a14="http://schemas.microsoft.com/office/drawing/2010/main">
                  <a:solidFill>
                    <a:srgbClr val="FFFFFF"/>
                  </a:solidFill>
                </a14:hiddenFill>
              </a:ext>
            </a:extLst>
          </p:spPr>
        </p:pic>
      </p:grpSp>
      <p:pic>
        <p:nvPicPr>
          <p:cNvPr id="157702" name="Picture 6" descr="Snap11"/>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1578" y="762000"/>
            <a:ext cx="6553200" cy="92868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Stemming Lemmatization」の画像検索結果"/>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1967" y="4145993"/>
            <a:ext cx="5692423" cy="179760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266897340"/>
      </p:ext>
    </p:extLst>
  </p:cSld>
  <p:clrMapOvr>
    <a:masterClrMapping/>
  </p:clrMapOvr>
  <mc:AlternateContent xmlns:mc="http://schemas.openxmlformats.org/markup-compatibility/2006" xmlns:p14="http://schemas.microsoft.com/office/powerpoint/2010/main">
    <mc:Choice Requires="p14">
      <p:transition spd="slow" p14:dur="2000" advTm="124052"/>
    </mc:Choice>
    <mc:Fallback xmlns="">
      <p:transition spd="slow" advTm="124052"/>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77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7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ltLang="ja-JP"/>
              <a:t>Tokenization</a:t>
            </a:r>
          </a:p>
        </p:txBody>
      </p:sp>
      <p:sp>
        <p:nvSpPr>
          <p:cNvPr id="5" name="コンテンツ プレースホルダー 4"/>
          <p:cNvSpPr>
            <a:spLocks noGrp="1"/>
          </p:cNvSpPr>
          <p:nvPr>
            <p:ph idx="1"/>
          </p:nvPr>
        </p:nvSpPr>
        <p:spPr/>
        <p:txBody>
          <a:bodyPr/>
          <a:lstStyle/>
          <a:p>
            <a:pPr>
              <a:lnSpc>
                <a:spcPct val="80000"/>
              </a:lnSpc>
            </a:pPr>
            <a:r>
              <a:rPr lang="en-US" altLang="ja-JP" sz="2400" dirty="0">
                <a:ea typeface="MS PGothic" panose="020B0600070205080204" pitchFamily="50" charset="-128"/>
              </a:rPr>
              <a:t>Divide text into units called tokens (words, numbers, punctuations) (page 124—136 Manning)</a:t>
            </a:r>
          </a:p>
          <a:p>
            <a:pPr>
              <a:lnSpc>
                <a:spcPct val="80000"/>
              </a:lnSpc>
            </a:pPr>
            <a:r>
              <a:rPr lang="en-US" altLang="ja-JP" sz="2400" dirty="0">
                <a:ea typeface="MS PGothic" panose="020B0600070205080204" pitchFamily="50" charset="-128"/>
              </a:rPr>
              <a:t>What is a word?</a:t>
            </a:r>
          </a:p>
          <a:p>
            <a:pPr lvl="1">
              <a:lnSpc>
                <a:spcPct val="80000"/>
              </a:lnSpc>
            </a:pPr>
            <a:r>
              <a:rPr lang="en-US" altLang="ja-JP" sz="2000" dirty="0">
                <a:ea typeface="MS PGothic" panose="020B0600070205080204" pitchFamily="50" charset="-128"/>
              </a:rPr>
              <a:t>Graphic word: string of continuous alpha numeric character surrounded by white space</a:t>
            </a:r>
          </a:p>
          <a:p>
            <a:pPr lvl="2">
              <a:lnSpc>
                <a:spcPct val="80000"/>
              </a:lnSpc>
            </a:pPr>
            <a:r>
              <a:rPr lang="en-US" altLang="ja-JP" sz="1800" i="1" dirty="0">
                <a:ea typeface="MS PGothic" panose="020B0600070205080204" pitchFamily="50" charset="-128"/>
              </a:rPr>
              <a:t>$22.50</a:t>
            </a:r>
          </a:p>
          <a:p>
            <a:pPr lvl="1">
              <a:lnSpc>
                <a:spcPct val="80000"/>
              </a:lnSpc>
            </a:pPr>
            <a:r>
              <a:rPr lang="en-US" altLang="ja-JP" sz="2000" dirty="0">
                <a:ea typeface="MS PGothic" panose="020B0600070205080204" pitchFamily="50" charset="-128"/>
              </a:rPr>
              <a:t>Main clue (in English) is the occurrence of whitespaces</a:t>
            </a:r>
          </a:p>
          <a:p>
            <a:pPr lvl="1">
              <a:lnSpc>
                <a:spcPct val="80000"/>
              </a:lnSpc>
            </a:pPr>
            <a:r>
              <a:rPr lang="en-US" altLang="ja-JP" sz="2000" dirty="0">
                <a:ea typeface="MS PGothic" panose="020B0600070205080204" pitchFamily="50" charset="-128"/>
              </a:rPr>
              <a:t>Problems</a:t>
            </a:r>
          </a:p>
          <a:p>
            <a:pPr lvl="2">
              <a:lnSpc>
                <a:spcPct val="80000"/>
              </a:lnSpc>
            </a:pPr>
            <a:r>
              <a:rPr lang="en-US" altLang="ja-JP" sz="1800" dirty="0">
                <a:ea typeface="MS PGothic" panose="020B0600070205080204" pitchFamily="50" charset="-128"/>
              </a:rPr>
              <a:t>Periods: usually remove punctuation but sometimes it’s useful to keep periods (</a:t>
            </a:r>
            <a:r>
              <a:rPr lang="en-US" altLang="ja-JP" sz="1800" i="1" dirty="0">
                <a:ea typeface="MS PGothic" panose="020B0600070205080204" pitchFamily="50" charset="-128"/>
              </a:rPr>
              <a:t>Wash</a:t>
            </a:r>
            <a:r>
              <a:rPr lang="en-US" altLang="ja-JP" sz="1800" dirty="0">
                <a:ea typeface="MS PGothic" panose="020B0600070205080204" pitchFamily="50" charset="-128"/>
              </a:rPr>
              <a:t>. </a:t>
            </a:r>
            <a:r>
              <a:rPr lang="en-US" altLang="ja-JP" sz="1800" dirty="0">
                <a:ea typeface="MS PGothic" panose="020B0600070205080204" pitchFamily="50" charset="-128"/>
                <a:sym typeface="Wingdings" panose="05000000000000000000" pitchFamily="2" charset="2"/>
              </a:rPr>
              <a:t> </a:t>
            </a:r>
            <a:r>
              <a:rPr lang="en-US" altLang="ja-JP" sz="1800" i="1" dirty="0">
                <a:ea typeface="MS PGothic" panose="020B0600070205080204" pitchFamily="50" charset="-128"/>
                <a:sym typeface="Wingdings" panose="05000000000000000000" pitchFamily="2" charset="2"/>
              </a:rPr>
              <a:t>wash</a:t>
            </a:r>
            <a:r>
              <a:rPr lang="en-US" altLang="ja-JP" sz="1800" dirty="0">
                <a:ea typeface="MS PGothic" panose="020B0600070205080204" pitchFamily="50" charset="-128"/>
                <a:sym typeface="Wingdings" panose="05000000000000000000" pitchFamily="2" charset="2"/>
              </a:rPr>
              <a:t>)</a:t>
            </a:r>
          </a:p>
          <a:p>
            <a:pPr lvl="2">
              <a:lnSpc>
                <a:spcPct val="80000"/>
              </a:lnSpc>
            </a:pPr>
            <a:r>
              <a:rPr lang="en-US" altLang="ja-JP" sz="1800" dirty="0">
                <a:ea typeface="MS PGothic" panose="020B0600070205080204" pitchFamily="50" charset="-128"/>
                <a:sym typeface="Wingdings" panose="05000000000000000000" pitchFamily="2" charset="2"/>
              </a:rPr>
              <a:t>Single apostrophes, contractions (</a:t>
            </a:r>
            <a:r>
              <a:rPr lang="en-US" altLang="ja-JP" sz="1800" i="1" dirty="0">
                <a:ea typeface="MS PGothic" panose="020B0600070205080204" pitchFamily="50" charset="-128"/>
                <a:sym typeface="Wingdings" panose="05000000000000000000" pitchFamily="2" charset="2"/>
              </a:rPr>
              <a:t>isn’t, didn’t, dog’s</a:t>
            </a:r>
            <a:r>
              <a:rPr lang="en-US" altLang="ja-JP" sz="1800" dirty="0">
                <a:ea typeface="MS PGothic" panose="020B0600070205080204" pitchFamily="50" charset="-128"/>
                <a:sym typeface="Wingdings" panose="05000000000000000000" pitchFamily="2" charset="2"/>
              </a:rPr>
              <a:t>: for meaning extraction could be useful to have 2 separate forms: </a:t>
            </a:r>
            <a:r>
              <a:rPr lang="en-US" altLang="ja-JP" sz="1800" i="1" dirty="0">
                <a:ea typeface="MS PGothic" panose="020B0600070205080204" pitchFamily="50" charset="-128"/>
                <a:sym typeface="Wingdings" panose="05000000000000000000" pitchFamily="2" charset="2"/>
              </a:rPr>
              <a:t>is</a:t>
            </a:r>
            <a:r>
              <a:rPr lang="en-US" altLang="ja-JP" sz="1800" dirty="0">
                <a:ea typeface="MS PGothic" panose="020B0600070205080204" pitchFamily="50" charset="-128"/>
                <a:sym typeface="Wingdings" panose="05000000000000000000" pitchFamily="2" charset="2"/>
              </a:rPr>
              <a:t> + </a:t>
            </a:r>
            <a:r>
              <a:rPr lang="en-US" altLang="ja-JP" sz="1800" i="1" dirty="0" err="1">
                <a:ea typeface="MS PGothic" panose="020B0600070205080204" pitchFamily="50" charset="-128"/>
                <a:sym typeface="Wingdings" panose="05000000000000000000" pitchFamily="2" charset="2"/>
              </a:rPr>
              <a:t>n’t</a:t>
            </a:r>
            <a:r>
              <a:rPr lang="en-US" altLang="ja-JP" sz="1800" dirty="0">
                <a:ea typeface="MS PGothic" panose="020B0600070205080204" pitchFamily="50" charset="-128"/>
                <a:sym typeface="Wingdings" panose="05000000000000000000" pitchFamily="2" charset="2"/>
              </a:rPr>
              <a:t> or </a:t>
            </a:r>
            <a:r>
              <a:rPr lang="en-US" altLang="ja-JP" sz="1800" i="1" dirty="0">
                <a:ea typeface="MS PGothic" panose="020B0600070205080204" pitchFamily="50" charset="-128"/>
                <a:sym typeface="Wingdings" panose="05000000000000000000" pitchFamily="2" charset="2"/>
              </a:rPr>
              <a:t>not</a:t>
            </a:r>
            <a:r>
              <a:rPr lang="en-US" altLang="ja-JP" sz="1800" dirty="0">
                <a:ea typeface="MS PGothic" panose="020B0600070205080204" pitchFamily="50" charset="-128"/>
                <a:sym typeface="Wingdings" panose="05000000000000000000" pitchFamily="2" charset="2"/>
              </a:rPr>
              <a:t>)</a:t>
            </a:r>
          </a:p>
          <a:p>
            <a:pPr lvl="2">
              <a:lnSpc>
                <a:spcPct val="80000"/>
              </a:lnSpc>
            </a:pPr>
            <a:r>
              <a:rPr lang="en-US" altLang="ja-JP" sz="1800" dirty="0">
                <a:ea typeface="MS PGothic" panose="020B0600070205080204" pitchFamily="50" charset="-128"/>
                <a:sym typeface="Wingdings" panose="05000000000000000000" pitchFamily="2" charset="2"/>
              </a:rPr>
              <a:t>Hyphenation:</a:t>
            </a:r>
          </a:p>
          <a:p>
            <a:pPr lvl="3">
              <a:lnSpc>
                <a:spcPct val="80000"/>
              </a:lnSpc>
            </a:pPr>
            <a:r>
              <a:rPr lang="en-US" altLang="ja-JP" sz="1600" dirty="0">
                <a:ea typeface="MS PGothic" panose="020B0600070205080204" pitchFamily="50" charset="-128"/>
                <a:sym typeface="Wingdings" panose="05000000000000000000" pitchFamily="2" charset="2"/>
              </a:rPr>
              <a:t>Sometime best a single word: </a:t>
            </a:r>
            <a:r>
              <a:rPr lang="en-US" altLang="ja-JP" sz="1600" i="1" dirty="0">
                <a:ea typeface="MS PGothic" panose="020B0600070205080204" pitchFamily="50" charset="-128"/>
                <a:sym typeface="Wingdings" panose="05000000000000000000" pitchFamily="2" charset="2"/>
              </a:rPr>
              <a:t>co-operate</a:t>
            </a:r>
          </a:p>
          <a:p>
            <a:pPr lvl="3">
              <a:lnSpc>
                <a:spcPct val="80000"/>
              </a:lnSpc>
            </a:pPr>
            <a:r>
              <a:rPr lang="en-US" altLang="ja-JP" sz="1600" dirty="0">
                <a:ea typeface="MS PGothic" panose="020B0600070205080204" pitchFamily="50" charset="-128"/>
                <a:sym typeface="Wingdings" panose="05000000000000000000" pitchFamily="2" charset="2"/>
              </a:rPr>
              <a:t>Sometime best as 2 separate words: </a:t>
            </a:r>
            <a:r>
              <a:rPr lang="en-US" altLang="ja-JP" sz="1600" i="1" dirty="0">
                <a:ea typeface="MS PGothic" panose="020B0600070205080204" pitchFamily="50" charset="-128"/>
                <a:sym typeface="Wingdings" panose="05000000000000000000" pitchFamily="2" charset="2"/>
              </a:rPr>
              <a:t>26-year-old, aluminum-export ban</a:t>
            </a:r>
          </a:p>
          <a:p>
            <a:pPr lvl="2">
              <a:lnSpc>
                <a:spcPct val="80000"/>
              </a:lnSpc>
            </a:pPr>
            <a:endParaRPr lang="en-US" altLang="ja-JP" sz="1800" dirty="0">
              <a:ea typeface="MS PGothic" panose="020B0600070205080204" pitchFamily="50" charset="-128"/>
            </a:endParaRPr>
          </a:p>
          <a:p>
            <a:pPr lvl="1">
              <a:lnSpc>
                <a:spcPct val="80000"/>
              </a:lnSpc>
            </a:pPr>
            <a:endParaRPr lang="en-US" altLang="ja-JP" sz="2000" dirty="0">
              <a:ea typeface="MS PGothic" panose="020B0600070205080204" pitchFamily="50" charset="-128"/>
            </a:endParaRPr>
          </a:p>
          <a:p>
            <a:endParaRPr kumimoji="1" lang="ja-JP" altLang="en-US" dirty="0"/>
          </a:p>
        </p:txBody>
      </p:sp>
      <p:sp>
        <p:nvSpPr>
          <p:cNvPr id="4" name="スライド番号プレースホルダー 3"/>
          <p:cNvSpPr>
            <a:spLocks noGrp="1"/>
          </p:cNvSpPr>
          <p:nvPr>
            <p:ph type="sldNum" sz="quarter" idx="12"/>
          </p:nvPr>
        </p:nvSpPr>
        <p:spPr/>
        <p:txBody>
          <a:bodyPr/>
          <a:lstStyle/>
          <a:p>
            <a:fld id="{EC0E631F-F30F-4216-83BE-F0A99C432277}" type="slidenum">
              <a:rPr lang="en-US" altLang="ja-JP" smtClean="0"/>
              <a:pPr/>
              <a:t>34</a:t>
            </a:fld>
            <a:endParaRPr lang="en-US" altLang="ja-JP"/>
          </a:p>
        </p:txBody>
      </p:sp>
    </p:spTree>
    <p:extLst>
      <p:ext uri="{BB962C8B-B14F-4D97-AF65-F5344CB8AC3E}">
        <p14:creationId xmlns:p14="http://schemas.microsoft.com/office/powerpoint/2010/main" val="1216570025"/>
      </p:ext>
    </p:extLst>
  </p:cSld>
  <p:clrMapOvr>
    <a:masterClrMapping/>
  </p:clrMapOvr>
  <mc:AlternateContent xmlns:mc="http://schemas.openxmlformats.org/markup-compatibility/2006" xmlns:p14="http://schemas.microsoft.com/office/powerpoint/2010/main">
    <mc:Choice Requires="p14">
      <p:transition spd="slow" p14:dur="2000" advTm="139341"/>
    </mc:Choice>
    <mc:Fallback xmlns="">
      <p:transition spd="slow" advTm="139341"/>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altLang="ja-JP"/>
              <a:t>Tokenization</a:t>
            </a:r>
          </a:p>
        </p:txBody>
      </p:sp>
      <p:sp>
        <p:nvSpPr>
          <p:cNvPr id="5" name="コンテンツ プレースホルダー 4"/>
          <p:cNvSpPr>
            <a:spLocks noGrp="1"/>
          </p:cNvSpPr>
          <p:nvPr>
            <p:ph idx="1"/>
          </p:nvPr>
        </p:nvSpPr>
        <p:spPr/>
        <p:txBody>
          <a:bodyPr/>
          <a:lstStyle/>
          <a:p>
            <a:r>
              <a:rPr lang="en-US" altLang="ja-JP" dirty="0">
                <a:ea typeface="MS PGothic" panose="020B0600070205080204" pitchFamily="50" charset="-128"/>
              </a:rPr>
              <a:t>Whitespace often do not indicate a word break: sometime we may want to lump together words that are separated by a white space  (whitespace?) but that we want to regard as a single word</a:t>
            </a:r>
          </a:p>
          <a:p>
            <a:pPr lvl="1"/>
            <a:r>
              <a:rPr lang="en-US" altLang="ja-JP" dirty="0">
                <a:ea typeface="MS PGothic" panose="020B0600070205080204" pitchFamily="50" charset="-128"/>
              </a:rPr>
              <a:t>San Francisco</a:t>
            </a:r>
          </a:p>
          <a:p>
            <a:pPr lvl="1"/>
            <a:r>
              <a:rPr lang="en-US" altLang="ja-JP" dirty="0">
                <a:ea typeface="MS PGothic" panose="020B0600070205080204" pitchFamily="50" charset="-128"/>
              </a:rPr>
              <a:t>The New York-New Heaven railroad</a:t>
            </a:r>
          </a:p>
          <a:p>
            <a:pPr lvl="1"/>
            <a:r>
              <a:rPr lang="en-US" altLang="ja-JP" dirty="0">
                <a:ea typeface="MS PGothic" panose="020B0600070205080204" pitchFamily="50" charset="-128"/>
              </a:rPr>
              <a:t>Wake up, work out</a:t>
            </a:r>
          </a:p>
          <a:p>
            <a:pPr lvl="2"/>
            <a:r>
              <a:rPr lang="en-US" altLang="ja-JP" dirty="0">
                <a:ea typeface="MS PGothic" panose="020B0600070205080204" pitchFamily="50" charset="-128"/>
              </a:rPr>
              <a:t>I couldn’t </a:t>
            </a:r>
            <a:r>
              <a:rPr lang="en-US" altLang="ja-JP" i="1" dirty="0">
                <a:ea typeface="MS PGothic" panose="020B0600070205080204" pitchFamily="50" charset="-128"/>
              </a:rPr>
              <a:t>work</a:t>
            </a:r>
            <a:r>
              <a:rPr lang="en-US" altLang="ja-JP" dirty="0">
                <a:ea typeface="MS PGothic" panose="020B0600070205080204" pitchFamily="50" charset="-128"/>
              </a:rPr>
              <a:t> the answer </a:t>
            </a:r>
            <a:r>
              <a:rPr lang="en-US" altLang="ja-JP" i="1" dirty="0">
                <a:ea typeface="MS PGothic" panose="020B0600070205080204" pitchFamily="50" charset="-128"/>
              </a:rPr>
              <a:t>out</a:t>
            </a:r>
          </a:p>
          <a:p>
            <a:pPr lvl="1"/>
            <a:endParaRPr lang="en-US" altLang="ja-JP" dirty="0">
              <a:ea typeface="MS PGothic" panose="020B0600070205080204" pitchFamily="50" charset="-128"/>
            </a:endParaRPr>
          </a:p>
          <a:p>
            <a:endParaRPr kumimoji="1" lang="ja-JP" altLang="en-US" dirty="0"/>
          </a:p>
        </p:txBody>
      </p:sp>
      <p:sp>
        <p:nvSpPr>
          <p:cNvPr id="4" name="スライド番号プレースホルダー 3"/>
          <p:cNvSpPr>
            <a:spLocks noGrp="1"/>
          </p:cNvSpPr>
          <p:nvPr>
            <p:ph type="sldNum" sz="quarter" idx="12"/>
          </p:nvPr>
        </p:nvSpPr>
        <p:spPr/>
        <p:txBody>
          <a:bodyPr/>
          <a:lstStyle/>
          <a:p>
            <a:fld id="{DEC70DA5-73C7-4868-B014-4F261E052247}" type="slidenum">
              <a:rPr lang="en-US" altLang="ja-JP" smtClean="0"/>
              <a:pPr/>
              <a:t>35</a:t>
            </a:fld>
            <a:endParaRPr lang="en-US" altLang="ja-JP"/>
          </a:p>
        </p:txBody>
      </p:sp>
    </p:spTree>
    <p:extLst>
      <p:ext uri="{BB962C8B-B14F-4D97-AF65-F5344CB8AC3E}">
        <p14:creationId xmlns:p14="http://schemas.microsoft.com/office/powerpoint/2010/main" val="453850176"/>
      </p:ext>
    </p:extLst>
  </p:cSld>
  <p:clrMapOvr>
    <a:masterClrMapping/>
  </p:clrMapOvr>
  <mc:AlternateContent xmlns:mc="http://schemas.openxmlformats.org/markup-compatibility/2006" xmlns:p14="http://schemas.microsoft.com/office/powerpoint/2010/main">
    <mc:Choice Requires="p14">
      <p:transition spd="slow" p14:dur="2000" advTm="60341"/>
    </mc:Choice>
    <mc:Fallback xmlns="">
      <p:transition spd="slow" advTm="60341"/>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US" altLang="ja-JP"/>
              <a:t>Segmentation</a:t>
            </a:r>
          </a:p>
        </p:txBody>
      </p:sp>
      <p:sp>
        <p:nvSpPr>
          <p:cNvPr id="5" name="コンテンツ プレースホルダー 4"/>
          <p:cNvSpPr>
            <a:spLocks noGrp="1"/>
          </p:cNvSpPr>
          <p:nvPr>
            <p:ph idx="1"/>
          </p:nvPr>
        </p:nvSpPr>
        <p:spPr/>
        <p:txBody>
          <a:bodyPr/>
          <a:lstStyle/>
          <a:p>
            <a:r>
              <a:rPr lang="en-US" altLang="ja-JP" dirty="0">
                <a:ea typeface="MS PGothic" panose="020B0600070205080204" pitchFamily="50" charset="-128"/>
              </a:rPr>
              <a:t>Word segmentation</a:t>
            </a:r>
          </a:p>
          <a:p>
            <a:pPr lvl="1"/>
            <a:r>
              <a:rPr lang="en-US" altLang="ja-JP" dirty="0">
                <a:ea typeface="MS PGothic" panose="020B0600070205080204" pitchFamily="50" charset="-128"/>
              </a:rPr>
              <a:t>For languages that do not put spaces between words</a:t>
            </a:r>
          </a:p>
          <a:p>
            <a:pPr lvl="2"/>
            <a:r>
              <a:rPr lang="en-US" altLang="ja-JP" dirty="0">
                <a:ea typeface="MS PGothic" panose="020B0600070205080204" pitchFamily="50" charset="-128"/>
              </a:rPr>
              <a:t>Chinese, Japanese, Korean, Thai, German (for compound nouns)</a:t>
            </a:r>
          </a:p>
          <a:p>
            <a:r>
              <a:rPr lang="en-US" altLang="ja-JP" dirty="0">
                <a:ea typeface="MS PGothic" panose="020B0600070205080204" pitchFamily="50" charset="-128"/>
              </a:rPr>
              <a:t> Sentence segmentation</a:t>
            </a:r>
          </a:p>
          <a:p>
            <a:pPr lvl="1"/>
            <a:r>
              <a:rPr lang="en-US" altLang="ja-JP" dirty="0">
                <a:ea typeface="MS PGothic" panose="020B0600070205080204" pitchFamily="50" charset="-128"/>
              </a:rPr>
              <a:t>Divide text into sentences</a:t>
            </a:r>
          </a:p>
          <a:p>
            <a:pPr lvl="1"/>
            <a:r>
              <a:rPr lang="en-US" altLang="ja-JP" dirty="0">
                <a:ea typeface="MS PGothic" panose="020B0600070205080204" pitchFamily="50" charset="-128"/>
              </a:rPr>
              <a:t>Why?</a:t>
            </a:r>
          </a:p>
          <a:p>
            <a:pPr lvl="1"/>
            <a:endParaRPr lang="en-US" altLang="ja-JP" dirty="0">
              <a:ea typeface="MS PGothic" panose="020B0600070205080204" pitchFamily="50" charset="-128"/>
            </a:endParaRPr>
          </a:p>
          <a:p>
            <a:endParaRPr kumimoji="1" lang="ja-JP" altLang="en-US" dirty="0"/>
          </a:p>
        </p:txBody>
      </p:sp>
      <p:sp>
        <p:nvSpPr>
          <p:cNvPr id="4" name="スライド番号プレースホルダー 3"/>
          <p:cNvSpPr>
            <a:spLocks noGrp="1"/>
          </p:cNvSpPr>
          <p:nvPr>
            <p:ph type="sldNum" sz="quarter" idx="12"/>
          </p:nvPr>
        </p:nvSpPr>
        <p:spPr/>
        <p:txBody>
          <a:bodyPr/>
          <a:lstStyle/>
          <a:p>
            <a:fld id="{BD730972-4907-47E4-B7CA-49ADBF440675}" type="slidenum">
              <a:rPr lang="en-US" altLang="ja-JP" smtClean="0"/>
              <a:pPr/>
              <a:t>36</a:t>
            </a:fld>
            <a:endParaRPr lang="en-US" altLang="ja-JP"/>
          </a:p>
        </p:txBody>
      </p:sp>
    </p:spTree>
    <p:extLst>
      <p:ext uri="{BB962C8B-B14F-4D97-AF65-F5344CB8AC3E}">
        <p14:creationId xmlns:p14="http://schemas.microsoft.com/office/powerpoint/2010/main" val="3391653120"/>
      </p:ext>
    </p:extLst>
  </p:cSld>
  <p:clrMapOvr>
    <a:masterClrMapping/>
  </p:clrMapOvr>
  <mc:AlternateContent xmlns:mc="http://schemas.openxmlformats.org/markup-compatibility/2006" xmlns:p14="http://schemas.microsoft.com/office/powerpoint/2010/main">
    <mc:Choice Requires="p14">
      <p:transition spd="slow" p14:dur="2000" advTm="31477"/>
    </mc:Choice>
    <mc:Fallback xmlns="">
      <p:transition spd="slow" advTm="31477"/>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r>
              <a:rPr lang="en-US" altLang="ja-JP"/>
              <a:t>Sentence Segmentation</a:t>
            </a:r>
          </a:p>
        </p:txBody>
      </p:sp>
      <p:sp>
        <p:nvSpPr>
          <p:cNvPr id="4" name="コンテンツ プレースホルダー 3"/>
          <p:cNvSpPr>
            <a:spLocks noGrp="1"/>
          </p:cNvSpPr>
          <p:nvPr>
            <p:ph idx="1"/>
          </p:nvPr>
        </p:nvSpPr>
        <p:spPr/>
        <p:txBody>
          <a:bodyPr>
            <a:normAutofit lnSpcReduction="10000"/>
          </a:bodyPr>
          <a:lstStyle/>
          <a:p>
            <a:pPr>
              <a:lnSpc>
                <a:spcPct val="80000"/>
              </a:lnSpc>
            </a:pPr>
            <a:r>
              <a:rPr lang="en-US" altLang="ja-JP" dirty="0">
                <a:ea typeface="MS PGothic" panose="020B0600070205080204" pitchFamily="50" charset="-128"/>
              </a:rPr>
              <a:t>Sentence: </a:t>
            </a:r>
          </a:p>
          <a:p>
            <a:pPr lvl="1">
              <a:lnSpc>
                <a:spcPct val="80000"/>
              </a:lnSpc>
            </a:pPr>
            <a:r>
              <a:rPr lang="en-US" altLang="ja-JP" dirty="0">
                <a:ea typeface="MS PGothic" panose="020B0600070205080204" pitchFamily="50" charset="-128"/>
              </a:rPr>
              <a:t>Something ending with a .. ?, ! (and sometime also :)</a:t>
            </a:r>
          </a:p>
          <a:p>
            <a:pPr lvl="1">
              <a:lnSpc>
                <a:spcPct val="80000"/>
              </a:lnSpc>
            </a:pPr>
            <a:r>
              <a:rPr lang="en-US" altLang="ja-JP" dirty="0">
                <a:ea typeface="MS PGothic" panose="020B0600070205080204" pitchFamily="50" charset="-128"/>
              </a:rPr>
              <a:t>“You reminded me,” she remarked, “of your mother.”</a:t>
            </a:r>
          </a:p>
          <a:p>
            <a:pPr lvl="2">
              <a:lnSpc>
                <a:spcPct val="80000"/>
              </a:lnSpc>
            </a:pPr>
            <a:r>
              <a:rPr lang="en-US" altLang="ja-JP" dirty="0">
                <a:ea typeface="MS PGothic" panose="020B0600070205080204" pitchFamily="50" charset="-128"/>
              </a:rPr>
              <a:t>Nested sentences</a:t>
            </a:r>
          </a:p>
          <a:p>
            <a:pPr lvl="2">
              <a:lnSpc>
                <a:spcPct val="80000"/>
              </a:lnSpc>
            </a:pPr>
            <a:r>
              <a:rPr lang="en-US" altLang="ja-JP" dirty="0">
                <a:ea typeface="MS PGothic" panose="020B0600070205080204" pitchFamily="50" charset="-128"/>
              </a:rPr>
              <a:t>Note the .”</a:t>
            </a:r>
          </a:p>
          <a:p>
            <a:pPr>
              <a:lnSpc>
                <a:spcPct val="80000"/>
              </a:lnSpc>
            </a:pPr>
            <a:r>
              <a:rPr lang="en-US" altLang="ja-JP" dirty="0">
                <a:ea typeface="MS PGothic" panose="020B0600070205080204" pitchFamily="50" charset="-128"/>
              </a:rPr>
              <a:t>Sentence boundary detection algorithms</a:t>
            </a:r>
          </a:p>
          <a:p>
            <a:pPr lvl="1">
              <a:lnSpc>
                <a:spcPct val="80000"/>
              </a:lnSpc>
            </a:pPr>
            <a:r>
              <a:rPr lang="en-US" altLang="ja-JP" dirty="0">
                <a:ea typeface="MS PGothic" panose="020B0600070205080204" pitchFamily="50" charset="-128"/>
              </a:rPr>
              <a:t>Heuristic </a:t>
            </a:r>
          </a:p>
          <a:p>
            <a:pPr lvl="1">
              <a:lnSpc>
                <a:spcPct val="80000"/>
              </a:lnSpc>
            </a:pPr>
            <a:r>
              <a:rPr lang="en-US" altLang="ja-JP" dirty="0">
                <a:solidFill>
                  <a:srgbClr val="33CC33"/>
                </a:solidFill>
                <a:ea typeface="MS PGothic" panose="020B0600070205080204" pitchFamily="50" charset="-128"/>
              </a:rPr>
              <a:t>Statistical classification trees</a:t>
            </a:r>
            <a:r>
              <a:rPr lang="en-US" altLang="ja-JP" dirty="0">
                <a:ea typeface="MS PGothic" panose="020B0600070205080204" pitchFamily="50" charset="-128"/>
              </a:rPr>
              <a:t> (Riley 1989)</a:t>
            </a:r>
          </a:p>
          <a:p>
            <a:pPr lvl="2">
              <a:lnSpc>
                <a:spcPct val="80000"/>
              </a:lnSpc>
            </a:pPr>
            <a:r>
              <a:rPr lang="en-US" altLang="ja-JP" dirty="0">
                <a:ea typeface="MS PGothic" panose="020B0600070205080204" pitchFamily="50" charset="-128"/>
              </a:rPr>
              <a:t>Probability of a </a:t>
            </a:r>
            <a:r>
              <a:rPr lang="en-US" altLang="ja-JP" dirty="0">
                <a:solidFill>
                  <a:srgbClr val="FF0000"/>
                </a:solidFill>
                <a:ea typeface="MS PGothic" panose="020B0600070205080204" pitchFamily="50" charset="-128"/>
              </a:rPr>
              <a:t>word</a:t>
            </a:r>
            <a:r>
              <a:rPr lang="en-US" altLang="ja-JP" dirty="0">
                <a:ea typeface="MS PGothic" panose="020B0600070205080204" pitchFamily="50" charset="-128"/>
              </a:rPr>
              <a:t> to occur before or after a boundary, </a:t>
            </a:r>
            <a:r>
              <a:rPr lang="en-US" altLang="ja-JP" dirty="0">
                <a:solidFill>
                  <a:srgbClr val="FF0000"/>
                </a:solidFill>
                <a:ea typeface="MS PGothic" panose="020B0600070205080204" pitchFamily="50" charset="-128"/>
              </a:rPr>
              <a:t>case and length of words</a:t>
            </a:r>
          </a:p>
          <a:p>
            <a:pPr lvl="1">
              <a:lnSpc>
                <a:spcPct val="80000"/>
              </a:lnSpc>
            </a:pPr>
            <a:r>
              <a:rPr lang="en-US" altLang="ja-JP" dirty="0">
                <a:solidFill>
                  <a:srgbClr val="33CC33"/>
                </a:solidFill>
                <a:ea typeface="MS PGothic" panose="020B0600070205080204" pitchFamily="50" charset="-128"/>
              </a:rPr>
              <a:t>Neural network</a:t>
            </a:r>
            <a:r>
              <a:rPr lang="en-US" altLang="ja-JP" dirty="0">
                <a:ea typeface="MS PGothic" panose="020B0600070205080204" pitchFamily="50" charset="-128"/>
              </a:rPr>
              <a:t> (Palmer and Hearst 1997)</a:t>
            </a:r>
          </a:p>
          <a:p>
            <a:pPr lvl="2">
              <a:lnSpc>
                <a:spcPct val="80000"/>
              </a:lnSpc>
            </a:pPr>
            <a:r>
              <a:rPr lang="en-US" altLang="ja-JP" dirty="0">
                <a:solidFill>
                  <a:srgbClr val="FF0000"/>
                </a:solidFill>
                <a:ea typeface="MS PGothic" panose="020B0600070205080204" pitchFamily="50" charset="-128"/>
              </a:rPr>
              <a:t>Part of speech distribution</a:t>
            </a:r>
            <a:r>
              <a:rPr lang="en-US" altLang="ja-JP" dirty="0">
                <a:ea typeface="MS PGothic" panose="020B0600070205080204" pitchFamily="50" charset="-128"/>
              </a:rPr>
              <a:t> of preceding and following words</a:t>
            </a:r>
          </a:p>
          <a:p>
            <a:pPr lvl="1">
              <a:lnSpc>
                <a:spcPct val="80000"/>
              </a:lnSpc>
            </a:pPr>
            <a:r>
              <a:rPr lang="en-US" altLang="ja-JP" dirty="0">
                <a:solidFill>
                  <a:srgbClr val="33CC33"/>
                </a:solidFill>
                <a:ea typeface="MS PGothic" panose="020B0600070205080204" pitchFamily="50" charset="-128"/>
              </a:rPr>
              <a:t>Maximum Entropy</a:t>
            </a:r>
            <a:r>
              <a:rPr lang="en-US" altLang="ja-JP" dirty="0">
                <a:ea typeface="MS PGothic" panose="020B0600070205080204" pitchFamily="50" charset="-128"/>
              </a:rPr>
              <a:t> (</a:t>
            </a:r>
            <a:r>
              <a:rPr lang="en-US" altLang="ja-JP" dirty="0" err="1">
                <a:ea typeface="MS PGothic" panose="020B0600070205080204" pitchFamily="50" charset="-128"/>
              </a:rPr>
              <a:t>Mikheev</a:t>
            </a:r>
            <a:r>
              <a:rPr lang="en-US" altLang="ja-JP" dirty="0">
                <a:ea typeface="MS PGothic" panose="020B0600070205080204" pitchFamily="50" charset="-128"/>
              </a:rPr>
              <a:t> 1998)</a:t>
            </a:r>
          </a:p>
          <a:p>
            <a:pPr lvl="2">
              <a:lnSpc>
                <a:spcPct val="80000"/>
              </a:lnSpc>
            </a:pPr>
            <a:endParaRPr lang="en-US" altLang="ja-JP" dirty="0">
              <a:ea typeface="MS PGothic" panose="020B0600070205080204" pitchFamily="50" charset="-128"/>
            </a:endParaRPr>
          </a:p>
          <a:p>
            <a:endParaRPr kumimoji="1" lang="ja-JP" altLang="en-US" dirty="0"/>
          </a:p>
        </p:txBody>
      </p:sp>
      <p:sp>
        <p:nvSpPr>
          <p:cNvPr id="5" name="スライド番号プレースホルダー 4"/>
          <p:cNvSpPr>
            <a:spLocks noGrp="1"/>
          </p:cNvSpPr>
          <p:nvPr>
            <p:ph type="sldNum" sz="quarter" idx="12"/>
          </p:nvPr>
        </p:nvSpPr>
        <p:spPr/>
        <p:txBody>
          <a:bodyPr/>
          <a:lstStyle/>
          <a:p>
            <a:fld id="{ACAF2D2E-24ED-4AC2-BF7A-CC308BEC8418}" type="slidenum">
              <a:rPr lang="en-US" altLang="ja-JP" smtClean="0"/>
              <a:pPr/>
              <a:t>37</a:t>
            </a:fld>
            <a:endParaRPr lang="en-US" altLang="ja-JP"/>
          </a:p>
        </p:txBody>
      </p:sp>
      <p:sp>
        <p:nvSpPr>
          <p:cNvPr id="172036" name="Text Box 4"/>
          <p:cNvSpPr txBox="1">
            <a:spLocks noChangeArrowheads="1"/>
          </p:cNvSpPr>
          <p:nvPr/>
        </p:nvSpPr>
        <p:spPr bwMode="auto">
          <a:xfrm>
            <a:off x="3733800" y="6248400"/>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sz="2400" b="1">
                <a:ea typeface="MS PGothic" panose="020B0600070205080204" pitchFamily="50" charset="-128"/>
              </a:rPr>
              <a:t>Note: </a:t>
            </a:r>
            <a:r>
              <a:rPr lang="en-US" altLang="ja-JP" sz="2400" b="1">
                <a:solidFill>
                  <a:srgbClr val="33CC33"/>
                </a:solidFill>
                <a:ea typeface="MS PGothic" panose="020B0600070205080204" pitchFamily="50" charset="-128"/>
              </a:rPr>
              <a:t>MODELS</a:t>
            </a:r>
            <a:r>
              <a:rPr lang="en-US" altLang="ja-JP" sz="2400" b="1">
                <a:ea typeface="MS PGothic" panose="020B0600070205080204" pitchFamily="50" charset="-128"/>
              </a:rPr>
              <a:t> and </a:t>
            </a:r>
            <a:r>
              <a:rPr lang="en-US" altLang="ja-JP" sz="2400" b="1">
                <a:solidFill>
                  <a:srgbClr val="FF0000"/>
                </a:solidFill>
                <a:ea typeface="MS PGothic" panose="020B0600070205080204" pitchFamily="50" charset="-128"/>
              </a:rPr>
              <a:t>Features</a:t>
            </a:r>
          </a:p>
        </p:txBody>
      </p:sp>
    </p:spTree>
    <p:extLst>
      <p:ext uri="{BB962C8B-B14F-4D97-AF65-F5344CB8AC3E}">
        <p14:creationId xmlns:p14="http://schemas.microsoft.com/office/powerpoint/2010/main" val="696476977"/>
      </p:ext>
    </p:extLst>
  </p:cSld>
  <p:clrMapOvr>
    <a:masterClrMapping/>
  </p:clrMapOvr>
  <mc:AlternateContent xmlns:mc="http://schemas.openxmlformats.org/markup-compatibility/2006" xmlns:p14="http://schemas.microsoft.com/office/powerpoint/2010/main">
    <mc:Choice Requires="p14">
      <p:transition spd="slow" p14:dur="2000" advTm="24997"/>
    </mc:Choice>
    <mc:Fallback xmlns="">
      <p:transition spd="slow" advTm="24997"/>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lang="en-US" altLang="ja-JP" dirty="0"/>
              <a:t>Feature: Word Token Frequency</a:t>
            </a:r>
            <a:br>
              <a:rPr lang="en-US" altLang="ja-JP" dirty="0"/>
            </a:br>
            <a:r>
              <a:rPr lang="en-US" altLang="ja-JP" dirty="0" err="1"/>
              <a:t>tf</a:t>
            </a:r>
            <a:r>
              <a:rPr lang="en-US" altLang="ja-JP" dirty="0"/>
              <a:t>*</a:t>
            </a:r>
            <a:r>
              <a:rPr lang="en-US" altLang="ja-JP" dirty="0" err="1"/>
              <a:t>idf</a:t>
            </a:r>
            <a:r>
              <a:rPr lang="en-US" altLang="ja-JP" dirty="0"/>
              <a:t> weighting schema</a:t>
            </a:r>
            <a:endParaRPr lang="ja-JP" altLang="en-US" dirty="0"/>
          </a:p>
        </p:txBody>
      </p:sp>
      <p:sp>
        <p:nvSpPr>
          <p:cNvPr id="47107" name="Rectangle 3"/>
          <p:cNvSpPr>
            <a:spLocks noGrp="1" noChangeArrowheads="1"/>
          </p:cNvSpPr>
          <p:nvPr>
            <p:ph type="body" idx="1"/>
          </p:nvPr>
        </p:nvSpPr>
        <p:spPr/>
        <p:txBody>
          <a:bodyPr>
            <a:normAutofit fontScale="85000" lnSpcReduction="20000"/>
          </a:bodyPr>
          <a:lstStyle/>
          <a:p>
            <a:r>
              <a:rPr lang="en-US" altLang="ja-JP" dirty="0" err="1"/>
              <a:t>tf</a:t>
            </a:r>
            <a:r>
              <a:rPr lang="en-US" altLang="ja-JP" dirty="0"/>
              <a:t> = term frequency </a:t>
            </a:r>
          </a:p>
          <a:p>
            <a:pPr lvl="1"/>
            <a:r>
              <a:rPr lang="en-US" altLang="ja-JP" dirty="0"/>
              <a:t>frequency of a term/keyword in a document</a:t>
            </a:r>
          </a:p>
          <a:p>
            <a:pPr lvl="1"/>
            <a:r>
              <a:rPr lang="en-US" altLang="ja-JP" dirty="0"/>
              <a:t>The higher the </a:t>
            </a:r>
            <a:r>
              <a:rPr lang="en-US" altLang="ja-JP" dirty="0" err="1"/>
              <a:t>tf</a:t>
            </a:r>
            <a:r>
              <a:rPr lang="en-US" altLang="ja-JP" dirty="0"/>
              <a:t>, the higher the importance (weight) for the doc.</a:t>
            </a:r>
          </a:p>
          <a:p>
            <a:r>
              <a:rPr lang="en-US" altLang="ja-JP" dirty="0" err="1"/>
              <a:t>df</a:t>
            </a:r>
            <a:r>
              <a:rPr lang="en-US" altLang="ja-JP" dirty="0"/>
              <a:t> = document frequency</a:t>
            </a:r>
          </a:p>
          <a:p>
            <a:pPr lvl="1"/>
            <a:r>
              <a:rPr lang="en-US" altLang="ja-JP" dirty="0"/>
              <a:t>no. of documents containing the term</a:t>
            </a:r>
          </a:p>
          <a:p>
            <a:pPr lvl="1"/>
            <a:r>
              <a:rPr lang="en-US" altLang="ja-JP" dirty="0"/>
              <a:t>distribution of the term</a:t>
            </a:r>
          </a:p>
          <a:p>
            <a:r>
              <a:rPr lang="en-US" altLang="ja-JP" dirty="0" err="1"/>
              <a:t>idf</a:t>
            </a:r>
            <a:r>
              <a:rPr lang="en-US" altLang="ja-JP" dirty="0"/>
              <a:t> = inverse document frequency</a:t>
            </a:r>
          </a:p>
          <a:p>
            <a:pPr lvl="1"/>
            <a:r>
              <a:rPr lang="en-US" altLang="ja-JP" dirty="0"/>
              <a:t>the unevenness of term distribution in the corpus</a:t>
            </a:r>
          </a:p>
          <a:p>
            <a:pPr lvl="1"/>
            <a:r>
              <a:rPr lang="en-US" altLang="ja-JP" dirty="0"/>
              <a:t>the specificity of term to a document</a:t>
            </a:r>
          </a:p>
          <a:p>
            <a:endParaRPr lang="en-US" altLang="ja-JP" dirty="0"/>
          </a:p>
          <a:p>
            <a:r>
              <a:rPr lang="en-US" altLang="ja-JP" dirty="0"/>
              <a:t>The more the term is distributed evenly, the less it is specific to a document</a:t>
            </a:r>
          </a:p>
          <a:p>
            <a:pPr marL="0" indent="0">
              <a:buNone/>
            </a:pPr>
            <a:r>
              <a:rPr lang="en-US" altLang="ja-JP" dirty="0"/>
              <a:t>		weight(</a:t>
            </a:r>
            <a:r>
              <a:rPr lang="en-US" altLang="ja-JP" dirty="0" err="1"/>
              <a:t>t,D</a:t>
            </a:r>
            <a:r>
              <a:rPr lang="en-US" altLang="ja-JP" dirty="0"/>
              <a:t>) = </a:t>
            </a:r>
            <a:r>
              <a:rPr lang="en-US" altLang="ja-JP" dirty="0" err="1"/>
              <a:t>tf</a:t>
            </a:r>
            <a:r>
              <a:rPr lang="en-US" altLang="ja-JP" dirty="0"/>
              <a:t>(</a:t>
            </a:r>
            <a:r>
              <a:rPr lang="en-US" altLang="ja-JP" dirty="0" err="1"/>
              <a:t>t,D</a:t>
            </a:r>
            <a:r>
              <a:rPr lang="en-US" altLang="ja-JP" dirty="0"/>
              <a:t>) * </a:t>
            </a:r>
            <a:r>
              <a:rPr lang="en-US" altLang="ja-JP" dirty="0" err="1"/>
              <a:t>idf</a:t>
            </a:r>
            <a:r>
              <a:rPr lang="en-US" altLang="ja-JP" dirty="0"/>
              <a:t>(t)</a:t>
            </a:r>
          </a:p>
        </p:txBody>
      </p:sp>
      <p:sp>
        <p:nvSpPr>
          <p:cNvPr id="4" name="スライド番号プレースホルダー 3"/>
          <p:cNvSpPr>
            <a:spLocks noGrp="1"/>
          </p:cNvSpPr>
          <p:nvPr>
            <p:ph type="sldNum" sz="quarter" idx="12"/>
          </p:nvPr>
        </p:nvSpPr>
        <p:spPr/>
        <p:txBody>
          <a:bodyPr/>
          <a:lstStyle/>
          <a:p>
            <a:fld id="{AB719810-C9CC-47A4-A992-04B5FDA88D7D}" type="slidenum">
              <a:rPr lang="en-AU" altLang="ja-JP" smtClean="0"/>
              <a:pPr/>
              <a:t>38</a:t>
            </a:fld>
            <a:endParaRPr lang="en-AU" altLang="ja-JP"/>
          </a:p>
        </p:txBody>
      </p:sp>
    </p:spTree>
    <p:extLst>
      <p:ext uri="{BB962C8B-B14F-4D97-AF65-F5344CB8AC3E}">
        <p14:creationId xmlns:p14="http://schemas.microsoft.com/office/powerpoint/2010/main" val="216615633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r>
              <a:rPr lang="en-US" altLang="ja-JP" dirty="0"/>
              <a:t>Feature: Collocations/</a:t>
            </a:r>
            <a:r>
              <a:rPr lang="en-US" altLang="ja-JP" dirty="0" err="1"/>
              <a:t>Cooccurences</a:t>
            </a:r>
            <a:endParaRPr lang="en-US" altLang="ja-JP" dirty="0"/>
          </a:p>
        </p:txBody>
      </p:sp>
      <p:sp>
        <p:nvSpPr>
          <p:cNvPr id="5" name="コンテンツ プレースホルダー 4"/>
          <p:cNvSpPr>
            <a:spLocks noGrp="1"/>
          </p:cNvSpPr>
          <p:nvPr>
            <p:ph idx="1"/>
          </p:nvPr>
        </p:nvSpPr>
        <p:spPr/>
        <p:txBody>
          <a:bodyPr/>
          <a:lstStyle/>
          <a:p>
            <a:pPr>
              <a:lnSpc>
                <a:spcPct val="80000"/>
              </a:lnSpc>
            </a:pPr>
            <a:r>
              <a:rPr lang="en-US" altLang="ja-JP" sz="2400" dirty="0">
                <a:ea typeface="MS PGothic" panose="020B0600070205080204" pitchFamily="50" charset="-128"/>
              </a:rPr>
              <a:t>A collocation is an expression consisting of two or more words that correspond to some conventional way of saying things</a:t>
            </a:r>
          </a:p>
          <a:p>
            <a:pPr lvl="1">
              <a:lnSpc>
                <a:spcPct val="80000"/>
              </a:lnSpc>
            </a:pPr>
            <a:r>
              <a:rPr lang="en-US" altLang="ja-JP" sz="2000" dirty="0">
                <a:ea typeface="MS PGothic" panose="020B0600070205080204" pitchFamily="50" charset="-128"/>
              </a:rPr>
              <a:t>Noun phrases: </a:t>
            </a:r>
            <a:r>
              <a:rPr lang="en-US" altLang="ja-JP" sz="2000" i="1" dirty="0">
                <a:ea typeface="MS PGothic" panose="020B0600070205080204" pitchFamily="50" charset="-128"/>
              </a:rPr>
              <a:t>weapons of mass destruction</a:t>
            </a:r>
            <a:r>
              <a:rPr lang="en-US" altLang="ja-JP" sz="2000" dirty="0">
                <a:ea typeface="MS PGothic" panose="020B0600070205080204" pitchFamily="50" charset="-128"/>
              </a:rPr>
              <a:t>, </a:t>
            </a:r>
            <a:r>
              <a:rPr lang="en-US" altLang="ja-JP" sz="2000" i="1" dirty="0">
                <a:ea typeface="MS PGothic" panose="020B0600070205080204" pitchFamily="50" charset="-128"/>
              </a:rPr>
              <a:t>stiff breeze</a:t>
            </a:r>
            <a:r>
              <a:rPr lang="en-US" altLang="ja-JP" sz="2000" dirty="0">
                <a:ea typeface="MS PGothic" panose="020B0600070205080204" pitchFamily="50" charset="-128"/>
              </a:rPr>
              <a:t> (but why not *</a:t>
            </a:r>
            <a:r>
              <a:rPr lang="en-US" altLang="ja-JP" sz="2000" i="1" dirty="0">
                <a:ea typeface="MS PGothic" panose="020B0600070205080204" pitchFamily="50" charset="-128"/>
              </a:rPr>
              <a:t>stiff wind</a:t>
            </a:r>
            <a:r>
              <a:rPr lang="en-US" altLang="ja-JP" sz="2000" dirty="0">
                <a:ea typeface="MS PGothic" panose="020B0600070205080204" pitchFamily="50" charset="-128"/>
              </a:rPr>
              <a:t>?)</a:t>
            </a:r>
          </a:p>
          <a:p>
            <a:pPr lvl="1">
              <a:lnSpc>
                <a:spcPct val="80000"/>
              </a:lnSpc>
            </a:pPr>
            <a:r>
              <a:rPr lang="en-US" altLang="ja-JP" sz="2000" dirty="0">
                <a:ea typeface="MS PGothic" panose="020B0600070205080204" pitchFamily="50" charset="-128"/>
              </a:rPr>
              <a:t>Verbal phrases: </a:t>
            </a:r>
            <a:r>
              <a:rPr lang="en-US" altLang="ja-JP" sz="2000" i="1" dirty="0">
                <a:ea typeface="MS PGothic" panose="020B0600070205080204" pitchFamily="50" charset="-128"/>
              </a:rPr>
              <a:t>to make up</a:t>
            </a:r>
          </a:p>
          <a:p>
            <a:pPr lvl="1">
              <a:lnSpc>
                <a:spcPct val="80000"/>
              </a:lnSpc>
            </a:pPr>
            <a:r>
              <a:rPr lang="en-US" altLang="ja-JP" sz="2000" dirty="0">
                <a:ea typeface="MS PGothic" panose="020B0600070205080204" pitchFamily="50" charset="-128"/>
              </a:rPr>
              <a:t>Not necessarily contiguous: </a:t>
            </a:r>
            <a:r>
              <a:rPr lang="en-US" altLang="ja-JP" sz="2000" i="1" dirty="0">
                <a:ea typeface="MS PGothic" panose="020B0600070205080204" pitchFamily="50" charset="-128"/>
              </a:rPr>
              <a:t>knock…. door</a:t>
            </a:r>
          </a:p>
          <a:p>
            <a:pPr>
              <a:lnSpc>
                <a:spcPct val="80000"/>
              </a:lnSpc>
            </a:pPr>
            <a:r>
              <a:rPr lang="en-US" altLang="ja-JP" sz="2400" i="1" dirty="0">
                <a:ea typeface="MS PGothic" panose="020B0600070205080204" pitchFamily="50" charset="-128"/>
              </a:rPr>
              <a:t>Limited</a:t>
            </a:r>
            <a:r>
              <a:rPr lang="en-US" altLang="ja-JP" sz="2400" dirty="0">
                <a:ea typeface="MS PGothic" panose="020B0600070205080204" pitchFamily="50" charset="-128"/>
              </a:rPr>
              <a:t> compositionality</a:t>
            </a:r>
          </a:p>
          <a:p>
            <a:pPr lvl="1">
              <a:lnSpc>
                <a:spcPct val="80000"/>
              </a:lnSpc>
            </a:pPr>
            <a:r>
              <a:rPr lang="en-US" altLang="ja-JP" sz="2000" dirty="0">
                <a:ea typeface="MS PGothic" panose="020B0600070205080204" pitchFamily="50" charset="-128"/>
              </a:rPr>
              <a:t>Compositional if meaning of expression can be predicted by the meaning of the parts</a:t>
            </a:r>
          </a:p>
          <a:p>
            <a:pPr lvl="1">
              <a:lnSpc>
                <a:spcPct val="80000"/>
              </a:lnSpc>
            </a:pPr>
            <a:r>
              <a:rPr lang="en-US" altLang="ja-JP" sz="2000" dirty="0">
                <a:ea typeface="MS PGothic" panose="020B0600070205080204" pitchFamily="50" charset="-128"/>
              </a:rPr>
              <a:t>Idioms are most extreme examples of non-compositionality </a:t>
            </a:r>
          </a:p>
          <a:p>
            <a:pPr lvl="2">
              <a:lnSpc>
                <a:spcPct val="80000"/>
              </a:lnSpc>
            </a:pPr>
            <a:r>
              <a:rPr lang="en-US" altLang="ja-JP" sz="1800" i="1" dirty="0">
                <a:ea typeface="MS PGothic" panose="020B0600070205080204" pitchFamily="50" charset="-128"/>
              </a:rPr>
              <a:t>Kick the bucket</a:t>
            </a:r>
          </a:p>
          <a:p>
            <a:pPr lvl="1">
              <a:lnSpc>
                <a:spcPct val="80000"/>
              </a:lnSpc>
            </a:pPr>
            <a:r>
              <a:rPr lang="en-US" altLang="ja-JP" sz="2000" dirty="0">
                <a:ea typeface="MS PGothic" panose="020B0600070205080204" pitchFamily="50" charset="-128"/>
              </a:rPr>
              <a:t>In collocations there is an element of meaning added to the combination (i.e. the exact meaning cannot be derived directly form its components)</a:t>
            </a:r>
          </a:p>
          <a:p>
            <a:pPr lvl="2">
              <a:lnSpc>
                <a:spcPct val="80000"/>
              </a:lnSpc>
            </a:pPr>
            <a:r>
              <a:rPr lang="en-US" altLang="ja-JP" sz="1800" i="1" dirty="0">
                <a:ea typeface="MS PGothic" panose="020B0600070205080204" pitchFamily="50" charset="-128"/>
              </a:rPr>
              <a:t>White hair, white wine, white woman</a:t>
            </a:r>
          </a:p>
          <a:p>
            <a:pPr lvl="1">
              <a:lnSpc>
                <a:spcPct val="80000"/>
              </a:lnSpc>
            </a:pPr>
            <a:endParaRPr lang="en-US" altLang="ja-JP" sz="2000" dirty="0">
              <a:ea typeface="MS PGothic" panose="020B0600070205080204" pitchFamily="50" charset="-128"/>
            </a:endParaRPr>
          </a:p>
          <a:p>
            <a:endParaRPr kumimoji="1" lang="ja-JP" altLang="en-US" dirty="0"/>
          </a:p>
        </p:txBody>
      </p:sp>
      <p:sp>
        <p:nvSpPr>
          <p:cNvPr id="4" name="スライド番号プレースホルダー 3"/>
          <p:cNvSpPr>
            <a:spLocks noGrp="1"/>
          </p:cNvSpPr>
          <p:nvPr>
            <p:ph type="sldNum" sz="quarter" idx="12"/>
          </p:nvPr>
        </p:nvSpPr>
        <p:spPr/>
        <p:txBody>
          <a:bodyPr/>
          <a:lstStyle/>
          <a:p>
            <a:fld id="{BC6A6785-73EA-453B-81B5-47687EA4BBF6}" type="slidenum">
              <a:rPr lang="en-US" altLang="ja-JP" smtClean="0"/>
              <a:pPr/>
              <a:t>39</a:t>
            </a:fld>
            <a:endParaRPr lang="en-US" altLang="ja-JP"/>
          </a:p>
        </p:txBody>
      </p:sp>
    </p:spTree>
    <p:extLst>
      <p:ext uri="{BB962C8B-B14F-4D97-AF65-F5344CB8AC3E}">
        <p14:creationId xmlns:p14="http://schemas.microsoft.com/office/powerpoint/2010/main" val="38614211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r>
              <a:rPr lang="en-US" altLang="ja-JP"/>
              <a:t>Collocations</a:t>
            </a:r>
          </a:p>
        </p:txBody>
      </p:sp>
      <p:sp>
        <p:nvSpPr>
          <p:cNvPr id="5" name="コンテンツ プレースホルダー 4"/>
          <p:cNvSpPr>
            <a:spLocks noGrp="1"/>
          </p:cNvSpPr>
          <p:nvPr>
            <p:ph idx="1"/>
          </p:nvPr>
        </p:nvSpPr>
        <p:spPr/>
        <p:txBody>
          <a:bodyPr>
            <a:normAutofit lnSpcReduction="10000"/>
          </a:bodyPr>
          <a:lstStyle/>
          <a:p>
            <a:pPr>
              <a:lnSpc>
                <a:spcPct val="80000"/>
              </a:lnSpc>
            </a:pPr>
            <a:r>
              <a:rPr lang="en-US" altLang="ja-JP" dirty="0">
                <a:ea typeface="MS PGothic" panose="020B0600070205080204" pitchFamily="50" charset="-128"/>
              </a:rPr>
              <a:t>Non Substitutability</a:t>
            </a:r>
          </a:p>
          <a:p>
            <a:pPr lvl="1">
              <a:lnSpc>
                <a:spcPct val="80000"/>
              </a:lnSpc>
            </a:pPr>
            <a:r>
              <a:rPr lang="en-US" altLang="ja-JP" dirty="0">
                <a:ea typeface="MS PGothic" panose="020B0600070205080204" pitchFamily="50" charset="-128"/>
              </a:rPr>
              <a:t>Cannot substitute words in a collocation</a:t>
            </a:r>
          </a:p>
          <a:p>
            <a:pPr lvl="2">
              <a:lnSpc>
                <a:spcPct val="80000"/>
              </a:lnSpc>
            </a:pPr>
            <a:r>
              <a:rPr lang="en-US" altLang="ja-JP" dirty="0">
                <a:ea typeface="MS PGothic" panose="020B0600070205080204" pitchFamily="50" charset="-128"/>
              </a:rPr>
              <a:t>*</a:t>
            </a:r>
            <a:r>
              <a:rPr lang="en-US" altLang="ja-JP" i="1" dirty="0">
                <a:ea typeface="MS PGothic" panose="020B0600070205080204" pitchFamily="50" charset="-128"/>
              </a:rPr>
              <a:t>yellow wine</a:t>
            </a:r>
          </a:p>
          <a:p>
            <a:pPr>
              <a:lnSpc>
                <a:spcPct val="80000"/>
              </a:lnSpc>
            </a:pPr>
            <a:r>
              <a:rPr lang="en-US" altLang="ja-JP" dirty="0">
                <a:ea typeface="MS PGothic" panose="020B0600070205080204" pitchFamily="50" charset="-128"/>
              </a:rPr>
              <a:t>Non modifiability</a:t>
            </a:r>
          </a:p>
          <a:p>
            <a:pPr lvl="1">
              <a:lnSpc>
                <a:spcPct val="80000"/>
              </a:lnSpc>
            </a:pPr>
            <a:r>
              <a:rPr lang="en-US" altLang="ja-JP" i="1" dirty="0">
                <a:ea typeface="MS PGothic" panose="020B0600070205080204" pitchFamily="50" charset="-128"/>
              </a:rPr>
              <a:t>To get a frog in one’s throat</a:t>
            </a:r>
          </a:p>
          <a:p>
            <a:pPr lvl="2">
              <a:lnSpc>
                <a:spcPct val="80000"/>
              </a:lnSpc>
            </a:pPr>
            <a:r>
              <a:rPr lang="en-US" altLang="ja-JP" dirty="0">
                <a:ea typeface="MS PGothic" panose="020B0600070205080204" pitchFamily="50" charset="-128"/>
              </a:rPr>
              <a:t>*</a:t>
            </a:r>
            <a:r>
              <a:rPr lang="en-US" altLang="ja-JP" i="1" dirty="0">
                <a:ea typeface="MS PGothic" panose="020B0600070205080204" pitchFamily="50" charset="-128"/>
              </a:rPr>
              <a:t>To get an ugly frog in one’s throat</a:t>
            </a:r>
          </a:p>
          <a:p>
            <a:pPr>
              <a:lnSpc>
                <a:spcPct val="80000"/>
              </a:lnSpc>
            </a:pPr>
            <a:r>
              <a:rPr lang="en-US" altLang="ja-JP" dirty="0">
                <a:ea typeface="MS PGothic" panose="020B0600070205080204" pitchFamily="50" charset="-128"/>
              </a:rPr>
              <a:t>Useful for</a:t>
            </a:r>
          </a:p>
          <a:p>
            <a:pPr lvl="1">
              <a:lnSpc>
                <a:spcPct val="80000"/>
              </a:lnSpc>
            </a:pPr>
            <a:r>
              <a:rPr lang="en-US" altLang="ja-JP" dirty="0">
                <a:ea typeface="MS PGothic" panose="020B0600070205080204" pitchFamily="50" charset="-128"/>
              </a:rPr>
              <a:t>Language generation</a:t>
            </a:r>
          </a:p>
          <a:p>
            <a:pPr lvl="2">
              <a:lnSpc>
                <a:spcPct val="80000"/>
              </a:lnSpc>
            </a:pPr>
            <a:r>
              <a:rPr lang="en-US" altLang="ja-JP" dirty="0">
                <a:ea typeface="MS PGothic" panose="020B0600070205080204" pitchFamily="50" charset="-128"/>
              </a:rPr>
              <a:t>*</a:t>
            </a:r>
            <a:r>
              <a:rPr lang="en-US" altLang="ja-JP" i="1" dirty="0">
                <a:ea typeface="MS PGothic" panose="020B0600070205080204" pitchFamily="50" charset="-128"/>
              </a:rPr>
              <a:t>Powerful tea</a:t>
            </a:r>
            <a:r>
              <a:rPr lang="en-US" altLang="ja-JP" dirty="0">
                <a:ea typeface="MS PGothic" panose="020B0600070205080204" pitchFamily="50" charset="-128"/>
              </a:rPr>
              <a:t>, *</a:t>
            </a:r>
            <a:r>
              <a:rPr lang="en-US" altLang="ja-JP" i="1" dirty="0">
                <a:ea typeface="MS PGothic" panose="020B0600070205080204" pitchFamily="50" charset="-128"/>
              </a:rPr>
              <a:t>take a decision</a:t>
            </a:r>
          </a:p>
          <a:p>
            <a:pPr lvl="1">
              <a:lnSpc>
                <a:spcPct val="80000"/>
              </a:lnSpc>
            </a:pPr>
            <a:r>
              <a:rPr lang="en-US" altLang="ja-JP" dirty="0">
                <a:ea typeface="MS PGothic" panose="020B0600070205080204" pitchFamily="50" charset="-128"/>
              </a:rPr>
              <a:t>Machine translation</a:t>
            </a:r>
          </a:p>
          <a:p>
            <a:pPr lvl="2">
              <a:lnSpc>
                <a:spcPct val="80000"/>
              </a:lnSpc>
            </a:pPr>
            <a:r>
              <a:rPr lang="en-US" altLang="ja-JP" dirty="0">
                <a:ea typeface="MS PGothic" panose="020B0600070205080204" pitchFamily="50" charset="-128"/>
              </a:rPr>
              <a:t>Easy way to test if a combination is a collocation is to translate it into another language</a:t>
            </a:r>
          </a:p>
          <a:p>
            <a:pPr lvl="3">
              <a:lnSpc>
                <a:spcPct val="80000"/>
              </a:lnSpc>
            </a:pPr>
            <a:r>
              <a:rPr lang="en-US" altLang="ja-JP" i="1" dirty="0">
                <a:ea typeface="MS PGothic" panose="020B0600070205080204" pitchFamily="50" charset="-128"/>
              </a:rPr>
              <a:t>Make a decision </a:t>
            </a:r>
            <a:r>
              <a:rPr lang="en-US" altLang="ja-JP" i="1" dirty="0">
                <a:ea typeface="MS PGothic" panose="020B0600070205080204" pitchFamily="50" charset="-128"/>
                <a:sym typeface="Wingdings" panose="05000000000000000000" pitchFamily="2" charset="2"/>
              </a:rPr>
              <a:t> *faire </a:t>
            </a:r>
            <a:r>
              <a:rPr lang="en-US" altLang="ja-JP" i="1" dirty="0" err="1">
                <a:ea typeface="MS PGothic" panose="020B0600070205080204" pitchFamily="50" charset="-128"/>
                <a:sym typeface="Wingdings" panose="05000000000000000000" pitchFamily="2" charset="2"/>
              </a:rPr>
              <a:t>une</a:t>
            </a:r>
            <a:r>
              <a:rPr lang="en-US" altLang="ja-JP" i="1" dirty="0">
                <a:ea typeface="MS PGothic" panose="020B0600070205080204" pitchFamily="50" charset="-128"/>
                <a:sym typeface="Wingdings" panose="05000000000000000000" pitchFamily="2" charset="2"/>
              </a:rPr>
              <a:t> decision (</a:t>
            </a:r>
            <a:r>
              <a:rPr lang="en-US" altLang="ja-JP" i="1" dirty="0" err="1">
                <a:ea typeface="MS PGothic" panose="020B0600070205080204" pitchFamily="50" charset="-128"/>
                <a:sym typeface="Wingdings" panose="05000000000000000000" pitchFamily="2" charset="2"/>
              </a:rPr>
              <a:t>prendre</a:t>
            </a:r>
            <a:r>
              <a:rPr lang="en-US" altLang="ja-JP" i="1" dirty="0">
                <a:ea typeface="MS PGothic" panose="020B0600070205080204" pitchFamily="50" charset="-128"/>
                <a:sym typeface="Wingdings" panose="05000000000000000000" pitchFamily="2" charset="2"/>
              </a:rPr>
              <a:t>), *fare </a:t>
            </a:r>
            <a:r>
              <a:rPr lang="en-US" altLang="ja-JP" i="1" dirty="0" err="1">
                <a:ea typeface="MS PGothic" panose="020B0600070205080204" pitchFamily="50" charset="-128"/>
                <a:sym typeface="Wingdings" panose="05000000000000000000" pitchFamily="2" charset="2"/>
              </a:rPr>
              <a:t>una</a:t>
            </a:r>
            <a:r>
              <a:rPr lang="en-US" altLang="ja-JP" i="1" dirty="0">
                <a:ea typeface="MS PGothic" panose="020B0600070205080204" pitchFamily="50" charset="-128"/>
                <a:sym typeface="Wingdings" panose="05000000000000000000" pitchFamily="2" charset="2"/>
              </a:rPr>
              <a:t> </a:t>
            </a:r>
            <a:r>
              <a:rPr lang="en-US" altLang="ja-JP" i="1" dirty="0" err="1">
                <a:ea typeface="MS PGothic" panose="020B0600070205080204" pitchFamily="50" charset="-128"/>
                <a:sym typeface="Wingdings" panose="05000000000000000000" pitchFamily="2" charset="2"/>
              </a:rPr>
              <a:t>decisione</a:t>
            </a:r>
            <a:r>
              <a:rPr lang="en-US" altLang="ja-JP" i="1" dirty="0">
                <a:ea typeface="MS PGothic" panose="020B0600070205080204" pitchFamily="50" charset="-128"/>
                <a:sym typeface="Wingdings" panose="05000000000000000000" pitchFamily="2" charset="2"/>
              </a:rPr>
              <a:t> (</a:t>
            </a:r>
            <a:r>
              <a:rPr lang="en-US" altLang="ja-JP" i="1" dirty="0" err="1">
                <a:ea typeface="MS PGothic" panose="020B0600070205080204" pitchFamily="50" charset="-128"/>
                <a:sym typeface="Wingdings" panose="05000000000000000000" pitchFamily="2" charset="2"/>
              </a:rPr>
              <a:t>prendere</a:t>
            </a:r>
            <a:r>
              <a:rPr lang="en-US" altLang="ja-JP" i="1" dirty="0">
                <a:ea typeface="MS PGothic" panose="020B0600070205080204" pitchFamily="50" charset="-128"/>
                <a:sym typeface="Wingdings" panose="05000000000000000000" pitchFamily="2" charset="2"/>
              </a:rPr>
              <a:t>)</a:t>
            </a:r>
            <a:r>
              <a:rPr lang="en-US" altLang="ja-JP" dirty="0">
                <a:ea typeface="MS PGothic" panose="020B0600070205080204" pitchFamily="50" charset="-128"/>
                <a:sym typeface="Wingdings" panose="05000000000000000000" pitchFamily="2" charset="2"/>
              </a:rPr>
              <a:t> </a:t>
            </a:r>
            <a:endParaRPr lang="en-US" altLang="ja-JP" dirty="0">
              <a:ea typeface="MS PGothic" panose="020B0600070205080204" pitchFamily="50" charset="-128"/>
            </a:endParaRPr>
          </a:p>
        </p:txBody>
      </p:sp>
      <p:sp>
        <p:nvSpPr>
          <p:cNvPr id="4" name="スライド番号プレースホルダー 3"/>
          <p:cNvSpPr>
            <a:spLocks noGrp="1"/>
          </p:cNvSpPr>
          <p:nvPr>
            <p:ph type="sldNum" sz="quarter" idx="12"/>
          </p:nvPr>
        </p:nvSpPr>
        <p:spPr/>
        <p:txBody>
          <a:bodyPr/>
          <a:lstStyle/>
          <a:p>
            <a:fld id="{AD60FC09-F8CB-4387-9999-D928FEB72EF8}" type="slidenum">
              <a:rPr lang="en-US" altLang="ja-JP" smtClean="0"/>
              <a:pPr/>
              <a:t>40</a:t>
            </a:fld>
            <a:endParaRPr lang="en-US" altLang="ja-JP"/>
          </a:p>
        </p:txBody>
      </p:sp>
    </p:spTree>
    <p:extLst>
      <p:ext uri="{BB962C8B-B14F-4D97-AF65-F5344CB8AC3E}">
        <p14:creationId xmlns:p14="http://schemas.microsoft.com/office/powerpoint/2010/main" val="4120290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r>
              <a:rPr lang="en-US" altLang="ja-JP"/>
              <a:t>Subclasses of collocations</a:t>
            </a:r>
          </a:p>
        </p:txBody>
      </p:sp>
      <p:sp>
        <p:nvSpPr>
          <p:cNvPr id="5" name="コンテンツ プレースホルダー 4"/>
          <p:cNvSpPr>
            <a:spLocks noGrp="1"/>
          </p:cNvSpPr>
          <p:nvPr>
            <p:ph idx="1"/>
          </p:nvPr>
        </p:nvSpPr>
        <p:spPr/>
        <p:txBody>
          <a:bodyPr/>
          <a:lstStyle/>
          <a:p>
            <a:r>
              <a:rPr lang="en-US" altLang="ja-JP" dirty="0">
                <a:ea typeface="MS PGothic" panose="020B0600070205080204" pitchFamily="50" charset="-128"/>
              </a:rPr>
              <a:t>Light verbs</a:t>
            </a:r>
          </a:p>
          <a:p>
            <a:pPr lvl="1"/>
            <a:r>
              <a:rPr lang="en-US" altLang="ja-JP" i="1" dirty="0">
                <a:ea typeface="MS PGothic" panose="020B0600070205080204" pitchFamily="50" charset="-128"/>
              </a:rPr>
              <a:t>Make a decision, do a favor</a:t>
            </a:r>
          </a:p>
          <a:p>
            <a:r>
              <a:rPr lang="en-US" altLang="ja-JP" dirty="0">
                <a:ea typeface="MS PGothic" panose="020B0600070205080204" pitchFamily="50" charset="-128"/>
              </a:rPr>
              <a:t>Phrasal verbs</a:t>
            </a:r>
          </a:p>
          <a:p>
            <a:pPr lvl="1"/>
            <a:r>
              <a:rPr lang="en-US" altLang="ja-JP" i="1" dirty="0">
                <a:ea typeface="MS PGothic" panose="020B0600070205080204" pitchFamily="50" charset="-128"/>
              </a:rPr>
              <a:t>To tell off, make up</a:t>
            </a:r>
          </a:p>
          <a:p>
            <a:r>
              <a:rPr lang="en-US" altLang="ja-JP" dirty="0">
                <a:ea typeface="MS PGothic" panose="020B0600070205080204" pitchFamily="50" charset="-128"/>
              </a:rPr>
              <a:t>Proper names</a:t>
            </a:r>
          </a:p>
          <a:p>
            <a:pPr lvl="1"/>
            <a:r>
              <a:rPr lang="en-US" altLang="ja-JP" i="1" dirty="0">
                <a:ea typeface="MS PGothic" panose="020B0600070205080204" pitchFamily="50" charset="-128"/>
              </a:rPr>
              <a:t>San Francisco, New York</a:t>
            </a:r>
          </a:p>
          <a:p>
            <a:r>
              <a:rPr lang="en-US" altLang="ja-JP" dirty="0">
                <a:ea typeface="MS PGothic" panose="020B0600070205080204" pitchFamily="50" charset="-128"/>
              </a:rPr>
              <a:t>Terminological expressions</a:t>
            </a:r>
          </a:p>
          <a:p>
            <a:pPr lvl="1"/>
            <a:r>
              <a:rPr lang="en-US" altLang="ja-JP" i="1" dirty="0">
                <a:ea typeface="MS PGothic" panose="020B0600070205080204" pitchFamily="50" charset="-128"/>
              </a:rPr>
              <a:t>Hydraulic oil filter</a:t>
            </a:r>
          </a:p>
          <a:p>
            <a:pPr lvl="2"/>
            <a:r>
              <a:rPr lang="en-US" altLang="ja-JP" dirty="0">
                <a:ea typeface="MS PGothic" panose="020B0600070205080204" pitchFamily="50" charset="-128"/>
              </a:rPr>
              <a:t>This is compositional, but need to make sure, for example that it’s always translated the same</a:t>
            </a:r>
          </a:p>
          <a:p>
            <a:pPr lvl="1"/>
            <a:endParaRPr lang="en-US" altLang="ja-JP" dirty="0">
              <a:ea typeface="MS PGothic" panose="020B0600070205080204" pitchFamily="50" charset="-128"/>
            </a:endParaRPr>
          </a:p>
          <a:p>
            <a:pPr lvl="1"/>
            <a:endParaRPr lang="en-US" altLang="ja-JP" dirty="0">
              <a:ea typeface="MS PGothic" panose="020B0600070205080204" pitchFamily="50" charset="-128"/>
            </a:endParaRPr>
          </a:p>
          <a:p>
            <a:endParaRPr kumimoji="1" lang="ja-JP" altLang="en-US" dirty="0"/>
          </a:p>
        </p:txBody>
      </p:sp>
      <p:sp>
        <p:nvSpPr>
          <p:cNvPr id="4" name="スライド番号プレースホルダー 3"/>
          <p:cNvSpPr>
            <a:spLocks noGrp="1"/>
          </p:cNvSpPr>
          <p:nvPr>
            <p:ph type="sldNum" sz="quarter" idx="12"/>
          </p:nvPr>
        </p:nvSpPr>
        <p:spPr/>
        <p:txBody>
          <a:bodyPr/>
          <a:lstStyle/>
          <a:p>
            <a:fld id="{7AB34D2A-4F03-42E6-961B-F6567F057DAA}" type="slidenum">
              <a:rPr lang="en-US" altLang="ja-JP" smtClean="0"/>
              <a:pPr/>
              <a:t>41</a:t>
            </a:fld>
            <a:endParaRPr lang="en-US" altLang="ja-JP"/>
          </a:p>
        </p:txBody>
      </p:sp>
    </p:spTree>
    <p:extLst>
      <p:ext uri="{BB962C8B-B14F-4D97-AF65-F5344CB8AC3E}">
        <p14:creationId xmlns:p14="http://schemas.microsoft.com/office/powerpoint/2010/main" val="35198813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Finding collocations</a:t>
            </a:r>
            <a:endParaRPr kumimoji="1" lang="ja-JP" altLang="en-US" dirty="0"/>
          </a:p>
        </p:txBody>
      </p:sp>
      <p:sp>
        <p:nvSpPr>
          <p:cNvPr id="3" name="コンテンツ プレースホルダー 2"/>
          <p:cNvSpPr>
            <a:spLocks noGrp="1"/>
          </p:cNvSpPr>
          <p:nvPr>
            <p:ph idx="1"/>
          </p:nvPr>
        </p:nvSpPr>
        <p:spPr/>
        <p:txBody>
          <a:bodyPr>
            <a:normAutofit fontScale="70000" lnSpcReduction="20000"/>
          </a:bodyPr>
          <a:lstStyle/>
          <a:p>
            <a:pPr>
              <a:lnSpc>
                <a:spcPct val="120000"/>
              </a:lnSpc>
            </a:pPr>
            <a:r>
              <a:rPr lang="en-US" altLang="ja-JP" dirty="0">
                <a:ea typeface="MS PGothic" panose="020B0600070205080204" pitchFamily="50" charset="-128"/>
              </a:rPr>
              <a:t>Frequency</a:t>
            </a:r>
          </a:p>
          <a:p>
            <a:pPr lvl="1">
              <a:lnSpc>
                <a:spcPct val="120000"/>
              </a:lnSpc>
            </a:pPr>
            <a:r>
              <a:rPr lang="en-US" altLang="ja-JP" dirty="0">
                <a:ea typeface="MS PGothic" panose="020B0600070205080204" pitchFamily="50" charset="-128"/>
              </a:rPr>
              <a:t>If two words occur together a lot, that may be evidence that they have a special function</a:t>
            </a:r>
          </a:p>
          <a:p>
            <a:pPr lvl="3">
              <a:lnSpc>
                <a:spcPct val="120000"/>
              </a:lnSpc>
            </a:pPr>
            <a:r>
              <a:rPr lang="en-US" altLang="ja-JP" dirty="0">
                <a:ea typeface="MS PGothic" panose="020B0600070205080204" pitchFamily="50" charset="-128"/>
              </a:rPr>
              <a:t>But if we sort by frequency of pairs C(w</a:t>
            </a:r>
            <a:r>
              <a:rPr lang="en-US" altLang="ja-JP" baseline="-25000" dirty="0">
                <a:ea typeface="MS PGothic" panose="020B0600070205080204" pitchFamily="50" charset="-128"/>
              </a:rPr>
              <a:t>1</a:t>
            </a:r>
            <a:r>
              <a:rPr lang="en-US" altLang="ja-JP" dirty="0">
                <a:ea typeface="MS PGothic" panose="020B0600070205080204" pitchFamily="50" charset="-128"/>
              </a:rPr>
              <a:t>, w</a:t>
            </a:r>
            <a:r>
              <a:rPr lang="en-US" altLang="ja-JP" baseline="-25000" dirty="0">
                <a:ea typeface="MS PGothic" panose="020B0600070205080204" pitchFamily="50" charset="-128"/>
              </a:rPr>
              <a:t>2</a:t>
            </a:r>
            <a:r>
              <a:rPr lang="en-US" altLang="ja-JP" dirty="0">
                <a:ea typeface="MS PGothic" panose="020B0600070205080204" pitchFamily="50" charset="-128"/>
              </a:rPr>
              <a:t>), then “</a:t>
            </a:r>
            <a:r>
              <a:rPr lang="en-US" altLang="ja-JP" i="1" dirty="0">
                <a:ea typeface="MS PGothic" panose="020B0600070205080204" pitchFamily="50" charset="-128"/>
              </a:rPr>
              <a:t>of the</a:t>
            </a:r>
            <a:r>
              <a:rPr lang="en-US" altLang="ja-JP" dirty="0">
                <a:ea typeface="MS PGothic" panose="020B0600070205080204" pitchFamily="50" charset="-128"/>
              </a:rPr>
              <a:t>” is the most frequent pair</a:t>
            </a:r>
          </a:p>
          <a:p>
            <a:pPr lvl="1">
              <a:lnSpc>
                <a:spcPct val="120000"/>
              </a:lnSpc>
            </a:pPr>
            <a:r>
              <a:rPr lang="en-US" altLang="ja-JP" dirty="0">
                <a:ea typeface="MS PGothic" panose="020B0600070205080204" pitchFamily="50" charset="-128"/>
              </a:rPr>
              <a:t>Filter by POS patterns </a:t>
            </a:r>
          </a:p>
          <a:p>
            <a:pPr lvl="3">
              <a:lnSpc>
                <a:spcPct val="120000"/>
              </a:lnSpc>
            </a:pPr>
            <a:r>
              <a:rPr lang="en-US" altLang="ja-JP" dirty="0">
                <a:ea typeface="MS PGothic" panose="020B0600070205080204" pitchFamily="50" charset="-128"/>
              </a:rPr>
              <a:t>A N (</a:t>
            </a:r>
            <a:r>
              <a:rPr lang="en-US" altLang="ja-JP" i="1" dirty="0">
                <a:ea typeface="MS PGothic" panose="020B0600070205080204" pitchFamily="50" charset="-128"/>
              </a:rPr>
              <a:t>linear function)</a:t>
            </a:r>
            <a:r>
              <a:rPr lang="en-US" altLang="ja-JP" dirty="0">
                <a:ea typeface="MS PGothic" panose="020B0600070205080204" pitchFamily="50" charset="-128"/>
              </a:rPr>
              <a:t>, N </a:t>
            </a:r>
            <a:r>
              <a:rPr lang="en-US" altLang="ja-JP" dirty="0" err="1">
                <a:ea typeface="MS PGothic" panose="020B0600070205080204" pitchFamily="50" charset="-128"/>
              </a:rPr>
              <a:t>N</a:t>
            </a:r>
            <a:r>
              <a:rPr lang="en-US" altLang="ja-JP" dirty="0">
                <a:ea typeface="MS PGothic" panose="020B0600070205080204" pitchFamily="50" charset="-128"/>
              </a:rPr>
              <a:t> (</a:t>
            </a:r>
            <a:r>
              <a:rPr lang="en-US" altLang="ja-JP" i="1" dirty="0">
                <a:ea typeface="MS PGothic" panose="020B0600070205080204" pitchFamily="50" charset="-128"/>
              </a:rPr>
              <a:t>regression coefficients)</a:t>
            </a:r>
            <a:r>
              <a:rPr lang="en-US" altLang="ja-JP" dirty="0">
                <a:ea typeface="MS PGothic" panose="020B0600070205080204" pitchFamily="50" charset="-128"/>
              </a:rPr>
              <a:t> etc..</a:t>
            </a:r>
          </a:p>
          <a:p>
            <a:pPr>
              <a:lnSpc>
                <a:spcPct val="120000"/>
              </a:lnSpc>
            </a:pPr>
            <a:r>
              <a:rPr lang="en-US" altLang="ja-JP" dirty="0">
                <a:ea typeface="MS PGothic" panose="020B0600070205080204" pitchFamily="50" charset="-128"/>
              </a:rPr>
              <a:t>Mean and variance of the distance of the words</a:t>
            </a:r>
          </a:p>
          <a:p>
            <a:pPr lvl="2">
              <a:lnSpc>
                <a:spcPct val="120000"/>
              </a:lnSpc>
            </a:pPr>
            <a:r>
              <a:rPr lang="en-US" altLang="ja-JP" dirty="0">
                <a:ea typeface="MS PGothic" panose="020B0600070205080204" pitchFamily="50" charset="-128"/>
              </a:rPr>
              <a:t>For not contiguous collocations</a:t>
            </a:r>
          </a:p>
          <a:p>
            <a:pPr lvl="3">
              <a:lnSpc>
                <a:spcPct val="120000"/>
              </a:lnSpc>
            </a:pPr>
            <a:r>
              <a:rPr lang="en-US" altLang="ja-JP" i="1" dirty="0">
                <a:ea typeface="MS PGothic" panose="020B0600070205080204" pitchFamily="50" charset="-128"/>
              </a:rPr>
              <a:t>She </a:t>
            </a:r>
            <a:r>
              <a:rPr lang="en-US" altLang="ja-JP" i="1" u="sng" dirty="0">
                <a:ea typeface="MS PGothic" panose="020B0600070205080204" pitchFamily="50" charset="-128"/>
              </a:rPr>
              <a:t>knocked</a:t>
            </a:r>
            <a:r>
              <a:rPr lang="en-US" altLang="ja-JP" i="1" dirty="0">
                <a:ea typeface="MS PGothic" panose="020B0600070205080204" pitchFamily="50" charset="-128"/>
              </a:rPr>
              <a:t> at his </a:t>
            </a:r>
            <a:r>
              <a:rPr lang="en-US" altLang="ja-JP" i="1" u="sng" dirty="0">
                <a:ea typeface="MS PGothic" panose="020B0600070205080204" pitchFamily="50" charset="-128"/>
              </a:rPr>
              <a:t>door</a:t>
            </a:r>
            <a:r>
              <a:rPr lang="en-US" altLang="ja-JP" u="sng" dirty="0">
                <a:ea typeface="MS PGothic" panose="020B0600070205080204" pitchFamily="50" charset="-128"/>
              </a:rPr>
              <a:t>  </a:t>
            </a:r>
            <a:r>
              <a:rPr lang="en-US" altLang="ja-JP" dirty="0">
                <a:ea typeface="MS PGothic" panose="020B0600070205080204" pitchFamily="50" charset="-128"/>
              </a:rPr>
              <a:t>(d = 2)</a:t>
            </a:r>
          </a:p>
          <a:p>
            <a:pPr lvl="3">
              <a:lnSpc>
                <a:spcPct val="120000"/>
              </a:lnSpc>
            </a:pPr>
            <a:r>
              <a:rPr lang="en-US" altLang="ja-JP" i="1" dirty="0">
                <a:ea typeface="MS PGothic" panose="020B0600070205080204" pitchFamily="50" charset="-128"/>
              </a:rPr>
              <a:t>A man </a:t>
            </a:r>
            <a:r>
              <a:rPr lang="en-US" altLang="ja-JP" i="1" u="sng" dirty="0">
                <a:ea typeface="MS PGothic" panose="020B0600070205080204" pitchFamily="50" charset="-128"/>
              </a:rPr>
              <a:t>knocked</a:t>
            </a:r>
            <a:r>
              <a:rPr lang="en-US" altLang="ja-JP" i="1" dirty="0">
                <a:ea typeface="MS PGothic" panose="020B0600070205080204" pitchFamily="50" charset="-128"/>
              </a:rPr>
              <a:t> on the metal front </a:t>
            </a:r>
            <a:r>
              <a:rPr lang="en-US" altLang="ja-JP" i="1" u="sng" dirty="0">
                <a:ea typeface="MS PGothic" panose="020B0600070205080204" pitchFamily="50" charset="-128"/>
              </a:rPr>
              <a:t>door</a:t>
            </a:r>
            <a:r>
              <a:rPr lang="en-US" altLang="ja-JP" u="sng" dirty="0">
                <a:ea typeface="MS PGothic" panose="020B0600070205080204" pitchFamily="50" charset="-128"/>
              </a:rPr>
              <a:t> </a:t>
            </a:r>
            <a:r>
              <a:rPr lang="en-US" altLang="ja-JP" dirty="0">
                <a:ea typeface="MS PGothic" panose="020B0600070205080204" pitchFamily="50" charset="-128"/>
              </a:rPr>
              <a:t>(d = 4)</a:t>
            </a:r>
          </a:p>
          <a:p>
            <a:pPr lvl="1">
              <a:lnSpc>
                <a:spcPct val="120000"/>
              </a:lnSpc>
            </a:pPr>
            <a:r>
              <a:rPr lang="en-US" altLang="ja-JP" dirty="0">
                <a:ea typeface="MS PGothic" panose="020B0600070205080204" pitchFamily="50" charset="-128"/>
              </a:rPr>
              <a:t>Hypothesis testing (see page 162 Stat NLP)</a:t>
            </a:r>
          </a:p>
          <a:p>
            <a:pPr lvl="2">
              <a:lnSpc>
                <a:spcPct val="120000"/>
              </a:lnSpc>
            </a:pPr>
            <a:r>
              <a:rPr lang="en-US" altLang="ja-JP" dirty="0">
                <a:ea typeface="MS PGothic" panose="020B0600070205080204" pitchFamily="50" charset="-128"/>
              </a:rPr>
              <a:t>How do we know it’s really a collocation?</a:t>
            </a:r>
          </a:p>
          <a:p>
            <a:pPr lvl="2">
              <a:lnSpc>
                <a:spcPct val="120000"/>
              </a:lnSpc>
            </a:pPr>
            <a:r>
              <a:rPr lang="en-US" altLang="ja-JP" dirty="0">
                <a:ea typeface="MS PGothic" panose="020B0600070205080204" pitchFamily="50" charset="-128"/>
              </a:rPr>
              <a:t>Low mean distance can be accidental (</a:t>
            </a:r>
            <a:r>
              <a:rPr lang="en-US" altLang="ja-JP" i="1" dirty="0">
                <a:ea typeface="MS PGothic" panose="020B0600070205080204" pitchFamily="50" charset="-128"/>
              </a:rPr>
              <a:t>new company</a:t>
            </a:r>
            <a:r>
              <a:rPr lang="en-US" altLang="ja-JP" dirty="0">
                <a:ea typeface="MS PGothic" panose="020B0600070205080204" pitchFamily="50" charset="-128"/>
              </a:rPr>
              <a:t>)</a:t>
            </a:r>
          </a:p>
          <a:p>
            <a:pPr lvl="2">
              <a:lnSpc>
                <a:spcPct val="120000"/>
              </a:lnSpc>
            </a:pPr>
            <a:r>
              <a:rPr lang="en-US" altLang="ja-JP" dirty="0">
                <a:ea typeface="MS PGothic" panose="020B0600070205080204" pitchFamily="50" charset="-128"/>
              </a:rPr>
              <a:t>We need to know whether two words occur together by chance or not (because they are a collocation)</a:t>
            </a:r>
          </a:p>
          <a:p>
            <a:pPr lvl="3">
              <a:lnSpc>
                <a:spcPct val="120000"/>
              </a:lnSpc>
            </a:pPr>
            <a:r>
              <a:rPr lang="en-US" altLang="ja-JP" dirty="0">
                <a:ea typeface="MS PGothic" panose="020B0600070205080204" pitchFamily="50" charset="-128"/>
              </a:rPr>
              <a:t>Hypothesis testing</a:t>
            </a:r>
          </a:p>
        </p:txBody>
      </p:sp>
    </p:spTree>
    <p:extLst>
      <p:ext uri="{BB962C8B-B14F-4D97-AF65-F5344CB8AC3E}">
        <p14:creationId xmlns:p14="http://schemas.microsoft.com/office/powerpoint/2010/main" val="6714793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Finding collocations</a:t>
            </a:r>
            <a:endParaRPr kumimoji="1" lang="ja-JP" altLang="en-US" dirty="0"/>
          </a:p>
        </p:txBody>
      </p:sp>
      <p:sp>
        <p:nvSpPr>
          <p:cNvPr id="3" name="コンテンツ プレースホルダー 2"/>
          <p:cNvSpPr>
            <a:spLocks noGrp="1"/>
          </p:cNvSpPr>
          <p:nvPr>
            <p:ph idx="1"/>
          </p:nvPr>
        </p:nvSpPr>
        <p:spPr/>
        <p:txBody>
          <a:bodyPr/>
          <a:lstStyle/>
          <a:p>
            <a:pPr>
              <a:lnSpc>
                <a:spcPct val="80000"/>
              </a:lnSpc>
            </a:pPr>
            <a:r>
              <a:rPr lang="en-US" altLang="ja-JP" dirty="0">
                <a:ea typeface="MS PGothic" panose="020B0600070205080204" pitchFamily="50" charset="-128"/>
              </a:rPr>
              <a:t>Mutual information measure  </a:t>
            </a:r>
          </a:p>
          <a:p>
            <a:pPr lvl="1">
              <a:lnSpc>
                <a:spcPct val="80000"/>
              </a:lnSpc>
            </a:pPr>
            <a:r>
              <a:rPr lang="en-US" altLang="ja-JP" dirty="0">
                <a:ea typeface="MS PGothic" panose="020B0600070205080204" pitchFamily="50" charset="-128"/>
              </a:rPr>
              <a:t>A measure of how much a word tells us about the other, i.e. the reduction in uncertainty of one word due to knowing about another</a:t>
            </a:r>
          </a:p>
          <a:p>
            <a:pPr lvl="2">
              <a:lnSpc>
                <a:spcPct val="80000"/>
              </a:lnSpc>
            </a:pPr>
            <a:r>
              <a:rPr lang="en-US" altLang="ja-JP" dirty="0">
                <a:ea typeface="MS PGothic" panose="020B0600070205080204" pitchFamily="50" charset="-128"/>
              </a:rPr>
              <a:t>0 when the two words are independent</a:t>
            </a:r>
          </a:p>
          <a:p>
            <a:pPr lvl="1">
              <a:lnSpc>
                <a:spcPct val="80000"/>
              </a:lnSpc>
            </a:pPr>
            <a:endParaRPr lang="en-US" altLang="ja-JP" dirty="0">
              <a:ea typeface="MS PGothic" panose="020B0600070205080204" pitchFamily="50" charset="-128"/>
            </a:endParaRPr>
          </a:p>
          <a:p>
            <a:pPr lvl="2">
              <a:lnSpc>
                <a:spcPct val="80000"/>
              </a:lnSpc>
            </a:pPr>
            <a:endParaRPr lang="en-US" altLang="ja-JP" dirty="0">
              <a:ea typeface="MS PGothic" panose="020B0600070205080204" pitchFamily="50" charset="-128"/>
            </a:endParaRPr>
          </a:p>
          <a:p>
            <a:pPr marL="914400" lvl="2" indent="0">
              <a:lnSpc>
                <a:spcPct val="80000"/>
              </a:lnSpc>
              <a:buNone/>
            </a:pPr>
            <a:endParaRPr lang="en-US" altLang="ja-JP" dirty="0">
              <a:ea typeface="MS PGothic" panose="020B0600070205080204" pitchFamily="50" charset="-128"/>
            </a:endParaRPr>
          </a:p>
          <a:p>
            <a:pPr lvl="1">
              <a:lnSpc>
                <a:spcPct val="80000"/>
              </a:lnSpc>
            </a:pPr>
            <a:endParaRPr lang="en-US" altLang="ja-JP" dirty="0">
              <a:ea typeface="MS PGothic" panose="020B0600070205080204" pitchFamily="50" charset="-128"/>
            </a:endParaRPr>
          </a:p>
          <a:p>
            <a:endParaRPr kumimoji="1" lang="ja-JP" altLang="en-US" dirty="0"/>
          </a:p>
        </p:txBody>
      </p:sp>
      <p:sp>
        <p:nvSpPr>
          <p:cNvPr id="4" name="Rectangle 4"/>
          <p:cNvSpPr>
            <a:spLocks noChangeArrowheads="1"/>
          </p:cNvSpPr>
          <p:nvPr/>
        </p:nvSpPr>
        <p:spPr bwMode="auto">
          <a:xfrm>
            <a:off x="1981200" y="1600200"/>
            <a:ext cx="82296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lvl="1">
              <a:lnSpc>
                <a:spcPct val="80000"/>
              </a:lnSpc>
            </a:pPr>
            <a:endParaRPr lang="en-US" altLang="ja-JP" sz="2400" dirty="0">
              <a:ea typeface="MS PGothic" panose="020B0600070205080204" pitchFamily="50" charset="-128"/>
            </a:endParaRPr>
          </a:p>
        </p:txBody>
      </p:sp>
      <p:graphicFrame>
        <p:nvGraphicFramePr>
          <p:cNvPr id="5" name="Object 5"/>
          <p:cNvGraphicFramePr>
            <a:graphicFrameLocks noChangeAspect="1"/>
          </p:cNvGraphicFramePr>
          <p:nvPr/>
        </p:nvGraphicFramePr>
        <p:xfrm>
          <a:off x="4612177" y="3253598"/>
          <a:ext cx="3172013" cy="977581"/>
        </p:xfrm>
        <a:graphic>
          <a:graphicData uri="http://schemas.openxmlformats.org/presentationml/2006/ole">
            <mc:AlternateContent xmlns:mc="http://schemas.openxmlformats.org/markup-compatibility/2006">
              <mc:Choice xmlns:v="urn:schemas-microsoft-com:vml" Requires="v">
                <p:oleObj name="数式" r:id="rId3" imgW="1358640" imgH="419040" progId="Equation.3">
                  <p:embed/>
                </p:oleObj>
              </mc:Choice>
              <mc:Fallback>
                <p:oleObj name="数式" r:id="rId3" imgW="1358640" imgH="419040" progId="Equation.3">
                  <p:embed/>
                  <p:pic>
                    <p:nvPicPr>
                      <p:cNvPr id="5" name="Object 5"/>
                      <p:cNvPicPr>
                        <a:picLocks noChangeAspect="1" noChangeArrowheads="1"/>
                      </p:cNvPicPr>
                      <p:nvPr/>
                    </p:nvPicPr>
                    <p:blipFill>
                      <a:blip r:embed="rId4"/>
                      <a:srcRect/>
                      <a:stretch>
                        <a:fillRect/>
                      </a:stretch>
                    </p:blipFill>
                    <p:spPr bwMode="auto">
                      <a:xfrm>
                        <a:off x="4612177" y="3253598"/>
                        <a:ext cx="3172013" cy="97758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820018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0091D1-6683-8D82-4FB4-FCE97FD3FFC9}"/>
              </a:ext>
            </a:extLst>
          </p:cNvPr>
          <p:cNvSpPr>
            <a:spLocks noGrp="1"/>
          </p:cNvSpPr>
          <p:nvPr>
            <p:ph type="title"/>
          </p:nvPr>
        </p:nvSpPr>
        <p:spPr/>
        <p:txBody>
          <a:bodyPr/>
          <a:lstStyle/>
          <a:p>
            <a:r>
              <a:rPr kumimoji="1" lang="en-US" altLang="ja-JP" dirty="0" err="1"/>
              <a:t>Cooccuration</a:t>
            </a:r>
            <a:r>
              <a:rPr lang="en-US" altLang="ja-JP" dirty="0"/>
              <a:t> - </a:t>
            </a:r>
            <a:r>
              <a:rPr lang="en-US" altLang="ja-JP" dirty="0" err="1"/>
              <a:t>Concordancer</a:t>
            </a:r>
            <a:endParaRPr kumimoji="1" lang="ja-JP" altLang="en-US" dirty="0"/>
          </a:p>
        </p:txBody>
      </p:sp>
      <p:sp>
        <p:nvSpPr>
          <p:cNvPr id="3" name="コンテンツ プレースホルダー 2">
            <a:extLst>
              <a:ext uri="{FF2B5EF4-FFF2-40B4-BE49-F238E27FC236}">
                <a16:creationId xmlns:a16="http://schemas.microsoft.com/office/drawing/2014/main" id="{E3A49628-EEC5-2CEA-FF90-DF58F377ECAC}"/>
              </a:ext>
            </a:extLst>
          </p:cNvPr>
          <p:cNvSpPr>
            <a:spLocks noGrp="1"/>
          </p:cNvSpPr>
          <p:nvPr>
            <p:ph idx="1"/>
          </p:nvPr>
        </p:nvSpPr>
        <p:spPr/>
        <p:txBody>
          <a:bodyPr/>
          <a:lstStyle/>
          <a:p>
            <a:endParaRPr kumimoji="1" lang="ja-JP" altLang="en-US"/>
          </a:p>
        </p:txBody>
      </p:sp>
      <p:pic>
        <p:nvPicPr>
          <p:cNvPr id="4" name="図 3">
            <a:extLst>
              <a:ext uri="{FF2B5EF4-FFF2-40B4-BE49-F238E27FC236}">
                <a16:creationId xmlns:a16="http://schemas.microsoft.com/office/drawing/2014/main" id="{C8607737-1BFB-129A-C3D3-AA323C292AC8}"/>
              </a:ext>
            </a:extLst>
          </p:cNvPr>
          <p:cNvPicPr>
            <a:picLocks noChangeAspect="1"/>
          </p:cNvPicPr>
          <p:nvPr/>
        </p:nvPicPr>
        <p:blipFill>
          <a:blip r:embed="rId2"/>
          <a:stretch>
            <a:fillRect/>
          </a:stretch>
        </p:blipFill>
        <p:spPr>
          <a:xfrm>
            <a:off x="1607387" y="1996001"/>
            <a:ext cx="8869013" cy="4010585"/>
          </a:xfrm>
          <a:prstGeom prst="rect">
            <a:avLst/>
          </a:prstGeom>
        </p:spPr>
      </p:pic>
    </p:spTree>
    <p:extLst>
      <p:ext uri="{BB962C8B-B14F-4D97-AF65-F5344CB8AC3E}">
        <p14:creationId xmlns:p14="http://schemas.microsoft.com/office/powerpoint/2010/main" val="41873053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0091D1-6683-8D82-4FB4-FCE97FD3FFC9}"/>
              </a:ext>
            </a:extLst>
          </p:cNvPr>
          <p:cNvSpPr>
            <a:spLocks noGrp="1"/>
          </p:cNvSpPr>
          <p:nvPr>
            <p:ph type="title"/>
          </p:nvPr>
        </p:nvSpPr>
        <p:spPr/>
        <p:txBody>
          <a:bodyPr/>
          <a:lstStyle/>
          <a:p>
            <a:r>
              <a:rPr kumimoji="1" lang="en-US" altLang="ja-JP" dirty="0" err="1"/>
              <a:t>Cooccuration</a:t>
            </a:r>
            <a:r>
              <a:rPr lang="en-US" altLang="ja-JP" dirty="0"/>
              <a:t> Matrix</a:t>
            </a:r>
            <a:endParaRPr kumimoji="1" lang="ja-JP" altLang="en-US" dirty="0"/>
          </a:p>
        </p:txBody>
      </p:sp>
      <p:sp>
        <p:nvSpPr>
          <p:cNvPr id="3" name="コンテンツ プレースホルダー 2">
            <a:extLst>
              <a:ext uri="{FF2B5EF4-FFF2-40B4-BE49-F238E27FC236}">
                <a16:creationId xmlns:a16="http://schemas.microsoft.com/office/drawing/2014/main" id="{E3A49628-EEC5-2CEA-FF90-DF58F377ECAC}"/>
              </a:ext>
            </a:extLst>
          </p:cNvPr>
          <p:cNvSpPr>
            <a:spLocks noGrp="1"/>
          </p:cNvSpPr>
          <p:nvPr>
            <p:ph idx="1"/>
          </p:nvPr>
        </p:nvSpPr>
        <p:spPr/>
        <p:txBody>
          <a:bodyPr/>
          <a:lstStyle/>
          <a:p>
            <a:endParaRPr kumimoji="1" lang="ja-JP" altLang="en-US"/>
          </a:p>
        </p:txBody>
      </p:sp>
      <p:pic>
        <p:nvPicPr>
          <p:cNvPr id="6" name="図 5">
            <a:extLst>
              <a:ext uri="{FF2B5EF4-FFF2-40B4-BE49-F238E27FC236}">
                <a16:creationId xmlns:a16="http://schemas.microsoft.com/office/drawing/2014/main" id="{1B3C9C97-DE38-C459-FB18-D0998EDA3C65}"/>
              </a:ext>
            </a:extLst>
          </p:cNvPr>
          <p:cNvPicPr>
            <a:picLocks noChangeAspect="1"/>
          </p:cNvPicPr>
          <p:nvPr/>
        </p:nvPicPr>
        <p:blipFill>
          <a:blip r:embed="rId2"/>
          <a:stretch>
            <a:fillRect/>
          </a:stretch>
        </p:blipFill>
        <p:spPr>
          <a:xfrm>
            <a:off x="0" y="1714101"/>
            <a:ext cx="12192000" cy="4574385"/>
          </a:xfrm>
          <a:prstGeom prst="rect">
            <a:avLst/>
          </a:prstGeom>
        </p:spPr>
      </p:pic>
    </p:spTree>
    <p:extLst>
      <p:ext uri="{BB962C8B-B14F-4D97-AF65-F5344CB8AC3E}">
        <p14:creationId xmlns:p14="http://schemas.microsoft.com/office/powerpoint/2010/main" val="3609642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altLang="ja-JP" dirty="0"/>
              <a:t>Collocation + Frequency = </a:t>
            </a:r>
            <a:br>
              <a:rPr lang="en-US" altLang="ja-JP" dirty="0"/>
            </a:br>
            <a:r>
              <a:rPr lang="en-US" altLang="ja-JP" dirty="0"/>
              <a:t>Language Models</a:t>
            </a:r>
          </a:p>
        </p:txBody>
      </p:sp>
      <p:sp>
        <p:nvSpPr>
          <p:cNvPr id="11" name="コンテンツ プレースホルダー 10"/>
          <p:cNvSpPr>
            <a:spLocks noGrp="1"/>
          </p:cNvSpPr>
          <p:nvPr>
            <p:ph idx="1"/>
          </p:nvPr>
        </p:nvSpPr>
        <p:spPr/>
        <p:txBody>
          <a:bodyPr>
            <a:normAutofit/>
          </a:bodyPr>
          <a:lstStyle/>
          <a:p>
            <a:r>
              <a:rPr lang="en-US" altLang="ja-JP" dirty="0">
                <a:ea typeface="MS PGothic" panose="020B0600070205080204" pitchFamily="50" charset="-128"/>
              </a:rPr>
              <a:t>Model to assign scores to sentences</a:t>
            </a:r>
          </a:p>
          <a:p>
            <a:pPr marL="457200" lvl="1" indent="0">
              <a:buNone/>
            </a:pPr>
            <a:endParaRPr lang="en-US" altLang="ja-JP" dirty="0">
              <a:ea typeface="MS PGothic" panose="020B0600070205080204" pitchFamily="50" charset="-128"/>
            </a:endParaRPr>
          </a:p>
          <a:p>
            <a:pPr lvl="1"/>
            <a:endParaRPr lang="en-US" altLang="ja-JP" dirty="0">
              <a:ea typeface="MS PGothic" panose="020B0600070205080204" pitchFamily="50" charset="-128"/>
            </a:endParaRPr>
          </a:p>
          <a:p>
            <a:r>
              <a:rPr lang="en-US" altLang="ja-JP" dirty="0">
                <a:ea typeface="MS PGothic" panose="020B0600070205080204" pitchFamily="50" charset="-128"/>
              </a:rPr>
              <a:t>Probabilities should broadly indicate likelihood of sentences</a:t>
            </a:r>
          </a:p>
          <a:p>
            <a:pPr lvl="1"/>
            <a:r>
              <a:rPr lang="en-US" altLang="ja-JP" dirty="0">
                <a:ea typeface="MS PGothic" panose="020B0600070205080204" pitchFamily="50" charset="-128"/>
              </a:rPr>
              <a:t>P( </a:t>
            </a:r>
            <a:r>
              <a:rPr lang="en-US" altLang="ja-JP" i="1" dirty="0">
                <a:ea typeface="MS PGothic" panose="020B0600070205080204" pitchFamily="50" charset="-128"/>
              </a:rPr>
              <a:t>I saw a van</a:t>
            </a:r>
            <a:r>
              <a:rPr lang="en-US" altLang="ja-JP" dirty="0">
                <a:ea typeface="MS PGothic" panose="020B0600070205080204" pitchFamily="50" charset="-128"/>
              </a:rPr>
              <a:t>) &gt;&gt; P( </a:t>
            </a:r>
            <a:r>
              <a:rPr lang="en-US" altLang="ja-JP" i="1" dirty="0">
                <a:ea typeface="MS PGothic" panose="020B0600070205080204" pitchFamily="50" charset="-128"/>
              </a:rPr>
              <a:t>eyes awe of an</a:t>
            </a:r>
            <a:r>
              <a:rPr lang="en-US" altLang="ja-JP" dirty="0">
                <a:ea typeface="MS PGothic" panose="020B0600070205080204" pitchFamily="50" charset="-128"/>
              </a:rPr>
              <a:t>)</a:t>
            </a:r>
          </a:p>
          <a:p>
            <a:r>
              <a:rPr lang="en-US" altLang="ja-JP" dirty="0">
                <a:ea typeface="MS PGothic" panose="020B0600070205080204" pitchFamily="50" charset="-128"/>
              </a:rPr>
              <a:t> Not grammaticality</a:t>
            </a:r>
          </a:p>
          <a:p>
            <a:pPr lvl="1"/>
            <a:r>
              <a:rPr lang="en-US" altLang="ja-JP" dirty="0">
                <a:ea typeface="MS PGothic" panose="020B0600070205080204" pitchFamily="50" charset="-128"/>
              </a:rPr>
              <a:t>P(artichokes intimidate zippers) ≈ 0</a:t>
            </a:r>
          </a:p>
          <a:p>
            <a:r>
              <a:rPr lang="en-US" altLang="ja-JP" dirty="0">
                <a:ea typeface="MS PGothic" panose="020B0600070205080204" pitchFamily="50" charset="-128"/>
              </a:rPr>
              <a:t>In principle, “likely” depends on the domain, context, speaker…</a:t>
            </a:r>
            <a:endParaRPr lang="en-US" altLang="ja-JP" b="1" dirty="0">
              <a:ea typeface="MS PGothic" panose="020B0600070205080204" pitchFamily="50" charset="-128"/>
            </a:endParaRPr>
          </a:p>
        </p:txBody>
      </p:sp>
      <p:sp>
        <p:nvSpPr>
          <p:cNvPr id="124938" name="Text Box 10"/>
          <p:cNvSpPr txBox="1">
            <a:spLocks noChangeArrowheads="1"/>
          </p:cNvSpPr>
          <p:nvPr/>
        </p:nvSpPr>
        <p:spPr bwMode="auto">
          <a:xfrm>
            <a:off x="7494154" y="6311900"/>
            <a:ext cx="397741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ja-JP" sz="1400" dirty="0">
                <a:ea typeface="MS PGothic" panose="020B0600070205080204" pitchFamily="50" charset="-128"/>
              </a:rPr>
              <a:t>Adapted from Dan Klein’s CS 288 slides</a:t>
            </a:r>
          </a:p>
        </p:txBody>
      </p:sp>
      <p:sp>
        <p:nvSpPr>
          <p:cNvPr id="20" name="Rectangle 3"/>
          <p:cNvSpPr txBox="1">
            <a:spLocks noChangeArrowheads="1"/>
          </p:cNvSpPr>
          <p:nvPr/>
        </p:nvSpPr>
        <p:spPr>
          <a:xfrm>
            <a:off x="1752600" y="1371601"/>
            <a:ext cx="8763000" cy="4754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en-US" altLang="ja-JP" b="1" dirty="0">
              <a:ea typeface="MS PGothic" panose="020B0600070205080204" pitchFamily="50" charset="-128"/>
            </a:endParaRPr>
          </a:p>
        </p:txBody>
      </p:sp>
      <p:graphicFrame>
        <p:nvGraphicFramePr>
          <p:cNvPr id="21" name="Object 5"/>
          <p:cNvGraphicFramePr>
            <a:graphicFrameLocks noChangeAspect="1"/>
          </p:cNvGraphicFramePr>
          <p:nvPr/>
        </p:nvGraphicFramePr>
        <p:xfrm>
          <a:off x="7610476" y="3938589"/>
          <a:ext cx="1158875" cy="2187575"/>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0476" y="3938589"/>
                        <a:ext cx="1158875" cy="218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7"/>
          <p:cNvGraphicFramePr>
            <a:graphicFrameLocks noChangeAspect="1"/>
          </p:cNvGraphicFramePr>
          <p:nvPr/>
        </p:nvGraphicFramePr>
        <p:xfrm>
          <a:off x="4790902" y="2340033"/>
          <a:ext cx="2438400" cy="547688"/>
        </p:xfrm>
        <a:graphic>
          <a:graphicData uri="http://schemas.openxmlformats.org/presentationml/2006/ole">
            <mc:AlternateContent xmlns:mc="http://schemas.openxmlformats.org/markup-compatibility/2006">
              <mc:Choice xmlns:v="urn:schemas-microsoft-com:vml" Requires="v">
                <p:oleObj name="Equation" r:id="rId5" imgW="1015920" imgH="228600" progId="Equation.3">
                  <p:embed/>
                </p:oleObj>
              </mc:Choice>
              <mc:Fallback>
                <p:oleObj name="Equation" r:id="rId5" imgW="1015920" imgH="228600" progId="Equation.3">
                  <p:embed/>
                  <p:pic>
                    <p:nvPicPr>
                      <p:cNvPr id="22"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0902" y="2340033"/>
                        <a:ext cx="2438400"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68430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501068-009D-3422-FC18-34035F835CD7}"/>
              </a:ext>
            </a:extLst>
          </p:cNvPr>
          <p:cNvSpPr>
            <a:spLocks noGrp="1"/>
          </p:cNvSpPr>
          <p:nvPr>
            <p:ph type="title"/>
          </p:nvPr>
        </p:nvSpPr>
        <p:spPr/>
        <p:txBody>
          <a:bodyPr/>
          <a:lstStyle/>
          <a:p>
            <a:r>
              <a:rPr kumimoji="1" lang="en-US" altLang="ja-JP" dirty="0"/>
              <a:t>Probabilistic Language Models</a:t>
            </a:r>
            <a:endParaRPr kumimoji="1" lang="ja-JP" altLang="en-US" dirty="0"/>
          </a:p>
        </p:txBody>
      </p:sp>
      <p:sp>
        <p:nvSpPr>
          <p:cNvPr id="3" name="コンテンツ プレースホルダー 2">
            <a:extLst>
              <a:ext uri="{FF2B5EF4-FFF2-40B4-BE49-F238E27FC236}">
                <a16:creationId xmlns:a16="http://schemas.microsoft.com/office/drawing/2014/main" id="{F3B13453-A416-C8FB-F54C-5AC09D9C3171}"/>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F5850396-2259-C559-5CC6-1AB474F1B69F}"/>
              </a:ext>
            </a:extLst>
          </p:cNvPr>
          <p:cNvPicPr>
            <a:picLocks noChangeAspect="1"/>
          </p:cNvPicPr>
          <p:nvPr/>
        </p:nvPicPr>
        <p:blipFill>
          <a:blip r:embed="rId2"/>
          <a:stretch>
            <a:fillRect/>
          </a:stretch>
        </p:blipFill>
        <p:spPr>
          <a:xfrm>
            <a:off x="2121774" y="1690688"/>
            <a:ext cx="8055895" cy="4732992"/>
          </a:xfrm>
          <a:prstGeom prst="rect">
            <a:avLst/>
          </a:prstGeom>
        </p:spPr>
      </p:pic>
    </p:spTree>
    <p:extLst>
      <p:ext uri="{BB962C8B-B14F-4D97-AF65-F5344CB8AC3E}">
        <p14:creationId xmlns:p14="http://schemas.microsoft.com/office/powerpoint/2010/main" val="35917363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ltLang="ja-JP" dirty="0"/>
              <a:t>Language Models</a:t>
            </a:r>
          </a:p>
        </p:txBody>
      </p:sp>
      <p:sp>
        <p:nvSpPr>
          <p:cNvPr id="6" name="コンテンツ プレースホルダー 5"/>
          <p:cNvSpPr>
            <a:spLocks noGrp="1"/>
          </p:cNvSpPr>
          <p:nvPr>
            <p:ph idx="1"/>
          </p:nvPr>
        </p:nvSpPr>
        <p:spPr/>
        <p:txBody>
          <a:bodyPr>
            <a:noAutofit/>
          </a:bodyPr>
          <a:lstStyle/>
          <a:p>
            <a:pPr>
              <a:lnSpc>
                <a:spcPct val="80000"/>
              </a:lnSpc>
            </a:pPr>
            <a:r>
              <a:rPr lang="en-US" altLang="ja-JP" dirty="0">
                <a:ea typeface="MS PGothic" panose="020B0600070205080204" pitchFamily="50" charset="-128"/>
              </a:rPr>
              <a:t>Related: the task of predicting the next word</a:t>
            </a:r>
          </a:p>
          <a:p>
            <a:pPr>
              <a:lnSpc>
                <a:spcPct val="80000"/>
              </a:lnSpc>
            </a:pPr>
            <a:endParaRPr lang="en-US" altLang="ja-JP" dirty="0">
              <a:ea typeface="MS PGothic" panose="020B0600070205080204" pitchFamily="50" charset="-128"/>
            </a:endParaRPr>
          </a:p>
          <a:p>
            <a:pPr>
              <a:lnSpc>
                <a:spcPct val="80000"/>
              </a:lnSpc>
            </a:pPr>
            <a:r>
              <a:rPr lang="en-US" altLang="ja-JP" dirty="0">
                <a:ea typeface="MS PGothic" panose="020B0600070205080204" pitchFamily="50" charset="-128"/>
              </a:rPr>
              <a:t>Can be useful for</a:t>
            </a:r>
          </a:p>
          <a:p>
            <a:pPr lvl="1">
              <a:lnSpc>
                <a:spcPct val="80000"/>
              </a:lnSpc>
            </a:pPr>
            <a:r>
              <a:rPr lang="en-US" altLang="ja-JP" dirty="0">
                <a:ea typeface="MS PGothic" panose="020B0600070205080204" pitchFamily="50" charset="-128"/>
              </a:rPr>
              <a:t>Spelling corrections</a:t>
            </a:r>
          </a:p>
          <a:p>
            <a:pPr lvl="2">
              <a:lnSpc>
                <a:spcPct val="80000"/>
              </a:lnSpc>
            </a:pPr>
            <a:r>
              <a:rPr lang="en-US" altLang="ja-JP" i="1" dirty="0">
                <a:ea typeface="MS PGothic" panose="020B0600070205080204" pitchFamily="50" charset="-128"/>
              </a:rPr>
              <a:t>I need to </a:t>
            </a:r>
            <a:r>
              <a:rPr lang="en-US" altLang="ja-JP" i="1" u="sng" dirty="0">
                <a:ea typeface="MS PGothic" panose="020B0600070205080204" pitchFamily="50" charset="-128"/>
              </a:rPr>
              <a:t>notified</a:t>
            </a:r>
            <a:r>
              <a:rPr lang="en-US" altLang="ja-JP" i="1" dirty="0">
                <a:ea typeface="MS PGothic" panose="020B0600070205080204" pitchFamily="50" charset="-128"/>
              </a:rPr>
              <a:t> the bank</a:t>
            </a:r>
          </a:p>
          <a:p>
            <a:pPr lvl="1">
              <a:lnSpc>
                <a:spcPct val="80000"/>
              </a:lnSpc>
            </a:pPr>
            <a:r>
              <a:rPr lang="en-US" altLang="ja-JP" dirty="0">
                <a:ea typeface="MS PGothic" panose="020B0600070205080204" pitchFamily="50" charset="-128"/>
              </a:rPr>
              <a:t>Machine translations</a:t>
            </a:r>
          </a:p>
          <a:p>
            <a:pPr lvl="1">
              <a:lnSpc>
                <a:spcPct val="80000"/>
              </a:lnSpc>
            </a:pPr>
            <a:r>
              <a:rPr lang="en-US" altLang="ja-JP" dirty="0">
                <a:ea typeface="MS PGothic" panose="020B0600070205080204" pitchFamily="50" charset="-128"/>
              </a:rPr>
              <a:t>Speech recognition</a:t>
            </a:r>
          </a:p>
          <a:p>
            <a:pPr lvl="1">
              <a:lnSpc>
                <a:spcPct val="80000"/>
              </a:lnSpc>
            </a:pPr>
            <a:r>
              <a:rPr lang="en-US" altLang="ja-JP" dirty="0">
                <a:ea typeface="MS PGothic" panose="020B0600070205080204" pitchFamily="50" charset="-128"/>
              </a:rPr>
              <a:t>OCR (optical character recognition)</a:t>
            </a:r>
          </a:p>
          <a:p>
            <a:pPr lvl="1">
              <a:lnSpc>
                <a:spcPct val="80000"/>
              </a:lnSpc>
            </a:pPr>
            <a:r>
              <a:rPr lang="en-US" altLang="ja-JP" dirty="0">
                <a:ea typeface="MS PGothic" panose="020B0600070205080204" pitchFamily="50" charset="-128"/>
              </a:rPr>
              <a:t>Handwriting recognition</a:t>
            </a:r>
          </a:p>
          <a:p>
            <a:pPr lvl="1">
              <a:lnSpc>
                <a:spcPct val="80000"/>
              </a:lnSpc>
            </a:pPr>
            <a:r>
              <a:rPr lang="en-US" altLang="ja-JP" dirty="0">
                <a:ea typeface="MS PGothic" panose="020B0600070205080204" pitchFamily="50" charset="-128"/>
              </a:rPr>
              <a:t>Augmentative communication</a:t>
            </a:r>
          </a:p>
          <a:p>
            <a:pPr lvl="2">
              <a:lnSpc>
                <a:spcPct val="80000"/>
              </a:lnSpc>
            </a:pPr>
            <a:r>
              <a:rPr lang="en-US" altLang="ja-JP" dirty="0">
                <a:ea typeface="MS PGothic" panose="020B0600070205080204" pitchFamily="50" charset="-128"/>
              </a:rPr>
              <a:t>Computer systems to help the disabled in communication</a:t>
            </a:r>
          </a:p>
          <a:p>
            <a:pPr lvl="3">
              <a:lnSpc>
                <a:spcPct val="80000"/>
              </a:lnSpc>
            </a:pPr>
            <a:r>
              <a:rPr lang="en-US" altLang="ja-JP" dirty="0">
                <a:ea typeface="MS PGothic" panose="020B0600070205080204" pitchFamily="50" charset="-128"/>
              </a:rPr>
              <a:t>For example, systems that let choose words with hand movements</a:t>
            </a:r>
          </a:p>
        </p:txBody>
      </p:sp>
      <p:sp>
        <p:nvSpPr>
          <p:cNvPr id="10" name="Rectangle 3"/>
          <p:cNvSpPr txBox="1">
            <a:spLocks noChangeArrowheads="1"/>
          </p:cNvSpPr>
          <p:nvPr/>
        </p:nvSpPr>
        <p:spPr>
          <a:xfrm>
            <a:off x="2438400" y="1600201"/>
            <a:ext cx="77724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1">
              <a:lnSpc>
                <a:spcPct val="80000"/>
              </a:lnSpc>
            </a:pPr>
            <a:endParaRPr lang="en-US" altLang="ja-JP" sz="2000" dirty="0">
              <a:ea typeface="MS PGothic" panose="020B0600070205080204" pitchFamily="50" charset="-128"/>
            </a:endParaRPr>
          </a:p>
        </p:txBody>
      </p:sp>
      <p:graphicFrame>
        <p:nvGraphicFramePr>
          <p:cNvPr id="11" name="Object 7"/>
          <p:cNvGraphicFramePr>
            <a:graphicFrameLocks noChangeAspect="1"/>
          </p:cNvGraphicFramePr>
          <p:nvPr/>
        </p:nvGraphicFramePr>
        <p:xfrm>
          <a:off x="4524895" y="2241666"/>
          <a:ext cx="2667000" cy="514350"/>
        </p:xfrm>
        <a:graphic>
          <a:graphicData uri="http://schemas.openxmlformats.org/presentationml/2006/ole">
            <mc:AlternateContent xmlns:mc="http://schemas.openxmlformats.org/markup-compatibility/2006">
              <mc:Choice xmlns:v="urn:schemas-microsoft-com:vml" Requires="v">
                <p:oleObj name="Equation" r:id="rId3" imgW="1054080" imgH="203040" progId="Equation.3">
                  <p:embed/>
                </p:oleObj>
              </mc:Choice>
              <mc:Fallback>
                <p:oleObj name="Equation" r:id="rId3" imgW="1054080" imgH="203040" progId="Equation.3">
                  <p:embed/>
                  <p:pic>
                    <p:nvPicPr>
                      <p:cNvPr id="1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4895" y="2241666"/>
                        <a:ext cx="2667000"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3508933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US" altLang="ja-JP" dirty="0">
                <a:ea typeface="MS PGothic" panose="020B0600070205080204" pitchFamily="50" charset="-128"/>
              </a:rPr>
              <a:t>Language Models</a:t>
            </a:r>
          </a:p>
        </p:txBody>
      </p:sp>
      <p:sp>
        <p:nvSpPr>
          <p:cNvPr id="5" name="コンテンツ プレースホルダー 4"/>
          <p:cNvSpPr>
            <a:spLocks noGrp="1"/>
          </p:cNvSpPr>
          <p:nvPr>
            <p:ph idx="1"/>
          </p:nvPr>
        </p:nvSpPr>
        <p:spPr/>
        <p:txBody>
          <a:bodyPr/>
          <a:lstStyle/>
          <a:p>
            <a:r>
              <a:rPr lang="en-US" altLang="ja-JP" dirty="0">
                <a:ea typeface="MS PGothic" panose="020B0600070205080204" pitchFamily="50" charset="-128"/>
              </a:rPr>
              <a:t>Model to assign scores to sentences</a:t>
            </a:r>
          </a:p>
          <a:p>
            <a:pPr lvl="1"/>
            <a:endParaRPr lang="en-US" altLang="ja-JP" b="1" dirty="0">
              <a:ea typeface="MS PGothic" panose="020B0600070205080204" pitchFamily="50" charset="-128"/>
            </a:endParaRPr>
          </a:p>
          <a:p>
            <a:pPr lvl="1"/>
            <a:endParaRPr lang="en-US" altLang="ja-JP" b="1" dirty="0">
              <a:ea typeface="MS PGothic" panose="020B0600070205080204" pitchFamily="50" charset="-128"/>
            </a:endParaRPr>
          </a:p>
          <a:p>
            <a:pPr lvl="1"/>
            <a:r>
              <a:rPr lang="en-US" altLang="ja-JP" dirty="0">
                <a:ea typeface="MS PGothic" panose="020B0600070205080204" pitchFamily="50" charset="-128"/>
              </a:rPr>
              <a:t>Sentence: </a:t>
            </a:r>
            <a:r>
              <a:rPr lang="en-US" altLang="ja-JP" i="1" dirty="0">
                <a:latin typeface="Times" pitchFamily="18" charset="0"/>
                <a:ea typeface="MS PGothic" panose="020B0600070205080204" pitchFamily="50" charset="-128"/>
              </a:rPr>
              <a:t>w</a:t>
            </a:r>
            <a:r>
              <a:rPr lang="en-US" altLang="ja-JP" i="1" baseline="-25000" dirty="0">
                <a:latin typeface="Times" pitchFamily="18" charset="0"/>
                <a:ea typeface="MS PGothic" panose="020B0600070205080204" pitchFamily="50" charset="-128"/>
              </a:rPr>
              <a:t>1</a:t>
            </a:r>
            <a:r>
              <a:rPr lang="en-US" altLang="ja-JP" i="1" dirty="0">
                <a:latin typeface="Times" pitchFamily="18" charset="0"/>
                <a:ea typeface="MS PGothic" panose="020B0600070205080204" pitchFamily="50" charset="-128"/>
              </a:rPr>
              <a:t>, w</a:t>
            </a:r>
            <a:r>
              <a:rPr lang="en-US" altLang="ja-JP" i="1" baseline="-25000" dirty="0">
                <a:latin typeface="Times" pitchFamily="18" charset="0"/>
                <a:ea typeface="MS PGothic" panose="020B0600070205080204" pitchFamily="50" charset="-128"/>
              </a:rPr>
              <a:t>2</a:t>
            </a:r>
            <a:r>
              <a:rPr lang="en-US" altLang="ja-JP" i="1" dirty="0">
                <a:latin typeface="Times" pitchFamily="18" charset="0"/>
                <a:ea typeface="MS PGothic" panose="020B0600070205080204" pitchFamily="50" charset="-128"/>
              </a:rPr>
              <a:t>, … </a:t>
            </a:r>
            <a:r>
              <a:rPr lang="en-US" altLang="ja-JP" i="1" dirty="0" err="1">
                <a:latin typeface="Times" pitchFamily="18" charset="0"/>
                <a:ea typeface="MS PGothic" panose="020B0600070205080204" pitchFamily="50" charset="-128"/>
              </a:rPr>
              <a:t>w</a:t>
            </a:r>
            <a:r>
              <a:rPr lang="en-US" altLang="ja-JP" i="1" baseline="-25000" dirty="0" err="1">
                <a:latin typeface="Times" pitchFamily="18" charset="0"/>
                <a:ea typeface="MS PGothic" panose="020B0600070205080204" pitchFamily="50" charset="-128"/>
              </a:rPr>
              <a:t>n</a:t>
            </a:r>
            <a:endParaRPr lang="en-US" altLang="ja-JP" i="1" baseline="-25000" dirty="0">
              <a:latin typeface="Times" pitchFamily="18" charset="0"/>
              <a:ea typeface="MS PGothic" panose="020B0600070205080204" pitchFamily="50" charset="-128"/>
            </a:endParaRPr>
          </a:p>
          <a:p>
            <a:pPr lvl="1"/>
            <a:r>
              <a:rPr lang="en-US" altLang="ja-JP" dirty="0">
                <a:ea typeface="MS PGothic" panose="020B0600070205080204" pitchFamily="50" charset="-128"/>
              </a:rPr>
              <a:t>Break sentence probability down with chain rule (no loss of generality)</a:t>
            </a:r>
          </a:p>
          <a:p>
            <a:pPr lvl="1">
              <a:buFontTx/>
              <a:buNone/>
            </a:pPr>
            <a:endParaRPr lang="en-US" altLang="ja-JP" dirty="0">
              <a:ea typeface="MS PGothic" panose="020B0600070205080204" pitchFamily="50" charset="-128"/>
            </a:endParaRPr>
          </a:p>
          <a:p>
            <a:pPr lvl="1"/>
            <a:endParaRPr lang="en-US" altLang="ja-JP" dirty="0">
              <a:ea typeface="MS PGothic" panose="020B0600070205080204" pitchFamily="50" charset="-128"/>
            </a:endParaRPr>
          </a:p>
          <a:p>
            <a:pPr lvl="1"/>
            <a:r>
              <a:rPr lang="en-US" altLang="ja-JP" dirty="0">
                <a:ea typeface="MS PGothic" panose="020B0600070205080204" pitchFamily="50" charset="-128"/>
              </a:rPr>
              <a:t>Too many histories!</a:t>
            </a:r>
          </a:p>
          <a:p>
            <a:endParaRPr kumimoji="1" lang="ja-JP" altLang="en-US" dirty="0"/>
          </a:p>
        </p:txBody>
      </p:sp>
      <p:sp>
        <p:nvSpPr>
          <p:cNvPr id="11" name="Rectangle 3"/>
          <p:cNvSpPr txBox="1">
            <a:spLocks noChangeArrowheads="1"/>
          </p:cNvSpPr>
          <p:nvPr/>
        </p:nvSpPr>
        <p:spPr>
          <a:xfrm>
            <a:off x="1752600" y="1371601"/>
            <a:ext cx="8763000" cy="4754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en-US" altLang="ja-JP" dirty="0">
              <a:ea typeface="MS PGothic" panose="020B0600070205080204" pitchFamily="50" charset="-128"/>
            </a:endParaRPr>
          </a:p>
        </p:txBody>
      </p:sp>
      <p:graphicFrame>
        <p:nvGraphicFramePr>
          <p:cNvPr id="12" name="Object 4"/>
          <p:cNvGraphicFramePr>
            <a:graphicFrameLocks noChangeAspect="1"/>
          </p:cNvGraphicFramePr>
          <p:nvPr/>
        </p:nvGraphicFramePr>
        <p:xfrm>
          <a:off x="3695700" y="4189810"/>
          <a:ext cx="4800600" cy="665163"/>
        </p:xfrm>
        <a:graphic>
          <a:graphicData uri="http://schemas.openxmlformats.org/presentationml/2006/ole">
            <mc:AlternateContent xmlns:mc="http://schemas.openxmlformats.org/markup-compatibility/2006">
              <mc:Choice xmlns:v="urn:schemas-microsoft-com:vml" Requires="v">
                <p:oleObj name="数式" r:id="rId3" imgW="2476440" imgH="342720" progId="Equation.3">
                  <p:embed/>
                </p:oleObj>
              </mc:Choice>
              <mc:Fallback>
                <p:oleObj name="数式" r:id="rId3" imgW="2476440" imgH="342720" progId="Equation.3">
                  <p:embed/>
                  <p:pic>
                    <p:nvPicPr>
                      <p:cNvPr id="12" name="Object 4"/>
                      <p:cNvPicPr>
                        <a:picLocks noChangeAspect="1" noChangeArrowheads="1"/>
                      </p:cNvPicPr>
                      <p:nvPr/>
                    </p:nvPicPr>
                    <p:blipFill>
                      <a:blip r:embed="rId4"/>
                      <a:srcRect/>
                      <a:stretch>
                        <a:fillRect/>
                      </a:stretch>
                    </p:blipFill>
                    <p:spPr bwMode="auto">
                      <a:xfrm>
                        <a:off x="3695700" y="4189810"/>
                        <a:ext cx="4800600" cy="665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5"/>
          <p:cNvGraphicFramePr>
            <a:graphicFrameLocks noChangeAspect="1"/>
          </p:cNvGraphicFramePr>
          <p:nvPr/>
        </p:nvGraphicFramePr>
        <p:xfrm>
          <a:off x="7610476" y="3938589"/>
          <a:ext cx="1158875" cy="2187575"/>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1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0476" y="3938589"/>
                        <a:ext cx="1158875" cy="218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6"/>
          <p:cNvGraphicFramePr>
            <a:graphicFrameLocks noChangeAspect="1"/>
          </p:cNvGraphicFramePr>
          <p:nvPr/>
        </p:nvGraphicFramePr>
        <p:xfrm>
          <a:off x="4750724" y="2475707"/>
          <a:ext cx="1970088" cy="442913"/>
        </p:xfrm>
        <a:graphic>
          <a:graphicData uri="http://schemas.openxmlformats.org/presentationml/2006/ole">
            <mc:AlternateContent xmlns:mc="http://schemas.openxmlformats.org/markup-compatibility/2006">
              <mc:Choice xmlns:v="urn:schemas-microsoft-com:vml" Requires="v">
                <p:oleObj name="Equation" r:id="rId7" imgW="1015920" imgH="228600" progId="Equation.3">
                  <p:embed/>
                </p:oleObj>
              </mc:Choice>
              <mc:Fallback>
                <p:oleObj name="Equation" r:id="rId7" imgW="1015920" imgH="228600" progId="Equation.3">
                  <p:embed/>
                  <p:pic>
                    <p:nvPicPr>
                      <p:cNvPr id="14"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50724" y="2475707"/>
                        <a:ext cx="1970088"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577089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altLang="ja-JP" dirty="0"/>
              <a:t>Markov assumption: n-gram solution</a:t>
            </a:r>
          </a:p>
        </p:txBody>
      </p:sp>
      <p:sp>
        <p:nvSpPr>
          <p:cNvPr id="7" name="コンテンツ プレースホルダー 6"/>
          <p:cNvSpPr>
            <a:spLocks noGrp="1"/>
          </p:cNvSpPr>
          <p:nvPr>
            <p:ph idx="1"/>
          </p:nvPr>
        </p:nvSpPr>
        <p:spPr>
          <a:xfrm>
            <a:off x="838200" y="2552701"/>
            <a:ext cx="10515600" cy="3624262"/>
          </a:xfrm>
        </p:spPr>
        <p:txBody>
          <a:bodyPr/>
          <a:lstStyle/>
          <a:p>
            <a:r>
              <a:rPr lang="en-US" altLang="ja-JP" dirty="0">
                <a:ea typeface="MS PGothic" panose="020B0600070205080204" pitchFamily="50" charset="-128"/>
              </a:rPr>
              <a:t>Markov assumption: only the prior local context --- the last “few” </a:t>
            </a:r>
            <a:r>
              <a:rPr lang="en-US" altLang="ja-JP" i="1" dirty="0">
                <a:latin typeface="Times" pitchFamily="18" charset="0"/>
                <a:ea typeface="MS PGothic" panose="020B0600070205080204" pitchFamily="50" charset="-128"/>
              </a:rPr>
              <a:t>n</a:t>
            </a:r>
            <a:r>
              <a:rPr lang="en-US" altLang="ja-JP" dirty="0">
                <a:ea typeface="MS PGothic" panose="020B0600070205080204" pitchFamily="50" charset="-128"/>
              </a:rPr>
              <a:t> words– affects the next word</a:t>
            </a:r>
          </a:p>
          <a:p>
            <a:r>
              <a:rPr lang="en-US" altLang="ja-JP" i="1" dirty="0">
                <a:latin typeface="Times" pitchFamily="18" charset="0"/>
                <a:ea typeface="MS PGothic" panose="020B0600070205080204" pitchFamily="50" charset="-128"/>
              </a:rPr>
              <a:t>N</a:t>
            </a:r>
            <a:r>
              <a:rPr lang="en-US" altLang="ja-JP" dirty="0">
                <a:ea typeface="MS PGothic" panose="020B0600070205080204" pitchFamily="50" charset="-128"/>
              </a:rPr>
              <a:t>-gram models: assume each word depends only on a short linear history</a:t>
            </a:r>
          </a:p>
          <a:p>
            <a:pPr lvl="1"/>
            <a:r>
              <a:rPr lang="en-US" altLang="ja-JP" dirty="0">
                <a:ea typeface="MS PGothic" panose="020B0600070205080204" pitchFamily="50" charset="-128"/>
              </a:rPr>
              <a:t>Use </a:t>
            </a:r>
            <a:r>
              <a:rPr lang="en-US" altLang="ja-JP" i="1" dirty="0">
                <a:latin typeface="Times" pitchFamily="18" charset="0"/>
                <a:ea typeface="MS PGothic" panose="020B0600070205080204" pitchFamily="50" charset="-128"/>
              </a:rPr>
              <a:t>N-1</a:t>
            </a:r>
            <a:r>
              <a:rPr lang="en-US" altLang="ja-JP" dirty="0">
                <a:ea typeface="MS PGothic" panose="020B0600070205080204" pitchFamily="50" charset="-128"/>
              </a:rPr>
              <a:t> words to predict the next one</a:t>
            </a:r>
          </a:p>
        </p:txBody>
      </p:sp>
      <p:sp>
        <p:nvSpPr>
          <p:cNvPr id="34" name="Text Box 19"/>
          <p:cNvSpPr txBox="1">
            <a:spLocks noChangeArrowheads="1"/>
          </p:cNvSpPr>
          <p:nvPr/>
        </p:nvSpPr>
        <p:spPr bwMode="auto">
          <a:xfrm>
            <a:off x="9677400" y="1828801"/>
            <a:ext cx="457200" cy="3667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a:ea typeface="MS PGothic" panose="020B0600070205080204" pitchFamily="50" charset="-128"/>
              </a:rPr>
              <a:t>w</a:t>
            </a:r>
            <a:r>
              <a:rPr lang="en-US" altLang="ja-JP" baseline="-25000">
                <a:ea typeface="MS PGothic" panose="020B0600070205080204" pitchFamily="50" charset="-128"/>
              </a:rPr>
              <a:t>i</a:t>
            </a:r>
          </a:p>
        </p:txBody>
      </p:sp>
      <p:sp>
        <p:nvSpPr>
          <p:cNvPr id="35" name="Text Box 21"/>
          <p:cNvSpPr txBox="1">
            <a:spLocks noChangeArrowheads="1"/>
          </p:cNvSpPr>
          <p:nvPr/>
        </p:nvSpPr>
        <p:spPr bwMode="auto">
          <a:xfrm>
            <a:off x="7010400" y="1828801"/>
            <a:ext cx="2667000" cy="366713"/>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a:ea typeface="MS PGothic" panose="020B0600070205080204" pitchFamily="50" charset="-128"/>
              </a:rPr>
              <a:t>w</a:t>
            </a:r>
            <a:r>
              <a:rPr lang="en-US" altLang="ja-JP" baseline="-25000">
                <a:ea typeface="MS PGothic" panose="020B0600070205080204" pitchFamily="50" charset="-128"/>
              </a:rPr>
              <a:t>1</a:t>
            </a:r>
          </a:p>
        </p:txBody>
      </p:sp>
      <p:graphicFrame>
        <p:nvGraphicFramePr>
          <p:cNvPr id="36" name="Object 3"/>
          <p:cNvGraphicFramePr>
            <a:graphicFrameLocks noChangeAspect="1"/>
          </p:cNvGraphicFramePr>
          <p:nvPr/>
        </p:nvGraphicFramePr>
        <p:xfrm>
          <a:off x="3429000" y="5029200"/>
          <a:ext cx="3657600" cy="615950"/>
        </p:xfrm>
        <a:graphic>
          <a:graphicData uri="http://schemas.openxmlformats.org/presentationml/2006/ole">
            <mc:AlternateContent xmlns:mc="http://schemas.openxmlformats.org/markup-compatibility/2006">
              <mc:Choice xmlns:v="urn:schemas-microsoft-com:vml" Requires="v">
                <p:oleObj name="Equation" r:id="rId3" imgW="1206360" imgH="203040" progId="Equation.3">
                  <p:embed/>
                </p:oleObj>
              </mc:Choice>
              <mc:Fallback>
                <p:oleObj name="Equation" r:id="rId3" imgW="1206360" imgH="203040" progId="Equation.3">
                  <p:embed/>
                  <p:pic>
                    <p:nvPicPr>
                      <p:cNvPr id="3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5029200"/>
                        <a:ext cx="3657600" cy="6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 name="Object 6"/>
          <p:cNvGraphicFramePr>
            <a:graphicFrameLocks noChangeAspect="1"/>
          </p:cNvGraphicFramePr>
          <p:nvPr/>
        </p:nvGraphicFramePr>
        <p:xfrm>
          <a:off x="3200400" y="5867401"/>
          <a:ext cx="5181600" cy="765175"/>
        </p:xfrm>
        <a:graphic>
          <a:graphicData uri="http://schemas.openxmlformats.org/presentationml/2006/ole">
            <mc:AlternateContent xmlns:mc="http://schemas.openxmlformats.org/markup-compatibility/2006">
              <mc:Choice xmlns:v="urn:schemas-microsoft-com:vml" Requires="v">
                <p:oleObj name="Equation" r:id="rId5" imgW="2323800" imgH="342720" progId="Equation.3">
                  <p:embed/>
                </p:oleObj>
              </mc:Choice>
              <mc:Fallback>
                <p:oleObj name="Equation" r:id="rId5" imgW="2323800" imgH="342720" progId="Equation.3">
                  <p:embed/>
                  <p:pic>
                    <p:nvPicPr>
                      <p:cNvPr id="3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5867401"/>
                        <a:ext cx="5181600"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 name="Rectangle 4"/>
          <p:cNvSpPr>
            <a:spLocks noChangeArrowheads="1"/>
          </p:cNvSpPr>
          <p:nvPr/>
        </p:nvSpPr>
        <p:spPr bwMode="auto">
          <a:xfrm>
            <a:off x="1905000" y="25146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endParaRPr lang="en-US" altLang="ja-JP" dirty="0">
              <a:ea typeface="MS PGothic" panose="020B0600070205080204" pitchFamily="50" charset="-128"/>
            </a:endParaRPr>
          </a:p>
        </p:txBody>
      </p:sp>
      <p:graphicFrame>
        <p:nvGraphicFramePr>
          <p:cNvPr id="39" name="Object 8"/>
          <p:cNvGraphicFramePr>
            <a:graphicFrameLocks noChangeAspect="1"/>
          </p:cNvGraphicFramePr>
          <p:nvPr/>
        </p:nvGraphicFramePr>
        <p:xfrm>
          <a:off x="3657600" y="1676400"/>
          <a:ext cx="2971800" cy="654050"/>
        </p:xfrm>
        <a:graphic>
          <a:graphicData uri="http://schemas.openxmlformats.org/presentationml/2006/ole">
            <mc:AlternateContent xmlns:mc="http://schemas.openxmlformats.org/markup-compatibility/2006">
              <mc:Choice xmlns:v="urn:schemas-microsoft-com:vml" Requires="v">
                <p:oleObj name="Equation" r:id="rId7" imgW="1155600" imgH="253800" progId="Equation.3">
                  <p:embed/>
                </p:oleObj>
              </mc:Choice>
              <mc:Fallback>
                <p:oleObj name="Equation" r:id="rId7" imgW="1155600" imgH="253800" progId="Equation.3">
                  <p:embed/>
                  <p:pic>
                    <p:nvPicPr>
                      <p:cNvPr id="39"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1676400"/>
                        <a:ext cx="2971800" cy="65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 name="Rectangle 11"/>
          <p:cNvSpPr>
            <a:spLocks noChangeArrowheads="1"/>
          </p:cNvSpPr>
          <p:nvPr/>
        </p:nvSpPr>
        <p:spPr bwMode="auto">
          <a:xfrm>
            <a:off x="7010400" y="1828800"/>
            <a:ext cx="31242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41" name="Line 12"/>
          <p:cNvSpPr>
            <a:spLocks noChangeShapeType="1"/>
          </p:cNvSpPr>
          <p:nvPr/>
        </p:nvSpPr>
        <p:spPr bwMode="auto">
          <a:xfrm>
            <a:off x="7391400" y="1828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42" name="Line 13"/>
          <p:cNvSpPr>
            <a:spLocks noChangeShapeType="1"/>
          </p:cNvSpPr>
          <p:nvPr/>
        </p:nvSpPr>
        <p:spPr bwMode="auto">
          <a:xfrm>
            <a:off x="7772400" y="1828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43" name="Line 14"/>
          <p:cNvSpPr>
            <a:spLocks noChangeShapeType="1"/>
          </p:cNvSpPr>
          <p:nvPr/>
        </p:nvSpPr>
        <p:spPr bwMode="auto">
          <a:xfrm>
            <a:off x="8153400" y="1828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44" name="Line 15"/>
          <p:cNvSpPr>
            <a:spLocks noChangeShapeType="1"/>
          </p:cNvSpPr>
          <p:nvPr/>
        </p:nvSpPr>
        <p:spPr bwMode="auto">
          <a:xfrm>
            <a:off x="8534400" y="1828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45" name="Line 16"/>
          <p:cNvSpPr>
            <a:spLocks noChangeShapeType="1"/>
          </p:cNvSpPr>
          <p:nvPr/>
        </p:nvSpPr>
        <p:spPr bwMode="auto">
          <a:xfrm>
            <a:off x="8915400" y="1828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46" name="Line 17"/>
          <p:cNvSpPr>
            <a:spLocks noChangeShapeType="1"/>
          </p:cNvSpPr>
          <p:nvPr/>
        </p:nvSpPr>
        <p:spPr bwMode="auto">
          <a:xfrm>
            <a:off x="9296400" y="1828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47" name="Line 18"/>
          <p:cNvSpPr>
            <a:spLocks noChangeShapeType="1"/>
          </p:cNvSpPr>
          <p:nvPr/>
        </p:nvSpPr>
        <p:spPr bwMode="auto">
          <a:xfrm>
            <a:off x="9677400" y="1828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nvGrpSpPr>
          <p:cNvPr id="48" name="Group 32"/>
          <p:cNvGrpSpPr>
            <a:grpSpLocks/>
          </p:cNvGrpSpPr>
          <p:nvPr/>
        </p:nvGrpSpPr>
        <p:grpSpPr bwMode="auto">
          <a:xfrm>
            <a:off x="7315200" y="5257800"/>
            <a:ext cx="3124200" cy="381000"/>
            <a:chOff x="3648" y="2928"/>
            <a:chExt cx="1968" cy="240"/>
          </a:xfrm>
        </p:grpSpPr>
        <p:sp>
          <p:nvSpPr>
            <p:cNvPr id="49" name="Text Box 22"/>
            <p:cNvSpPr txBox="1">
              <a:spLocks noChangeArrowheads="1"/>
            </p:cNvSpPr>
            <p:nvPr/>
          </p:nvSpPr>
          <p:spPr bwMode="auto">
            <a:xfrm>
              <a:off x="5328" y="2928"/>
              <a:ext cx="288"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a:ea typeface="MS PGothic" panose="020B0600070205080204" pitchFamily="50" charset="-128"/>
                </a:rPr>
                <a:t>w</a:t>
              </a:r>
              <a:r>
                <a:rPr lang="en-US" altLang="ja-JP" baseline="-25000">
                  <a:ea typeface="MS PGothic" panose="020B0600070205080204" pitchFamily="50" charset="-128"/>
                </a:rPr>
                <a:t>i</a:t>
              </a:r>
            </a:p>
          </p:txBody>
        </p:sp>
        <p:sp>
          <p:nvSpPr>
            <p:cNvPr id="50" name="Text Box 23"/>
            <p:cNvSpPr txBox="1">
              <a:spLocks noChangeArrowheads="1"/>
            </p:cNvSpPr>
            <p:nvPr/>
          </p:nvSpPr>
          <p:spPr bwMode="auto">
            <a:xfrm>
              <a:off x="4608" y="2928"/>
              <a:ext cx="720" cy="212"/>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sz="1600">
                  <a:latin typeface="Verdana" panose="020B0604030504040204" pitchFamily="34" charset="0"/>
                  <a:ea typeface="MS PGothic" panose="020B0600070205080204" pitchFamily="50" charset="-128"/>
                </a:rPr>
                <a:t>W</a:t>
              </a:r>
              <a:r>
                <a:rPr lang="en-US" altLang="ja-JP" baseline="-25000">
                  <a:ea typeface="MS PGothic" panose="020B0600070205080204" pitchFamily="50" charset="-128"/>
                </a:rPr>
                <a:t>i-2</a:t>
              </a:r>
            </a:p>
          </p:txBody>
        </p:sp>
        <p:sp>
          <p:nvSpPr>
            <p:cNvPr id="51" name="Rectangle 24"/>
            <p:cNvSpPr>
              <a:spLocks noChangeArrowheads="1"/>
            </p:cNvSpPr>
            <p:nvPr/>
          </p:nvSpPr>
          <p:spPr bwMode="auto">
            <a:xfrm>
              <a:off x="3648" y="2928"/>
              <a:ext cx="1968"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2" name="Line 25"/>
            <p:cNvSpPr>
              <a:spLocks noChangeShapeType="1"/>
            </p:cNvSpPr>
            <p:nvPr/>
          </p:nvSpPr>
          <p:spPr bwMode="auto">
            <a:xfrm>
              <a:off x="3888" y="2928"/>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53" name="Line 26"/>
            <p:cNvSpPr>
              <a:spLocks noChangeShapeType="1"/>
            </p:cNvSpPr>
            <p:nvPr/>
          </p:nvSpPr>
          <p:spPr bwMode="auto">
            <a:xfrm>
              <a:off x="4128" y="2928"/>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54" name="Line 27"/>
            <p:cNvSpPr>
              <a:spLocks noChangeShapeType="1"/>
            </p:cNvSpPr>
            <p:nvPr/>
          </p:nvSpPr>
          <p:spPr bwMode="auto">
            <a:xfrm>
              <a:off x="4368" y="2928"/>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55" name="Line 28"/>
            <p:cNvSpPr>
              <a:spLocks noChangeShapeType="1"/>
            </p:cNvSpPr>
            <p:nvPr/>
          </p:nvSpPr>
          <p:spPr bwMode="auto">
            <a:xfrm>
              <a:off x="4608" y="2928"/>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56" name="Line 29"/>
            <p:cNvSpPr>
              <a:spLocks noChangeShapeType="1"/>
            </p:cNvSpPr>
            <p:nvPr/>
          </p:nvSpPr>
          <p:spPr bwMode="auto">
            <a:xfrm>
              <a:off x="4848" y="2928"/>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57" name="Line 30"/>
            <p:cNvSpPr>
              <a:spLocks noChangeShapeType="1"/>
            </p:cNvSpPr>
            <p:nvPr/>
          </p:nvSpPr>
          <p:spPr bwMode="auto">
            <a:xfrm>
              <a:off x="5088" y="2928"/>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58" name="Line 31"/>
            <p:cNvSpPr>
              <a:spLocks noChangeShapeType="1"/>
            </p:cNvSpPr>
            <p:nvPr/>
          </p:nvSpPr>
          <p:spPr bwMode="auto">
            <a:xfrm>
              <a:off x="5328" y="2928"/>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spTree>
    <p:extLst>
      <p:ext uri="{BB962C8B-B14F-4D97-AF65-F5344CB8AC3E}">
        <p14:creationId xmlns:p14="http://schemas.microsoft.com/office/powerpoint/2010/main" val="11287684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altLang="ja-JP"/>
              <a:t> n-gram: Unigrams (n = 1)</a:t>
            </a:r>
            <a:endParaRPr lang="en-US" altLang="ja-JP" dirty="0"/>
          </a:p>
        </p:txBody>
      </p:sp>
      <p:sp>
        <p:nvSpPr>
          <p:cNvPr id="6" name="コンテンツ プレースホルダー 5"/>
          <p:cNvSpPr>
            <a:spLocks noGrp="1"/>
          </p:cNvSpPr>
          <p:nvPr>
            <p:ph idx="1"/>
          </p:nvPr>
        </p:nvSpPr>
        <p:spPr/>
        <p:txBody>
          <a:bodyPr/>
          <a:lstStyle/>
          <a:p>
            <a:endParaRPr kumimoji="1" lang="ja-JP" altLang="en-US"/>
          </a:p>
        </p:txBody>
      </p:sp>
      <p:pic>
        <p:nvPicPr>
          <p:cNvPr id="147460" name="Picture 4" descr="Snap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752601"/>
            <a:ext cx="7372350" cy="4600575"/>
          </a:xfrm>
          <a:prstGeom prst="rect">
            <a:avLst/>
          </a:prstGeom>
          <a:noFill/>
          <a:extLst>
            <a:ext uri="{909E8E84-426E-40DD-AFC4-6F175D3DCCD1}">
              <a14:hiddenFill xmlns:a14="http://schemas.microsoft.com/office/drawing/2010/main">
                <a:solidFill>
                  <a:srgbClr val="FFFFFF"/>
                </a:solidFill>
              </a14:hiddenFill>
            </a:ext>
          </a:extLst>
        </p:spPr>
      </p:pic>
      <p:sp>
        <p:nvSpPr>
          <p:cNvPr id="147463" name="Text Box 7"/>
          <p:cNvSpPr txBox="1">
            <a:spLocks noChangeArrowheads="1"/>
          </p:cNvSpPr>
          <p:nvPr/>
        </p:nvSpPr>
        <p:spPr bwMode="auto">
          <a:xfrm>
            <a:off x="7327900" y="6553200"/>
            <a:ext cx="3340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sz="1400" dirty="0">
                <a:ea typeface="MS PGothic" panose="020B0600070205080204" pitchFamily="50" charset="-128"/>
              </a:rPr>
              <a:t>From Dan Klein’s CS 288 slides</a:t>
            </a:r>
          </a:p>
        </p:txBody>
      </p:sp>
      <p:graphicFrame>
        <p:nvGraphicFramePr>
          <p:cNvPr id="11" name="Object 5"/>
          <p:cNvGraphicFramePr>
            <a:graphicFrameLocks noChangeAspect="1"/>
          </p:cNvGraphicFramePr>
          <p:nvPr/>
        </p:nvGraphicFramePr>
        <p:xfrm>
          <a:off x="6377248" y="1499395"/>
          <a:ext cx="4176212" cy="506411"/>
        </p:xfrm>
        <a:graphic>
          <a:graphicData uri="http://schemas.openxmlformats.org/presentationml/2006/ole">
            <mc:AlternateContent xmlns:mc="http://schemas.openxmlformats.org/markup-compatibility/2006">
              <mc:Choice xmlns:v="urn:schemas-microsoft-com:vml" Requires="v">
                <p:oleObj name="Equation" r:id="rId4" imgW="1676160" imgH="203040" progId="Equation.3">
                  <p:embed/>
                </p:oleObj>
              </mc:Choice>
              <mc:Fallback>
                <p:oleObj name="Equation" r:id="rId4" imgW="1676160" imgH="203040" progId="Equation.3">
                  <p:embed/>
                  <p:pic>
                    <p:nvPicPr>
                      <p:cNvPr id="1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7248" y="1499395"/>
                        <a:ext cx="4176212" cy="50641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639436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en-US" altLang="ja-JP"/>
              <a:t> n-gram: Bigrams (n = 2)</a:t>
            </a:r>
          </a:p>
        </p:txBody>
      </p:sp>
      <p:pic>
        <p:nvPicPr>
          <p:cNvPr id="149510" name="Picture 6" descr="Snap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38406" y="1418301"/>
            <a:ext cx="8294808" cy="5203967"/>
          </a:xfrm>
        </p:spPr>
      </p:pic>
      <p:sp>
        <p:nvSpPr>
          <p:cNvPr id="149511" name="Text Box 7"/>
          <p:cNvSpPr txBox="1">
            <a:spLocks noChangeArrowheads="1"/>
          </p:cNvSpPr>
          <p:nvPr/>
        </p:nvSpPr>
        <p:spPr bwMode="auto">
          <a:xfrm>
            <a:off x="7327900" y="6553200"/>
            <a:ext cx="3340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sz="1400">
                <a:ea typeface="MS PGothic" panose="020B0600070205080204" pitchFamily="50" charset="-128"/>
              </a:rPr>
              <a:t>From Dan Klein’s CS 288 slides</a:t>
            </a:r>
          </a:p>
        </p:txBody>
      </p:sp>
    </p:spTree>
    <p:extLst>
      <p:ext uri="{BB962C8B-B14F-4D97-AF65-F5344CB8AC3E}">
        <p14:creationId xmlns:p14="http://schemas.microsoft.com/office/powerpoint/2010/main" val="5239077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r>
              <a:rPr lang="en-US" altLang="ja-JP"/>
              <a:t> n-gram: Trigrams (n = 3)</a:t>
            </a:r>
          </a:p>
        </p:txBody>
      </p:sp>
      <p:sp>
        <p:nvSpPr>
          <p:cNvPr id="6" name="コンテンツ プレースホルダー 5"/>
          <p:cNvSpPr>
            <a:spLocks noGrp="1"/>
          </p:cNvSpPr>
          <p:nvPr>
            <p:ph idx="1"/>
          </p:nvPr>
        </p:nvSpPr>
        <p:spPr/>
        <p:txBody>
          <a:bodyPr/>
          <a:lstStyle/>
          <a:p>
            <a:endParaRPr kumimoji="1" lang="ja-JP" altLang="en-US" dirty="0"/>
          </a:p>
        </p:txBody>
      </p:sp>
      <p:sp>
        <p:nvSpPr>
          <p:cNvPr id="150547" name="Text Box 19"/>
          <p:cNvSpPr txBox="1">
            <a:spLocks noChangeArrowheads="1"/>
          </p:cNvSpPr>
          <p:nvPr/>
        </p:nvSpPr>
        <p:spPr bwMode="auto">
          <a:xfrm>
            <a:off x="7327900" y="6553200"/>
            <a:ext cx="3340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sz="1400">
                <a:ea typeface="MS PGothic" panose="020B0600070205080204" pitchFamily="50" charset="-128"/>
              </a:rPr>
              <a:t>From Dan Klein’s CS 288 slides</a:t>
            </a:r>
          </a:p>
        </p:txBody>
      </p:sp>
      <p:graphicFrame>
        <p:nvGraphicFramePr>
          <p:cNvPr id="23" name="Object 13"/>
          <p:cNvGraphicFramePr>
            <a:graphicFrameLocks noChangeAspect="1"/>
          </p:cNvGraphicFramePr>
          <p:nvPr/>
        </p:nvGraphicFramePr>
        <p:xfrm>
          <a:off x="3635895" y="2839091"/>
          <a:ext cx="5203009" cy="764382"/>
        </p:xfrm>
        <a:graphic>
          <a:graphicData uri="http://schemas.openxmlformats.org/presentationml/2006/ole">
            <mc:AlternateContent xmlns:mc="http://schemas.openxmlformats.org/markup-compatibility/2006">
              <mc:Choice xmlns:v="urn:schemas-microsoft-com:vml" Requires="v">
                <p:oleObj name="Equation" r:id="rId2" imgW="2336760" imgH="342720" progId="Equation.3">
                  <p:embed/>
                </p:oleObj>
              </mc:Choice>
              <mc:Fallback>
                <p:oleObj name="Equation" r:id="rId2" imgW="2336760" imgH="342720" progId="Equation.3">
                  <p:embed/>
                  <p:pic>
                    <p:nvPicPr>
                      <p:cNvPr id="23"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895" y="2839091"/>
                        <a:ext cx="5203009" cy="764382"/>
                      </a:xfrm>
                      <a:prstGeom prst="rect">
                        <a:avLst/>
                      </a:prstGeom>
                      <a:noFill/>
                      <a:ln>
                        <a:noFill/>
                      </a:ln>
                      <a:effectLst/>
                    </p:spPr>
                  </p:pic>
                </p:oleObj>
              </mc:Fallback>
            </mc:AlternateContent>
          </a:graphicData>
        </a:graphic>
      </p:graphicFrame>
      <p:grpSp>
        <p:nvGrpSpPr>
          <p:cNvPr id="24" name="Group 17"/>
          <p:cNvGrpSpPr>
            <a:grpSpLocks/>
          </p:cNvGrpSpPr>
          <p:nvPr/>
        </p:nvGrpSpPr>
        <p:grpSpPr bwMode="auto">
          <a:xfrm>
            <a:off x="3886200" y="4267200"/>
            <a:ext cx="4114800" cy="609600"/>
            <a:chOff x="576" y="2304"/>
            <a:chExt cx="2592" cy="384"/>
          </a:xfrm>
        </p:grpSpPr>
        <p:sp>
          <p:nvSpPr>
            <p:cNvPr id="25" name="Oval 5"/>
            <p:cNvSpPr>
              <a:spLocks noChangeArrowheads="1"/>
            </p:cNvSpPr>
            <p:nvPr/>
          </p:nvSpPr>
          <p:spPr bwMode="auto">
            <a:xfrm>
              <a:off x="576" y="2304"/>
              <a:ext cx="384" cy="384"/>
            </a:xfrm>
            <a:prstGeom prst="ellipse">
              <a:avLst/>
            </a:prstGeom>
            <a:solidFill>
              <a:schemeClr val="accent1"/>
            </a:solidFill>
            <a:ln w="31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ja-JP" sz="1400">
                  <a:latin typeface="Verdana" panose="020B0604030504040204" pitchFamily="34" charset="0"/>
                  <a:ea typeface="MS PGothic" panose="020B0600070205080204" pitchFamily="50" charset="-128"/>
                </a:rPr>
                <a:t>W</a:t>
              </a:r>
              <a:r>
                <a:rPr lang="en-US" altLang="ja-JP" sz="1400" baseline="-25000">
                  <a:latin typeface="Verdana" panose="020B0604030504040204" pitchFamily="34" charset="0"/>
                  <a:ea typeface="MS PGothic" panose="020B0600070205080204" pitchFamily="50" charset="-128"/>
                </a:rPr>
                <a:t>1</a:t>
              </a:r>
            </a:p>
          </p:txBody>
        </p:sp>
        <p:sp>
          <p:nvSpPr>
            <p:cNvPr id="26" name="Oval 6"/>
            <p:cNvSpPr>
              <a:spLocks noChangeArrowheads="1"/>
            </p:cNvSpPr>
            <p:nvPr/>
          </p:nvSpPr>
          <p:spPr bwMode="auto">
            <a:xfrm>
              <a:off x="1104" y="2304"/>
              <a:ext cx="384" cy="384"/>
            </a:xfrm>
            <a:prstGeom prst="ellipse">
              <a:avLst/>
            </a:prstGeom>
            <a:solidFill>
              <a:schemeClr val="accent1"/>
            </a:solidFill>
            <a:ln w="31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ja-JP" sz="1400">
                  <a:latin typeface="Verdana" panose="020B0604030504040204" pitchFamily="34" charset="0"/>
                  <a:ea typeface="MS PGothic" panose="020B0600070205080204" pitchFamily="50" charset="-128"/>
                </a:rPr>
                <a:t>W</a:t>
              </a:r>
              <a:r>
                <a:rPr lang="en-US" altLang="ja-JP" sz="1400" baseline="-25000">
                  <a:latin typeface="Verdana" panose="020B0604030504040204" pitchFamily="34" charset="0"/>
                  <a:ea typeface="MS PGothic" panose="020B0600070205080204" pitchFamily="50" charset="-128"/>
                </a:rPr>
                <a:t>2</a:t>
              </a:r>
            </a:p>
          </p:txBody>
        </p:sp>
        <p:sp>
          <p:nvSpPr>
            <p:cNvPr id="27" name="Oval 7"/>
            <p:cNvSpPr>
              <a:spLocks noChangeArrowheads="1"/>
            </p:cNvSpPr>
            <p:nvPr/>
          </p:nvSpPr>
          <p:spPr bwMode="auto">
            <a:xfrm>
              <a:off x="2784" y="2304"/>
              <a:ext cx="384" cy="384"/>
            </a:xfrm>
            <a:prstGeom prst="ellipse">
              <a:avLst/>
            </a:prstGeom>
            <a:solidFill>
              <a:schemeClr val="accent1"/>
            </a:solidFill>
            <a:ln w="31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ja-JP" sz="1400">
                  <a:latin typeface="Verdana" panose="020B0604030504040204" pitchFamily="34" charset="0"/>
                  <a:ea typeface="MS PGothic" panose="020B0600070205080204" pitchFamily="50" charset="-128"/>
                </a:rPr>
                <a:t>W</a:t>
              </a:r>
              <a:r>
                <a:rPr lang="en-US" altLang="ja-JP" sz="1400" baseline="-25000">
                  <a:latin typeface="Verdana" panose="020B0604030504040204" pitchFamily="34" charset="0"/>
                  <a:ea typeface="MS PGothic" panose="020B0600070205080204" pitchFamily="50" charset="-128"/>
                </a:rPr>
                <a:t>N</a:t>
              </a:r>
            </a:p>
          </p:txBody>
        </p:sp>
        <p:sp>
          <p:nvSpPr>
            <p:cNvPr id="28" name="Text Box 8"/>
            <p:cNvSpPr txBox="1">
              <a:spLocks noChangeArrowheads="1"/>
            </p:cNvSpPr>
            <p:nvPr/>
          </p:nvSpPr>
          <p:spPr bwMode="auto">
            <a:xfrm>
              <a:off x="2016" y="2304"/>
              <a:ext cx="4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ja-JP" sz="2400" b="1">
                  <a:latin typeface="Verdana" panose="020B0604030504040204" pitchFamily="34" charset="0"/>
                  <a:ea typeface="MS PGothic" panose="020B0600070205080204" pitchFamily="50" charset="-128"/>
                </a:rPr>
                <a:t>. . .</a:t>
              </a:r>
            </a:p>
          </p:txBody>
        </p:sp>
        <p:sp>
          <p:nvSpPr>
            <p:cNvPr id="29" name="Line 9"/>
            <p:cNvSpPr>
              <a:spLocks noChangeShapeType="1"/>
            </p:cNvSpPr>
            <p:nvPr/>
          </p:nvSpPr>
          <p:spPr bwMode="auto">
            <a:xfrm>
              <a:off x="960" y="2496"/>
              <a:ext cx="14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0" name="Line 10"/>
            <p:cNvSpPr>
              <a:spLocks noChangeShapeType="1"/>
            </p:cNvSpPr>
            <p:nvPr/>
          </p:nvSpPr>
          <p:spPr bwMode="auto">
            <a:xfrm>
              <a:off x="1488" y="2496"/>
              <a:ext cx="14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1" name="Line 11"/>
            <p:cNvSpPr>
              <a:spLocks noChangeShapeType="1"/>
            </p:cNvSpPr>
            <p:nvPr/>
          </p:nvSpPr>
          <p:spPr bwMode="auto">
            <a:xfrm>
              <a:off x="2592" y="2496"/>
              <a:ext cx="1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2" name="Oval 12"/>
            <p:cNvSpPr>
              <a:spLocks noChangeArrowheads="1"/>
            </p:cNvSpPr>
            <p:nvPr/>
          </p:nvSpPr>
          <p:spPr bwMode="auto">
            <a:xfrm>
              <a:off x="1632" y="2304"/>
              <a:ext cx="384" cy="384"/>
            </a:xfrm>
            <a:prstGeom prst="ellipse">
              <a:avLst/>
            </a:prstGeom>
            <a:solidFill>
              <a:schemeClr val="accent1"/>
            </a:solidFill>
            <a:ln w="31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ja-JP" sz="1400">
                  <a:latin typeface="Verdana" panose="020B0604030504040204" pitchFamily="34" charset="0"/>
                  <a:ea typeface="MS PGothic" panose="020B0600070205080204" pitchFamily="50" charset="-128"/>
                </a:rPr>
                <a:t>W</a:t>
              </a:r>
              <a:r>
                <a:rPr lang="en-US" altLang="ja-JP" sz="1400" baseline="-25000">
                  <a:latin typeface="Verdana" panose="020B0604030504040204" pitchFamily="34" charset="0"/>
                  <a:ea typeface="MS PGothic" panose="020B0600070205080204" pitchFamily="50" charset="-128"/>
                </a:rPr>
                <a:t>3</a:t>
              </a:r>
            </a:p>
          </p:txBody>
        </p:sp>
        <p:cxnSp>
          <p:nvCxnSpPr>
            <p:cNvPr id="33" name="AutoShape 14"/>
            <p:cNvCxnSpPr>
              <a:cxnSpLocks noChangeShapeType="1"/>
              <a:stCxn id="25" idx="0"/>
              <a:endCxn id="32" idx="0"/>
            </p:cNvCxnSpPr>
            <p:nvPr/>
          </p:nvCxnSpPr>
          <p:spPr bwMode="auto">
            <a:xfrm rot="5400000" flipV="1">
              <a:off x="1295" y="1777"/>
              <a:ext cx="1" cy="1056"/>
            </a:xfrm>
            <a:prstGeom prst="curvedConnector3">
              <a:avLst>
                <a:gd name="adj1" fmla="val -14400000"/>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AutoShape 15"/>
            <p:cNvCxnSpPr>
              <a:cxnSpLocks noChangeShapeType="1"/>
            </p:cNvCxnSpPr>
            <p:nvPr/>
          </p:nvCxnSpPr>
          <p:spPr bwMode="auto">
            <a:xfrm rot="5400000" flipV="1">
              <a:off x="1823" y="1777"/>
              <a:ext cx="1" cy="1056"/>
            </a:xfrm>
            <a:prstGeom prst="curvedConnector3">
              <a:avLst>
                <a:gd name="adj1" fmla="val -14400000"/>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AutoShape 16"/>
            <p:cNvCxnSpPr>
              <a:cxnSpLocks noChangeShapeType="1"/>
              <a:stCxn id="28" idx="3"/>
              <a:endCxn id="27" idx="1"/>
            </p:cNvCxnSpPr>
            <p:nvPr/>
          </p:nvCxnSpPr>
          <p:spPr bwMode="auto">
            <a:xfrm flipV="1">
              <a:off x="2471" y="2360"/>
              <a:ext cx="369" cy="88"/>
            </a:xfrm>
            <a:prstGeom prst="curvedConnector4">
              <a:avLst>
                <a:gd name="adj1" fmla="val 0"/>
                <a:gd name="adj2" fmla="val 327273"/>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aphicFrame>
        <p:nvGraphicFramePr>
          <p:cNvPr id="36" name="Object 18"/>
          <p:cNvGraphicFramePr>
            <a:graphicFrameLocks noChangeAspect="1"/>
          </p:cNvGraphicFramePr>
          <p:nvPr/>
        </p:nvGraphicFramePr>
        <p:xfrm>
          <a:off x="3156528" y="2117887"/>
          <a:ext cx="5420158" cy="460366"/>
        </p:xfrm>
        <a:graphic>
          <a:graphicData uri="http://schemas.openxmlformats.org/presentationml/2006/ole">
            <mc:AlternateContent xmlns:mc="http://schemas.openxmlformats.org/markup-compatibility/2006">
              <mc:Choice xmlns:v="urn:schemas-microsoft-com:vml" Requires="v">
                <p:oleObj name="Equation" r:id="rId4" imgW="2387520" imgH="203040" progId="Equation.3">
                  <p:embed/>
                </p:oleObj>
              </mc:Choice>
              <mc:Fallback>
                <p:oleObj name="Equation" r:id="rId4" imgW="2387520" imgH="203040" progId="Equation.3">
                  <p:embed/>
                  <p:pic>
                    <p:nvPicPr>
                      <p:cNvPr id="36"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6528" y="2117887"/>
                        <a:ext cx="5420158" cy="46036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512007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US" altLang="ja-JP" dirty="0"/>
              <a:t>Choice of </a:t>
            </a:r>
            <a:r>
              <a:rPr lang="en-US" altLang="ja-JP" i="1" dirty="0"/>
              <a:t>n</a:t>
            </a:r>
            <a:endParaRPr lang="en-US" altLang="ja-JP" dirty="0"/>
          </a:p>
        </p:txBody>
      </p:sp>
      <p:sp>
        <p:nvSpPr>
          <p:cNvPr id="3" name="コンテンツ プレースホルダー 2"/>
          <p:cNvSpPr>
            <a:spLocks noGrp="1"/>
          </p:cNvSpPr>
          <p:nvPr>
            <p:ph idx="1"/>
          </p:nvPr>
        </p:nvSpPr>
        <p:spPr/>
        <p:txBody>
          <a:bodyPr/>
          <a:lstStyle/>
          <a:p>
            <a:r>
              <a:rPr lang="en-US" altLang="ja-JP" dirty="0">
                <a:ea typeface="MS PGothic" panose="020B0600070205080204" pitchFamily="50" charset="-128"/>
              </a:rPr>
              <a:t>In principle we would like the </a:t>
            </a:r>
            <a:r>
              <a:rPr lang="en-US" altLang="ja-JP" i="1" dirty="0">
                <a:ea typeface="MS PGothic" panose="020B0600070205080204" pitchFamily="50" charset="-128"/>
              </a:rPr>
              <a:t>n</a:t>
            </a:r>
            <a:r>
              <a:rPr lang="en-US" altLang="ja-JP" dirty="0">
                <a:ea typeface="MS PGothic" panose="020B0600070205080204" pitchFamily="50" charset="-128"/>
              </a:rPr>
              <a:t> of the </a:t>
            </a:r>
            <a:r>
              <a:rPr lang="en-US" altLang="ja-JP" i="1" dirty="0">
                <a:ea typeface="MS PGothic" panose="020B0600070205080204" pitchFamily="50" charset="-128"/>
              </a:rPr>
              <a:t>n</a:t>
            </a:r>
            <a:r>
              <a:rPr lang="en-US" altLang="ja-JP" dirty="0">
                <a:ea typeface="MS PGothic" panose="020B0600070205080204" pitchFamily="50" charset="-128"/>
              </a:rPr>
              <a:t>-gram to be large</a:t>
            </a:r>
          </a:p>
          <a:p>
            <a:pPr lvl="1"/>
            <a:r>
              <a:rPr lang="en-US" altLang="ja-JP" i="1" dirty="0">
                <a:ea typeface="MS PGothic" panose="020B0600070205080204" pitchFamily="50" charset="-128"/>
              </a:rPr>
              <a:t>green</a:t>
            </a:r>
          </a:p>
          <a:p>
            <a:pPr lvl="1"/>
            <a:r>
              <a:rPr lang="en-US" altLang="ja-JP" i="1" dirty="0">
                <a:ea typeface="MS PGothic" panose="020B0600070205080204" pitchFamily="50" charset="-128"/>
              </a:rPr>
              <a:t>large green</a:t>
            </a:r>
          </a:p>
          <a:p>
            <a:pPr lvl="1"/>
            <a:r>
              <a:rPr lang="en-US" altLang="ja-JP" i="1" dirty="0">
                <a:ea typeface="MS PGothic" panose="020B0600070205080204" pitchFamily="50" charset="-128"/>
              </a:rPr>
              <a:t>the large green</a:t>
            </a:r>
          </a:p>
          <a:p>
            <a:pPr lvl="1"/>
            <a:r>
              <a:rPr lang="en-US" altLang="ja-JP" i="1" dirty="0">
                <a:ea typeface="MS PGothic" panose="020B0600070205080204" pitchFamily="50" charset="-128"/>
              </a:rPr>
              <a:t>swallowed the large green</a:t>
            </a:r>
          </a:p>
          <a:p>
            <a:pPr lvl="1"/>
            <a:r>
              <a:rPr lang="en-US" altLang="ja-JP" i="1" dirty="0">
                <a:ea typeface="MS PGothic" panose="020B0600070205080204" pitchFamily="50" charset="-128"/>
              </a:rPr>
              <a:t>swallowed </a:t>
            </a:r>
            <a:r>
              <a:rPr lang="en-US" altLang="ja-JP" dirty="0">
                <a:ea typeface="MS PGothic" panose="020B0600070205080204" pitchFamily="50" charset="-128"/>
              </a:rPr>
              <a:t>should influence the choice of the next word (</a:t>
            </a:r>
            <a:r>
              <a:rPr lang="en-US" altLang="ja-JP" i="1" dirty="0">
                <a:ea typeface="MS PGothic" panose="020B0600070205080204" pitchFamily="50" charset="-128"/>
              </a:rPr>
              <a:t>mountain</a:t>
            </a:r>
            <a:r>
              <a:rPr lang="en-US" altLang="ja-JP" dirty="0">
                <a:ea typeface="MS PGothic" panose="020B0600070205080204" pitchFamily="50" charset="-128"/>
              </a:rPr>
              <a:t> is unlikely, </a:t>
            </a:r>
            <a:r>
              <a:rPr lang="en-US" altLang="ja-JP" i="1" dirty="0">
                <a:ea typeface="MS PGothic" panose="020B0600070205080204" pitchFamily="50" charset="-128"/>
              </a:rPr>
              <a:t>pea</a:t>
            </a:r>
            <a:r>
              <a:rPr lang="en-US" altLang="ja-JP" dirty="0">
                <a:ea typeface="MS PGothic" panose="020B0600070205080204" pitchFamily="50" charset="-128"/>
              </a:rPr>
              <a:t> more likely)</a:t>
            </a:r>
          </a:p>
          <a:p>
            <a:pPr lvl="1"/>
            <a:r>
              <a:rPr lang="en-US" altLang="ja-JP" i="1" dirty="0">
                <a:ea typeface="MS PGothic" panose="020B0600070205080204" pitchFamily="50" charset="-128"/>
              </a:rPr>
              <a:t>The crocodile swallowed the large green ..</a:t>
            </a:r>
          </a:p>
          <a:p>
            <a:pPr lvl="1"/>
            <a:r>
              <a:rPr lang="en-US" altLang="ja-JP" i="1" dirty="0">
                <a:ea typeface="MS PGothic" panose="020B0600070205080204" pitchFamily="50" charset="-128"/>
              </a:rPr>
              <a:t>Mary swallowed the large green ..</a:t>
            </a:r>
          </a:p>
          <a:p>
            <a:pPr lvl="1"/>
            <a:r>
              <a:rPr lang="en-US" altLang="ja-JP" dirty="0">
                <a:ea typeface="MS PGothic" panose="020B0600070205080204" pitchFamily="50" charset="-128"/>
              </a:rPr>
              <a:t>And so on…</a:t>
            </a:r>
          </a:p>
          <a:p>
            <a:endParaRPr lang="en-US" altLang="ja-JP" dirty="0">
              <a:ea typeface="MS PGothic" panose="020B0600070205080204" pitchFamily="50" charset="-128"/>
            </a:endParaRPr>
          </a:p>
          <a:p>
            <a:endParaRPr kumimoji="1" lang="ja-JP" altLang="en-US" dirty="0"/>
          </a:p>
        </p:txBody>
      </p:sp>
    </p:spTree>
    <p:extLst>
      <p:ext uri="{BB962C8B-B14F-4D97-AF65-F5344CB8AC3E}">
        <p14:creationId xmlns:p14="http://schemas.microsoft.com/office/powerpoint/2010/main" val="32603683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US" altLang="ja-JP" dirty="0"/>
              <a:t>Discrimination vs. Reliability</a:t>
            </a:r>
          </a:p>
        </p:txBody>
      </p:sp>
      <p:sp>
        <p:nvSpPr>
          <p:cNvPr id="3" name="コンテンツ プレースホルダー 2"/>
          <p:cNvSpPr>
            <a:spLocks noGrp="1"/>
          </p:cNvSpPr>
          <p:nvPr>
            <p:ph idx="1"/>
          </p:nvPr>
        </p:nvSpPr>
        <p:spPr/>
        <p:txBody>
          <a:bodyPr/>
          <a:lstStyle/>
          <a:p>
            <a:r>
              <a:rPr lang="en-US" altLang="ja-JP" dirty="0">
                <a:ea typeface="MS PGothic" panose="020B0600070205080204" pitchFamily="50" charset="-128"/>
              </a:rPr>
              <a:t>Looking at longer histories (large </a:t>
            </a:r>
            <a:r>
              <a:rPr lang="en-US" altLang="ja-JP" i="1" dirty="0">
                <a:ea typeface="MS PGothic" panose="020B0600070205080204" pitchFamily="50" charset="-128"/>
              </a:rPr>
              <a:t>n</a:t>
            </a:r>
            <a:r>
              <a:rPr lang="en-US" altLang="ja-JP" dirty="0">
                <a:ea typeface="MS PGothic" panose="020B0600070205080204" pitchFamily="50" charset="-128"/>
              </a:rPr>
              <a:t>) should allows us to make better prediction (better discrimination)</a:t>
            </a:r>
          </a:p>
          <a:p>
            <a:r>
              <a:rPr lang="en-US" altLang="ja-JP" dirty="0">
                <a:ea typeface="MS PGothic" panose="020B0600070205080204" pitchFamily="50" charset="-128"/>
              </a:rPr>
              <a:t>But it’s much harder to get reliable statistics since the number of parameters to estimate becomes too large </a:t>
            </a:r>
          </a:p>
          <a:p>
            <a:pPr lvl="1"/>
            <a:r>
              <a:rPr lang="en-US" altLang="ja-JP" dirty="0">
                <a:ea typeface="MS PGothic" panose="020B0600070205080204" pitchFamily="50" charset="-128"/>
              </a:rPr>
              <a:t> The larger </a:t>
            </a:r>
            <a:r>
              <a:rPr lang="en-US" altLang="ja-JP" i="1" dirty="0">
                <a:ea typeface="MS PGothic" panose="020B0600070205080204" pitchFamily="50" charset="-128"/>
              </a:rPr>
              <a:t>n</a:t>
            </a:r>
            <a:r>
              <a:rPr lang="en-US" altLang="ja-JP" dirty="0">
                <a:ea typeface="MS PGothic" panose="020B0600070205080204" pitchFamily="50" charset="-128"/>
              </a:rPr>
              <a:t>, the larger the number of parameters to estimate, the larger the data needed to do statistically reliable estimations</a:t>
            </a:r>
          </a:p>
          <a:p>
            <a:endParaRPr kumimoji="1" lang="ja-JP" altLang="en-US" dirty="0"/>
          </a:p>
        </p:txBody>
      </p:sp>
    </p:spTree>
    <p:extLst>
      <p:ext uri="{BB962C8B-B14F-4D97-AF65-F5344CB8AC3E}">
        <p14:creationId xmlns:p14="http://schemas.microsoft.com/office/powerpoint/2010/main" val="16727245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en-US" altLang="ja-JP" dirty="0">
                <a:ea typeface="MS PGothic" panose="020B0600070205080204" pitchFamily="50" charset="-128"/>
              </a:rPr>
              <a:t>Language Models</a:t>
            </a:r>
          </a:p>
        </p:txBody>
      </p:sp>
      <p:sp>
        <p:nvSpPr>
          <p:cNvPr id="4" name="コンテンツ プレースホルダー 3"/>
          <p:cNvSpPr>
            <a:spLocks noGrp="1"/>
          </p:cNvSpPr>
          <p:nvPr>
            <p:ph idx="1"/>
          </p:nvPr>
        </p:nvSpPr>
        <p:spPr/>
        <p:txBody>
          <a:bodyPr/>
          <a:lstStyle/>
          <a:p>
            <a:r>
              <a:rPr lang="en-US" altLang="ja-JP" dirty="0">
                <a:ea typeface="MS PGothic" panose="020B0600070205080204" pitchFamily="50" charset="-128"/>
              </a:rPr>
              <a:t>N size of vocabulary</a:t>
            </a:r>
          </a:p>
          <a:p>
            <a:r>
              <a:rPr lang="en-US" altLang="ja-JP" dirty="0">
                <a:ea typeface="MS PGothic" panose="020B0600070205080204" pitchFamily="50" charset="-128"/>
              </a:rPr>
              <a:t>Unigrams</a:t>
            </a:r>
          </a:p>
          <a:p>
            <a:endParaRPr lang="en-US" altLang="ja-JP" dirty="0">
              <a:ea typeface="MS PGothic" panose="020B0600070205080204" pitchFamily="50" charset="-128"/>
            </a:endParaRPr>
          </a:p>
          <a:p>
            <a:pPr marL="0" indent="0">
              <a:buNone/>
            </a:pPr>
            <a:endParaRPr lang="en-US" altLang="ja-JP" sz="1400" dirty="0">
              <a:ea typeface="MS PGothic" panose="020B0600070205080204" pitchFamily="50" charset="-128"/>
            </a:endParaRPr>
          </a:p>
          <a:p>
            <a:r>
              <a:rPr lang="en-US" altLang="ja-JP" dirty="0">
                <a:ea typeface="MS PGothic" panose="020B0600070205080204" pitchFamily="50" charset="-128"/>
              </a:rPr>
              <a:t>Bi-grams</a:t>
            </a:r>
          </a:p>
          <a:p>
            <a:endParaRPr lang="en-US" altLang="ja-JP" dirty="0">
              <a:ea typeface="MS PGothic" panose="020B0600070205080204" pitchFamily="50" charset="-128"/>
            </a:endParaRPr>
          </a:p>
          <a:p>
            <a:endParaRPr lang="en-US" altLang="ja-JP" sz="1400" dirty="0">
              <a:ea typeface="MS PGothic" panose="020B0600070205080204" pitchFamily="50" charset="-128"/>
            </a:endParaRPr>
          </a:p>
          <a:p>
            <a:r>
              <a:rPr lang="en-US" altLang="ja-JP" dirty="0">
                <a:ea typeface="MS PGothic" panose="020B0600070205080204" pitchFamily="50" charset="-128"/>
              </a:rPr>
              <a:t>Tri-grams</a:t>
            </a:r>
          </a:p>
          <a:p>
            <a:pPr>
              <a:buFontTx/>
              <a:buNone/>
            </a:pPr>
            <a:endParaRPr lang="en-US" altLang="ja-JP" dirty="0">
              <a:ea typeface="MS PGothic" panose="020B0600070205080204" pitchFamily="50" charset="-128"/>
            </a:endParaRPr>
          </a:p>
          <a:p>
            <a:endParaRPr kumimoji="1" lang="ja-JP" altLang="en-US" dirty="0"/>
          </a:p>
        </p:txBody>
      </p:sp>
      <p:sp>
        <p:nvSpPr>
          <p:cNvPr id="16" name="Rectangle 3"/>
          <p:cNvSpPr txBox="1">
            <a:spLocks noChangeArrowheads="1"/>
          </p:cNvSpPr>
          <p:nvPr/>
        </p:nvSpPr>
        <p:spPr>
          <a:xfrm>
            <a:off x="1981200" y="1600201"/>
            <a:ext cx="76962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FontTx/>
              <a:buNone/>
            </a:pPr>
            <a:endParaRPr lang="en-US" altLang="ja-JP" dirty="0">
              <a:ea typeface="MS PGothic" panose="020B0600070205080204" pitchFamily="50" charset="-128"/>
            </a:endParaRPr>
          </a:p>
        </p:txBody>
      </p:sp>
      <p:graphicFrame>
        <p:nvGraphicFramePr>
          <p:cNvPr id="17" name="Object 18"/>
          <p:cNvGraphicFramePr>
            <a:graphicFrameLocks noChangeAspect="1"/>
          </p:cNvGraphicFramePr>
          <p:nvPr/>
        </p:nvGraphicFramePr>
        <p:xfrm>
          <a:off x="1905000" y="4190999"/>
          <a:ext cx="3570888" cy="602566"/>
        </p:xfrm>
        <a:graphic>
          <a:graphicData uri="http://schemas.openxmlformats.org/presentationml/2006/ole">
            <mc:AlternateContent xmlns:mc="http://schemas.openxmlformats.org/markup-compatibility/2006">
              <mc:Choice xmlns:v="urn:schemas-microsoft-com:vml" Requires="v">
                <p:oleObj name="Equation" r:id="rId3" imgW="2031840" imgH="342720" progId="Equation.3">
                  <p:embed/>
                </p:oleObj>
              </mc:Choice>
              <mc:Fallback>
                <p:oleObj name="Equation" r:id="rId3" imgW="2031840" imgH="342720" progId="Equation.3">
                  <p:embed/>
                  <p:pic>
                    <p:nvPicPr>
                      <p:cNvPr id="17"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4190999"/>
                        <a:ext cx="3570888" cy="602566"/>
                      </a:xfrm>
                      <a:prstGeom prst="rect">
                        <a:avLst/>
                      </a:prstGeom>
                      <a:noFill/>
                      <a:ln>
                        <a:noFill/>
                      </a:ln>
                      <a:effectLst/>
                    </p:spPr>
                  </p:pic>
                </p:oleObj>
              </mc:Fallback>
            </mc:AlternateContent>
          </a:graphicData>
        </a:graphic>
      </p:graphicFrame>
      <p:graphicFrame>
        <p:nvGraphicFramePr>
          <p:cNvPr id="18" name="Object 27"/>
          <p:cNvGraphicFramePr>
            <a:graphicFrameLocks noChangeAspect="1"/>
          </p:cNvGraphicFramePr>
          <p:nvPr/>
        </p:nvGraphicFramePr>
        <p:xfrm>
          <a:off x="1828801" y="5503025"/>
          <a:ext cx="3803650" cy="558800"/>
        </p:xfrm>
        <a:graphic>
          <a:graphicData uri="http://schemas.openxmlformats.org/presentationml/2006/ole">
            <mc:AlternateContent xmlns:mc="http://schemas.openxmlformats.org/markup-compatibility/2006">
              <mc:Choice xmlns:v="urn:schemas-microsoft-com:vml" Requires="v">
                <p:oleObj name="Equation" r:id="rId5" imgW="2336760" imgH="342720" progId="Equation.3">
                  <p:embed/>
                </p:oleObj>
              </mc:Choice>
              <mc:Fallback>
                <p:oleObj name="Equation" r:id="rId5" imgW="2336760" imgH="342720" progId="Equation.3">
                  <p:embed/>
                  <p:pic>
                    <p:nvPicPr>
                      <p:cNvPr id="18"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1" y="5503025"/>
                        <a:ext cx="380365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31"/>
          <p:cNvGraphicFramePr>
            <a:graphicFrameLocks noChangeAspect="1"/>
          </p:cNvGraphicFramePr>
          <p:nvPr/>
        </p:nvGraphicFramePr>
        <p:xfrm>
          <a:off x="1905000" y="2819401"/>
          <a:ext cx="3606800" cy="436563"/>
        </p:xfrm>
        <a:graphic>
          <a:graphicData uri="http://schemas.openxmlformats.org/presentationml/2006/ole">
            <mc:AlternateContent xmlns:mc="http://schemas.openxmlformats.org/markup-compatibility/2006">
              <mc:Choice xmlns:v="urn:schemas-microsoft-com:vml" Requires="v">
                <p:oleObj name="Equation" r:id="rId7" imgW="1676160" imgH="203040" progId="Equation.3">
                  <p:embed/>
                </p:oleObj>
              </mc:Choice>
              <mc:Fallback>
                <p:oleObj name="Equation" r:id="rId7" imgW="1676160" imgH="203040" progId="Equation.3">
                  <p:embed/>
                  <p:pic>
                    <p:nvPicPr>
                      <p:cNvPr id="19"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2819401"/>
                        <a:ext cx="3606800"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AutoShape 35"/>
          <p:cNvSpPr>
            <a:spLocks noChangeArrowheads="1"/>
          </p:cNvSpPr>
          <p:nvPr/>
        </p:nvSpPr>
        <p:spPr bwMode="auto">
          <a:xfrm>
            <a:off x="5715000" y="2819400"/>
            <a:ext cx="838200" cy="304800"/>
          </a:xfrm>
          <a:prstGeom prst="rightArrow">
            <a:avLst>
              <a:gd name="adj1" fmla="val 50000"/>
              <a:gd name="adj2" fmla="val 687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1" name="Rectangle 36"/>
          <p:cNvSpPr>
            <a:spLocks noChangeArrowheads="1"/>
          </p:cNvSpPr>
          <p:nvPr/>
        </p:nvSpPr>
        <p:spPr bwMode="auto">
          <a:xfrm>
            <a:off x="6705600" y="2743201"/>
            <a:ext cx="37834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dirty="0">
                <a:ea typeface="MS PGothic" panose="020B0600070205080204" pitchFamily="50" charset="-128"/>
              </a:rPr>
              <a:t>For each </a:t>
            </a:r>
            <a:r>
              <a:rPr lang="en-US" altLang="ja-JP" i="1" dirty="0" err="1">
                <a:ea typeface="MS PGothic" panose="020B0600070205080204" pitchFamily="50" charset="-128"/>
              </a:rPr>
              <a:t>w</a:t>
            </a:r>
            <a:r>
              <a:rPr lang="en-US" altLang="ja-JP" i="1" baseline="-25000" dirty="0" err="1">
                <a:ea typeface="MS PGothic" panose="020B0600070205080204" pitchFamily="50" charset="-128"/>
              </a:rPr>
              <a:t>i</a:t>
            </a:r>
            <a:r>
              <a:rPr lang="en-US" altLang="ja-JP" dirty="0">
                <a:ea typeface="MS PGothic" panose="020B0600070205080204" pitchFamily="50" charset="-128"/>
              </a:rPr>
              <a:t> calculate </a:t>
            </a:r>
            <a:r>
              <a:rPr lang="en-US" altLang="ja-JP" i="1" dirty="0">
                <a:ea typeface="MS PGothic" panose="020B0600070205080204" pitchFamily="50" charset="-128"/>
              </a:rPr>
              <a:t>P(</a:t>
            </a:r>
            <a:r>
              <a:rPr lang="en-US" altLang="ja-JP" i="1" dirty="0" err="1">
                <a:ea typeface="MS PGothic" panose="020B0600070205080204" pitchFamily="50" charset="-128"/>
              </a:rPr>
              <a:t>w</a:t>
            </a:r>
            <a:r>
              <a:rPr lang="en-US" altLang="ja-JP" i="1" baseline="-25000" dirty="0" err="1">
                <a:ea typeface="MS PGothic" panose="020B0600070205080204" pitchFamily="50" charset="-128"/>
              </a:rPr>
              <a:t>i</a:t>
            </a:r>
            <a:r>
              <a:rPr lang="en-US" altLang="ja-JP" i="1" dirty="0">
                <a:ea typeface="MS PGothic" panose="020B0600070205080204" pitchFamily="50" charset="-128"/>
              </a:rPr>
              <a:t>):</a:t>
            </a:r>
          </a:p>
          <a:p>
            <a:r>
              <a:rPr lang="en-US" altLang="ja-JP" i="1" dirty="0">
                <a:ea typeface="MS PGothic" panose="020B0600070205080204" pitchFamily="50" charset="-128"/>
              </a:rPr>
              <a:t>N </a:t>
            </a:r>
            <a:r>
              <a:rPr lang="en-US" altLang="ja-JP" dirty="0">
                <a:ea typeface="MS PGothic" panose="020B0600070205080204" pitchFamily="50" charset="-128"/>
              </a:rPr>
              <a:t>of such numbers:</a:t>
            </a:r>
            <a:r>
              <a:rPr lang="en-US" altLang="ja-JP" i="1" dirty="0">
                <a:ea typeface="MS PGothic" panose="020B0600070205080204" pitchFamily="50" charset="-128"/>
              </a:rPr>
              <a:t> N p</a:t>
            </a:r>
            <a:r>
              <a:rPr lang="en-US" altLang="ja-JP" dirty="0">
                <a:ea typeface="MS PGothic" panose="020B0600070205080204" pitchFamily="50" charset="-128"/>
              </a:rPr>
              <a:t>arameters</a:t>
            </a:r>
          </a:p>
        </p:txBody>
      </p:sp>
      <p:sp>
        <p:nvSpPr>
          <p:cNvPr id="22" name="AutoShape 39"/>
          <p:cNvSpPr>
            <a:spLocks noChangeArrowheads="1"/>
          </p:cNvSpPr>
          <p:nvPr/>
        </p:nvSpPr>
        <p:spPr bwMode="auto">
          <a:xfrm>
            <a:off x="5715000" y="4205288"/>
            <a:ext cx="838200" cy="304800"/>
          </a:xfrm>
          <a:prstGeom prst="rightArrow">
            <a:avLst>
              <a:gd name="adj1" fmla="val 50000"/>
              <a:gd name="adj2" fmla="val 687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3" name="Rectangle 40"/>
          <p:cNvSpPr>
            <a:spLocks noChangeArrowheads="1"/>
          </p:cNvSpPr>
          <p:nvPr/>
        </p:nvSpPr>
        <p:spPr bwMode="auto">
          <a:xfrm>
            <a:off x="6775450" y="5486400"/>
            <a:ext cx="473074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ja-JP" dirty="0">
                <a:ea typeface="MS PGothic" panose="020B0600070205080204" pitchFamily="50" charset="-128"/>
              </a:rPr>
              <a:t>For each </a:t>
            </a:r>
            <a:r>
              <a:rPr lang="en-US" altLang="ja-JP" i="1" dirty="0" err="1">
                <a:ea typeface="MS PGothic" panose="020B0600070205080204" pitchFamily="50" charset="-128"/>
              </a:rPr>
              <a:t>w</a:t>
            </a:r>
            <a:r>
              <a:rPr lang="en-US" altLang="ja-JP" i="1" baseline="-25000" dirty="0" err="1">
                <a:ea typeface="MS PGothic" panose="020B0600070205080204" pitchFamily="50" charset="-128"/>
              </a:rPr>
              <a:t>i</a:t>
            </a:r>
            <a:r>
              <a:rPr lang="en-US" altLang="ja-JP" i="1" baseline="-25000" dirty="0">
                <a:ea typeface="MS PGothic" panose="020B0600070205080204" pitchFamily="50" charset="-128"/>
              </a:rPr>
              <a:t>, </a:t>
            </a:r>
            <a:r>
              <a:rPr lang="en-US" altLang="ja-JP" i="1" dirty="0" err="1">
                <a:ea typeface="MS PGothic" panose="020B0600070205080204" pitchFamily="50" charset="-128"/>
              </a:rPr>
              <a:t>w</a:t>
            </a:r>
            <a:r>
              <a:rPr lang="en-US" altLang="ja-JP" i="1" baseline="-25000" dirty="0" err="1">
                <a:ea typeface="MS PGothic" panose="020B0600070205080204" pitchFamily="50" charset="-128"/>
              </a:rPr>
              <a:t>j</a:t>
            </a:r>
            <a:r>
              <a:rPr lang="en-US" altLang="ja-JP" dirty="0">
                <a:ea typeface="MS PGothic" panose="020B0600070205080204" pitchFamily="50" charset="-128"/>
              </a:rPr>
              <a:t> </a:t>
            </a:r>
            <a:r>
              <a:rPr lang="en-US" altLang="ja-JP" i="1" dirty="0" err="1">
                <a:ea typeface="MS PGothic" panose="020B0600070205080204" pitchFamily="50" charset="-128"/>
              </a:rPr>
              <a:t>w</a:t>
            </a:r>
            <a:r>
              <a:rPr lang="en-US" altLang="ja-JP" i="1" baseline="-25000" dirty="0" err="1">
                <a:ea typeface="MS PGothic" panose="020B0600070205080204" pitchFamily="50" charset="-128"/>
              </a:rPr>
              <a:t>k</a:t>
            </a:r>
            <a:r>
              <a:rPr lang="en-US" altLang="ja-JP" dirty="0">
                <a:ea typeface="MS PGothic" panose="020B0600070205080204" pitchFamily="50" charset="-128"/>
              </a:rPr>
              <a:t> </a:t>
            </a:r>
          </a:p>
          <a:p>
            <a:r>
              <a:rPr lang="en-US" altLang="ja-JP" dirty="0">
                <a:ea typeface="MS PGothic" panose="020B0600070205080204" pitchFamily="50" charset="-128"/>
              </a:rPr>
              <a:t>calculate </a:t>
            </a:r>
            <a:r>
              <a:rPr lang="en-US" altLang="ja-JP" i="1" dirty="0">
                <a:ea typeface="MS PGothic" panose="020B0600070205080204" pitchFamily="50" charset="-128"/>
              </a:rPr>
              <a:t>P(</a:t>
            </a:r>
            <a:r>
              <a:rPr lang="en-US" altLang="ja-JP" i="1" dirty="0" err="1">
                <a:ea typeface="MS PGothic" panose="020B0600070205080204" pitchFamily="50" charset="-128"/>
              </a:rPr>
              <a:t>w</a:t>
            </a:r>
            <a:r>
              <a:rPr lang="en-US" altLang="ja-JP" i="1" baseline="-25000" dirty="0" err="1">
                <a:ea typeface="MS PGothic" panose="020B0600070205080204" pitchFamily="50" charset="-128"/>
              </a:rPr>
              <a:t>i</a:t>
            </a:r>
            <a:r>
              <a:rPr lang="en-US" altLang="ja-JP" dirty="0">
                <a:ea typeface="MS PGothic" panose="020B0600070205080204" pitchFamily="50" charset="-128"/>
              </a:rPr>
              <a:t> </a:t>
            </a:r>
            <a:r>
              <a:rPr lang="en-US" altLang="ja-JP" i="1" dirty="0">
                <a:ea typeface="MS PGothic" panose="020B0600070205080204" pitchFamily="50" charset="-128"/>
              </a:rPr>
              <a:t>| </a:t>
            </a:r>
            <a:r>
              <a:rPr lang="en-US" altLang="ja-JP" i="1" dirty="0" err="1">
                <a:ea typeface="MS PGothic" panose="020B0600070205080204" pitchFamily="50" charset="-128"/>
              </a:rPr>
              <a:t>w</a:t>
            </a:r>
            <a:r>
              <a:rPr lang="en-US" altLang="ja-JP" i="1" baseline="-25000" dirty="0" err="1">
                <a:ea typeface="MS PGothic" panose="020B0600070205080204" pitchFamily="50" charset="-128"/>
              </a:rPr>
              <a:t>j</a:t>
            </a:r>
            <a:r>
              <a:rPr lang="en-US" altLang="ja-JP" i="1" baseline="-25000" dirty="0">
                <a:ea typeface="MS PGothic" panose="020B0600070205080204" pitchFamily="50" charset="-128"/>
              </a:rPr>
              <a:t>, </a:t>
            </a:r>
            <a:r>
              <a:rPr lang="en-US" altLang="ja-JP" i="1" dirty="0" err="1">
                <a:ea typeface="MS PGothic" panose="020B0600070205080204" pitchFamily="50" charset="-128"/>
              </a:rPr>
              <a:t>w</a:t>
            </a:r>
            <a:r>
              <a:rPr lang="en-US" altLang="ja-JP" i="1" baseline="-25000" dirty="0" err="1">
                <a:ea typeface="MS PGothic" panose="020B0600070205080204" pitchFamily="50" charset="-128"/>
              </a:rPr>
              <a:t>k</a:t>
            </a:r>
            <a:r>
              <a:rPr lang="en-US" altLang="ja-JP" i="1" dirty="0">
                <a:ea typeface="MS PGothic" panose="020B0600070205080204" pitchFamily="50" charset="-128"/>
              </a:rPr>
              <a:t>): </a:t>
            </a:r>
            <a:r>
              <a:rPr lang="en-US" altLang="ja-JP" i="1" dirty="0" err="1">
                <a:ea typeface="MS PGothic" panose="020B0600070205080204" pitchFamily="50" charset="-128"/>
              </a:rPr>
              <a:t>NxNxN</a:t>
            </a:r>
            <a:r>
              <a:rPr lang="en-US" altLang="ja-JP" i="1" dirty="0">
                <a:ea typeface="MS PGothic" panose="020B0600070205080204" pitchFamily="50" charset="-128"/>
              </a:rPr>
              <a:t> p</a:t>
            </a:r>
            <a:r>
              <a:rPr lang="en-US" altLang="ja-JP" dirty="0">
                <a:ea typeface="MS PGothic" panose="020B0600070205080204" pitchFamily="50" charset="-128"/>
              </a:rPr>
              <a:t>arameters </a:t>
            </a:r>
          </a:p>
        </p:txBody>
      </p:sp>
      <p:sp>
        <p:nvSpPr>
          <p:cNvPr id="24" name="AutoShape 41"/>
          <p:cNvSpPr>
            <a:spLocks noChangeArrowheads="1"/>
          </p:cNvSpPr>
          <p:nvPr/>
        </p:nvSpPr>
        <p:spPr bwMode="auto">
          <a:xfrm>
            <a:off x="5733939" y="5503025"/>
            <a:ext cx="838200" cy="304800"/>
          </a:xfrm>
          <a:prstGeom prst="rightArrow">
            <a:avLst>
              <a:gd name="adj1" fmla="val 50000"/>
              <a:gd name="adj2" fmla="val 687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5" name="Rectangle 42"/>
          <p:cNvSpPr>
            <a:spLocks noChangeArrowheads="1"/>
          </p:cNvSpPr>
          <p:nvPr/>
        </p:nvSpPr>
        <p:spPr bwMode="auto">
          <a:xfrm>
            <a:off x="6705600" y="4147234"/>
            <a:ext cx="410510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ja-JP" dirty="0">
                <a:ea typeface="MS PGothic" panose="020B0600070205080204" pitchFamily="50" charset="-128"/>
              </a:rPr>
              <a:t>For each </a:t>
            </a:r>
            <a:r>
              <a:rPr lang="en-US" altLang="ja-JP" i="1" dirty="0" err="1">
                <a:ea typeface="MS PGothic" panose="020B0600070205080204" pitchFamily="50" charset="-128"/>
              </a:rPr>
              <a:t>w</a:t>
            </a:r>
            <a:r>
              <a:rPr lang="en-US" altLang="ja-JP" i="1" baseline="-25000" dirty="0" err="1">
                <a:ea typeface="MS PGothic" panose="020B0600070205080204" pitchFamily="50" charset="-128"/>
              </a:rPr>
              <a:t>i</a:t>
            </a:r>
            <a:r>
              <a:rPr lang="en-US" altLang="ja-JP" i="1" baseline="-25000" dirty="0">
                <a:ea typeface="MS PGothic" panose="020B0600070205080204" pitchFamily="50" charset="-128"/>
              </a:rPr>
              <a:t>, </a:t>
            </a:r>
            <a:r>
              <a:rPr lang="en-US" altLang="ja-JP" i="1" dirty="0" err="1">
                <a:ea typeface="MS PGothic" panose="020B0600070205080204" pitchFamily="50" charset="-128"/>
              </a:rPr>
              <a:t>w</a:t>
            </a:r>
            <a:r>
              <a:rPr lang="en-US" altLang="ja-JP" i="1" baseline="-25000" dirty="0" err="1">
                <a:ea typeface="MS PGothic" panose="020B0600070205080204" pitchFamily="50" charset="-128"/>
              </a:rPr>
              <a:t>j</a:t>
            </a:r>
            <a:endParaRPr lang="en-US" altLang="ja-JP" dirty="0">
              <a:ea typeface="MS PGothic" panose="020B0600070205080204" pitchFamily="50" charset="-128"/>
            </a:endParaRPr>
          </a:p>
          <a:p>
            <a:r>
              <a:rPr lang="en-US" altLang="ja-JP" dirty="0">
                <a:ea typeface="MS PGothic" panose="020B0600070205080204" pitchFamily="50" charset="-128"/>
              </a:rPr>
              <a:t>calculate </a:t>
            </a:r>
            <a:r>
              <a:rPr lang="en-US" altLang="ja-JP" i="1" dirty="0">
                <a:ea typeface="MS PGothic" panose="020B0600070205080204" pitchFamily="50" charset="-128"/>
              </a:rPr>
              <a:t>P(</a:t>
            </a:r>
            <a:r>
              <a:rPr lang="en-US" altLang="ja-JP" i="1" dirty="0" err="1">
                <a:ea typeface="MS PGothic" panose="020B0600070205080204" pitchFamily="50" charset="-128"/>
              </a:rPr>
              <a:t>w</a:t>
            </a:r>
            <a:r>
              <a:rPr lang="en-US" altLang="ja-JP" i="1" baseline="-25000" dirty="0" err="1">
                <a:ea typeface="MS PGothic" panose="020B0600070205080204" pitchFamily="50" charset="-128"/>
              </a:rPr>
              <a:t>i</a:t>
            </a:r>
            <a:r>
              <a:rPr lang="en-US" altLang="ja-JP" dirty="0">
                <a:ea typeface="MS PGothic" panose="020B0600070205080204" pitchFamily="50" charset="-128"/>
              </a:rPr>
              <a:t> </a:t>
            </a:r>
            <a:r>
              <a:rPr lang="en-US" altLang="ja-JP" i="1" dirty="0">
                <a:ea typeface="MS PGothic" panose="020B0600070205080204" pitchFamily="50" charset="-128"/>
              </a:rPr>
              <a:t>| </a:t>
            </a:r>
            <a:r>
              <a:rPr lang="en-US" altLang="ja-JP" i="1" dirty="0" err="1">
                <a:ea typeface="MS PGothic" panose="020B0600070205080204" pitchFamily="50" charset="-128"/>
              </a:rPr>
              <a:t>w</a:t>
            </a:r>
            <a:r>
              <a:rPr lang="en-US" altLang="ja-JP" i="1" baseline="-25000" dirty="0" err="1">
                <a:ea typeface="MS PGothic" panose="020B0600070205080204" pitchFamily="50" charset="-128"/>
              </a:rPr>
              <a:t>j</a:t>
            </a:r>
            <a:r>
              <a:rPr lang="en-US" altLang="ja-JP" i="1" baseline="-25000" dirty="0">
                <a:ea typeface="MS PGothic" panose="020B0600070205080204" pitchFamily="50" charset="-128"/>
              </a:rPr>
              <a:t>,</a:t>
            </a:r>
            <a:r>
              <a:rPr lang="en-US" altLang="ja-JP" i="1" dirty="0">
                <a:ea typeface="MS PGothic" panose="020B0600070205080204" pitchFamily="50" charset="-128"/>
              </a:rPr>
              <a:t>):</a:t>
            </a:r>
            <a:r>
              <a:rPr lang="en-US" altLang="ja-JP" i="1" dirty="0" err="1">
                <a:ea typeface="MS PGothic" panose="020B0600070205080204" pitchFamily="50" charset="-128"/>
              </a:rPr>
              <a:t>NxN</a:t>
            </a:r>
            <a:r>
              <a:rPr lang="en-US" altLang="ja-JP" i="1" dirty="0">
                <a:ea typeface="MS PGothic" panose="020B0600070205080204" pitchFamily="50" charset="-128"/>
              </a:rPr>
              <a:t> p</a:t>
            </a:r>
            <a:r>
              <a:rPr lang="en-US" altLang="ja-JP" dirty="0">
                <a:ea typeface="MS PGothic" panose="020B0600070205080204" pitchFamily="50" charset="-128"/>
              </a:rPr>
              <a:t>arameters</a:t>
            </a:r>
          </a:p>
        </p:txBody>
      </p:sp>
    </p:spTree>
    <p:extLst>
      <p:ext uri="{BB962C8B-B14F-4D97-AF65-F5344CB8AC3E}">
        <p14:creationId xmlns:p14="http://schemas.microsoft.com/office/powerpoint/2010/main" val="259094002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74F690-42CB-E72C-106E-57A1A6DB5FEB}"/>
              </a:ext>
            </a:extLst>
          </p:cNvPr>
          <p:cNvSpPr>
            <a:spLocks noGrp="1"/>
          </p:cNvSpPr>
          <p:nvPr>
            <p:ph type="title"/>
          </p:nvPr>
        </p:nvSpPr>
        <p:spPr/>
        <p:txBody>
          <a:bodyPr/>
          <a:lstStyle/>
          <a:p>
            <a:r>
              <a:rPr kumimoji="1" lang="en-US" altLang="ja-JP" dirty="0"/>
              <a:t>Feature: Meta Information</a:t>
            </a:r>
            <a:endParaRPr kumimoji="1" lang="ja-JP" altLang="en-US" dirty="0"/>
          </a:p>
        </p:txBody>
      </p:sp>
      <p:sp>
        <p:nvSpPr>
          <p:cNvPr id="4" name="コンテンツ プレースホルダー 4">
            <a:extLst>
              <a:ext uri="{FF2B5EF4-FFF2-40B4-BE49-F238E27FC236}">
                <a16:creationId xmlns:a16="http://schemas.microsoft.com/office/drawing/2014/main" id="{6486A94E-38EB-5D58-72D7-66EC41649A5F}"/>
              </a:ext>
            </a:extLst>
          </p:cNvPr>
          <p:cNvSpPr>
            <a:spLocks noGrp="1"/>
          </p:cNvSpPr>
          <p:nvPr>
            <p:ph idx="1"/>
          </p:nvPr>
        </p:nvSpPr>
        <p:spPr>
          <a:xfrm>
            <a:off x="838200" y="1825625"/>
            <a:ext cx="10515600" cy="4351338"/>
          </a:xfrm>
        </p:spPr>
        <p:txBody>
          <a:bodyPr>
            <a:normAutofit lnSpcReduction="10000"/>
          </a:bodyPr>
          <a:lstStyle/>
          <a:p>
            <a:pPr marL="609600" indent="-609600"/>
            <a:r>
              <a:rPr lang="en-US" altLang="ja-JP" dirty="0">
                <a:ea typeface="ＭＳ Ｐゴシック" panose="020B0600070205080204" pitchFamily="50" charset="-128"/>
              </a:rPr>
              <a:t>First applications: in libraries (1950s)</a:t>
            </a:r>
          </a:p>
          <a:p>
            <a:pPr lvl="1"/>
            <a:r>
              <a:rPr lang="en-US" altLang="ja-JP" sz="2200" b="1" dirty="0">
                <a:solidFill>
                  <a:schemeClr val="tx2"/>
                </a:solidFill>
                <a:ea typeface="ＭＳ Ｐゴシック" panose="020B0600070205080204" pitchFamily="50" charset="-128"/>
              </a:rPr>
              <a:t>ISBN</a:t>
            </a:r>
            <a:r>
              <a:rPr lang="en-US" altLang="ja-JP" sz="2200" dirty="0">
                <a:solidFill>
                  <a:schemeClr val="tx2"/>
                </a:solidFill>
                <a:ea typeface="ＭＳ Ｐゴシック" panose="020B0600070205080204" pitchFamily="50" charset="-128"/>
              </a:rPr>
              <a:t>: 0-201-12227-8 </a:t>
            </a:r>
          </a:p>
          <a:p>
            <a:pPr lvl="1"/>
            <a:r>
              <a:rPr lang="en-US" altLang="ja-JP" sz="2200" b="1" dirty="0">
                <a:solidFill>
                  <a:schemeClr val="tx2"/>
                </a:solidFill>
                <a:ea typeface="ＭＳ Ｐゴシック" panose="020B0600070205080204" pitchFamily="50" charset="-128"/>
              </a:rPr>
              <a:t>Author</a:t>
            </a:r>
            <a:r>
              <a:rPr lang="en-US" altLang="ja-JP" sz="2200" dirty="0">
                <a:solidFill>
                  <a:schemeClr val="tx2"/>
                </a:solidFill>
                <a:ea typeface="ＭＳ Ｐゴシック" panose="020B0600070205080204" pitchFamily="50" charset="-128"/>
              </a:rPr>
              <a:t>: Salton, Gerard </a:t>
            </a:r>
          </a:p>
          <a:p>
            <a:pPr lvl="1"/>
            <a:r>
              <a:rPr lang="en-US" altLang="ja-JP" sz="2200" b="1" dirty="0">
                <a:solidFill>
                  <a:schemeClr val="tx2"/>
                </a:solidFill>
                <a:ea typeface="ＭＳ Ｐゴシック" panose="020B0600070205080204" pitchFamily="50" charset="-128"/>
              </a:rPr>
              <a:t>Title</a:t>
            </a:r>
            <a:r>
              <a:rPr lang="en-US" altLang="ja-JP" sz="2200" dirty="0">
                <a:solidFill>
                  <a:schemeClr val="tx2"/>
                </a:solidFill>
                <a:ea typeface="ＭＳ Ｐゴシック" panose="020B0600070205080204" pitchFamily="50" charset="-128"/>
              </a:rPr>
              <a:t>: Automatic text processing: the transformation, analysis, and retrieval of information by computer </a:t>
            </a:r>
          </a:p>
          <a:p>
            <a:pPr lvl="1"/>
            <a:r>
              <a:rPr lang="en-US" altLang="ja-JP" sz="2200" b="1" dirty="0">
                <a:solidFill>
                  <a:schemeClr val="tx2"/>
                </a:solidFill>
                <a:ea typeface="ＭＳ Ｐゴシック" panose="020B0600070205080204" pitchFamily="50" charset="-128"/>
              </a:rPr>
              <a:t>Editor</a:t>
            </a:r>
            <a:r>
              <a:rPr lang="en-US" altLang="ja-JP" sz="2200" dirty="0">
                <a:solidFill>
                  <a:schemeClr val="tx2"/>
                </a:solidFill>
                <a:ea typeface="ＭＳ Ｐゴシック" panose="020B0600070205080204" pitchFamily="50" charset="-128"/>
              </a:rPr>
              <a:t>: Addison-Wesley </a:t>
            </a:r>
          </a:p>
          <a:p>
            <a:pPr lvl="1"/>
            <a:r>
              <a:rPr lang="en-US" altLang="ja-JP" sz="2200" b="1" dirty="0">
                <a:solidFill>
                  <a:schemeClr val="tx2"/>
                </a:solidFill>
                <a:ea typeface="ＭＳ Ｐゴシック" panose="020B0600070205080204" pitchFamily="50" charset="-128"/>
              </a:rPr>
              <a:t>Date</a:t>
            </a:r>
            <a:r>
              <a:rPr lang="en-US" altLang="ja-JP" sz="2200" dirty="0">
                <a:solidFill>
                  <a:schemeClr val="tx2"/>
                </a:solidFill>
                <a:ea typeface="ＭＳ Ｐゴシック" panose="020B0600070205080204" pitchFamily="50" charset="-128"/>
              </a:rPr>
              <a:t>: 1989</a:t>
            </a:r>
          </a:p>
          <a:p>
            <a:pPr lvl="1"/>
            <a:r>
              <a:rPr lang="en-US" altLang="ja-JP" sz="2200" b="1" dirty="0">
                <a:solidFill>
                  <a:schemeClr val="tx2"/>
                </a:solidFill>
                <a:ea typeface="ＭＳ Ｐゴシック" panose="020B0600070205080204" pitchFamily="50" charset="-128"/>
              </a:rPr>
              <a:t>Content</a:t>
            </a:r>
            <a:r>
              <a:rPr lang="en-US" altLang="ja-JP" sz="2200" dirty="0">
                <a:solidFill>
                  <a:schemeClr val="tx2"/>
                </a:solidFill>
                <a:ea typeface="ＭＳ Ｐゴシック" panose="020B0600070205080204" pitchFamily="50" charset="-128"/>
              </a:rPr>
              <a:t>: &lt;Text&gt; </a:t>
            </a:r>
          </a:p>
          <a:p>
            <a:pPr marL="609600" indent="-609600"/>
            <a:r>
              <a:rPr lang="en-US" altLang="ja-JP" dirty="0">
                <a:ea typeface="ＭＳ Ｐゴシック" panose="020B0600070205080204" pitchFamily="50" charset="-128"/>
              </a:rPr>
              <a:t>external attributes and internal attributes (content)</a:t>
            </a:r>
          </a:p>
          <a:p>
            <a:pPr marL="609600" indent="-609600"/>
            <a:r>
              <a:rPr lang="en-US" altLang="ja-JP" dirty="0">
                <a:ea typeface="ＭＳ Ｐゴシック" panose="020B0600070205080204" pitchFamily="50" charset="-128"/>
              </a:rPr>
              <a:t>Search by external attributes = Search in DB</a:t>
            </a:r>
          </a:p>
          <a:p>
            <a:pPr marL="609600" indent="-609600"/>
            <a:r>
              <a:rPr lang="en-US" altLang="ja-JP" dirty="0">
                <a:ea typeface="ＭＳ Ｐゴシック" panose="020B0600070205080204" pitchFamily="50" charset="-128"/>
              </a:rPr>
              <a:t>IR: search by content</a:t>
            </a:r>
          </a:p>
          <a:p>
            <a:endParaRPr kumimoji="1" lang="ja-JP" altLang="en-US" dirty="0"/>
          </a:p>
        </p:txBody>
      </p:sp>
    </p:spTree>
    <p:extLst>
      <p:ext uri="{BB962C8B-B14F-4D97-AF65-F5344CB8AC3E}">
        <p14:creationId xmlns:p14="http://schemas.microsoft.com/office/powerpoint/2010/main" val="26677683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ja-JP" dirty="0"/>
              <a:t>POS Disambiguation</a:t>
            </a:r>
          </a:p>
        </p:txBody>
      </p:sp>
      <p:sp>
        <p:nvSpPr>
          <p:cNvPr id="7" name="コンテンツ プレースホルダー 6"/>
          <p:cNvSpPr>
            <a:spLocks noGrp="1"/>
          </p:cNvSpPr>
          <p:nvPr>
            <p:ph idx="1"/>
          </p:nvPr>
        </p:nvSpPr>
        <p:spPr/>
        <p:txBody>
          <a:bodyPr/>
          <a:lstStyle/>
          <a:p>
            <a:r>
              <a:rPr lang="en-US" altLang="ja-JP" dirty="0">
                <a:ea typeface="MS PGothic" panose="020B0600070205080204" pitchFamily="50" charset="-128"/>
              </a:rPr>
              <a:t>A word’s POS tells us a lot about the word and its neighbors:</a:t>
            </a:r>
          </a:p>
          <a:p>
            <a:pPr lvl="1"/>
            <a:r>
              <a:rPr lang="en-US" altLang="ja-JP" dirty="0">
                <a:ea typeface="MS PGothic" panose="020B0600070205080204" pitchFamily="50" charset="-128"/>
              </a:rPr>
              <a:t>Limits the range of meanings (</a:t>
            </a:r>
            <a:r>
              <a:rPr lang="en-US" altLang="ja-JP" i="1" dirty="0">
                <a:ea typeface="MS PGothic" panose="020B0600070205080204" pitchFamily="50" charset="-128"/>
              </a:rPr>
              <a:t>deal</a:t>
            </a:r>
            <a:r>
              <a:rPr lang="en-US" altLang="ja-JP" dirty="0">
                <a:ea typeface="MS PGothic" panose="020B0600070205080204" pitchFamily="50" charset="-128"/>
              </a:rPr>
              <a:t>), pronunciation (text to speech) (</a:t>
            </a:r>
            <a:r>
              <a:rPr lang="en-US" altLang="ja-JP" i="1" u="sng" dirty="0">
                <a:ea typeface="MS PGothic" panose="020B0600070205080204" pitchFamily="50" charset="-128"/>
              </a:rPr>
              <a:t>ob</a:t>
            </a:r>
            <a:r>
              <a:rPr lang="en-US" altLang="ja-JP" i="1" dirty="0">
                <a:ea typeface="MS PGothic" panose="020B0600070205080204" pitchFamily="50" charset="-128"/>
              </a:rPr>
              <a:t>ject vs ob</a:t>
            </a:r>
            <a:r>
              <a:rPr lang="en-US" altLang="ja-JP" i="1" u="sng" dirty="0">
                <a:ea typeface="MS PGothic" panose="020B0600070205080204" pitchFamily="50" charset="-128"/>
              </a:rPr>
              <a:t>ject</a:t>
            </a:r>
            <a:r>
              <a:rPr lang="en-US" altLang="ja-JP" dirty="0">
                <a:ea typeface="MS PGothic" panose="020B0600070205080204" pitchFamily="50" charset="-128"/>
              </a:rPr>
              <a:t>, </a:t>
            </a:r>
            <a:r>
              <a:rPr lang="en-US" altLang="ja-JP" i="1" dirty="0">
                <a:ea typeface="MS PGothic" panose="020B0600070205080204" pitchFamily="50" charset="-128"/>
              </a:rPr>
              <a:t>record</a:t>
            </a:r>
            <a:r>
              <a:rPr lang="en-US" altLang="ja-JP" dirty="0">
                <a:ea typeface="MS PGothic" panose="020B0600070205080204" pitchFamily="50" charset="-128"/>
              </a:rPr>
              <a:t>) or both (</a:t>
            </a:r>
            <a:r>
              <a:rPr lang="en-US" altLang="ja-JP" i="1" dirty="0">
                <a:ea typeface="MS PGothic" panose="020B0600070205080204" pitchFamily="50" charset="-128"/>
              </a:rPr>
              <a:t>wind</a:t>
            </a:r>
            <a:r>
              <a:rPr lang="en-US" altLang="ja-JP" dirty="0">
                <a:ea typeface="MS PGothic" panose="020B0600070205080204" pitchFamily="50" charset="-128"/>
              </a:rPr>
              <a:t>)</a:t>
            </a:r>
          </a:p>
          <a:p>
            <a:pPr lvl="1"/>
            <a:r>
              <a:rPr lang="en-US" altLang="ja-JP" dirty="0">
                <a:ea typeface="MS PGothic" panose="020B0600070205080204" pitchFamily="50" charset="-128"/>
              </a:rPr>
              <a:t>Helps in stemming: saw[v] → see, saw[n] → saw</a:t>
            </a:r>
          </a:p>
          <a:p>
            <a:pPr lvl="1"/>
            <a:r>
              <a:rPr lang="en-US" altLang="ja-JP" dirty="0">
                <a:ea typeface="MS PGothic" panose="020B0600070205080204" pitchFamily="50" charset="-128"/>
              </a:rPr>
              <a:t>Limits the range of following words </a:t>
            </a:r>
          </a:p>
          <a:p>
            <a:pPr lvl="1"/>
            <a:r>
              <a:rPr lang="en-US" altLang="ja-JP" dirty="0">
                <a:ea typeface="MS PGothic" panose="020B0600070205080204" pitchFamily="50" charset="-128"/>
              </a:rPr>
              <a:t>Can help select nouns from a document for summarization</a:t>
            </a:r>
          </a:p>
          <a:p>
            <a:pPr lvl="1"/>
            <a:r>
              <a:rPr lang="en-US" altLang="ja-JP" dirty="0">
                <a:ea typeface="MS PGothic" panose="020B0600070205080204" pitchFamily="50" charset="-128"/>
              </a:rPr>
              <a:t>Basis for partial parsing (chunked parsing)</a:t>
            </a:r>
          </a:p>
          <a:p>
            <a:endParaRPr kumimoji="1" lang="ja-JP" altLang="en-US" dirty="0"/>
          </a:p>
        </p:txBody>
      </p:sp>
      <p:sp>
        <p:nvSpPr>
          <p:cNvPr id="5" name="スライド番号プレースホルダー 4"/>
          <p:cNvSpPr>
            <a:spLocks noGrp="1"/>
          </p:cNvSpPr>
          <p:nvPr>
            <p:ph type="sldNum" sz="quarter" idx="12"/>
          </p:nvPr>
        </p:nvSpPr>
        <p:spPr/>
        <p:txBody>
          <a:bodyPr/>
          <a:lstStyle/>
          <a:p>
            <a:fld id="{2A8264BD-C949-4041-B1D4-F7350BC0C1CC}" type="slidenum">
              <a:rPr lang="en-US" altLang="ja-JP" smtClean="0"/>
              <a:pPr/>
              <a:t>58</a:t>
            </a:fld>
            <a:endParaRPr lang="en-US" altLang="ja-JP"/>
          </a:p>
        </p:txBody>
      </p:sp>
    </p:spTree>
    <p:extLst>
      <p:ext uri="{BB962C8B-B14F-4D97-AF65-F5344CB8AC3E}">
        <p14:creationId xmlns:p14="http://schemas.microsoft.com/office/powerpoint/2010/main" val="7590557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ja-JP" dirty="0"/>
              <a:t>POS Disambiguation</a:t>
            </a:r>
          </a:p>
        </p:txBody>
      </p:sp>
      <p:sp>
        <p:nvSpPr>
          <p:cNvPr id="3" name="コンテンツ プレースホルダー 2"/>
          <p:cNvSpPr>
            <a:spLocks noGrp="1"/>
          </p:cNvSpPr>
          <p:nvPr>
            <p:ph idx="1"/>
          </p:nvPr>
        </p:nvSpPr>
        <p:spPr/>
        <p:txBody>
          <a:bodyPr/>
          <a:lstStyle/>
          <a:p>
            <a:endParaRPr kumimoji="1" lang="ja-JP" altLang="en-US"/>
          </a:p>
        </p:txBody>
      </p:sp>
      <p:sp>
        <p:nvSpPr>
          <p:cNvPr id="53252" name="Text Box 4"/>
          <p:cNvSpPr txBox="1">
            <a:spLocks noChangeArrowheads="1"/>
          </p:cNvSpPr>
          <p:nvPr/>
        </p:nvSpPr>
        <p:spPr bwMode="auto">
          <a:xfrm>
            <a:off x="8048625" y="6553201"/>
            <a:ext cx="27318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400">
                <a:ea typeface="MS PGothic" panose="020B0600070205080204" pitchFamily="50" charset="-128"/>
              </a:rPr>
              <a:t>From Dan Klein’s cs 288 slides</a:t>
            </a:r>
          </a:p>
        </p:txBody>
      </p:sp>
      <p:pic>
        <p:nvPicPr>
          <p:cNvPr id="53257" name="Picture 9" descr="Snap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784" y="1750031"/>
            <a:ext cx="9680431" cy="4502526"/>
          </a:xfrm>
          <a:prstGeom prst="rect">
            <a:avLst/>
          </a:prstGeom>
          <a:noFill/>
          <a:extLst>
            <a:ext uri="{909E8E84-426E-40DD-AFC4-6F175D3DCCD1}">
              <a14:hiddenFill xmlns:a14="http://schemas.microsoft.com/office/drawing/2010/main">
                <a:solidFill>
                  <a:srgbClr val="FFFFFF"/>
                </a:solidFill>
              </a14:hiddenFill>
            </a:ext>
          </a:extLst>
        </p:spPr>
      </p:pic>
      <p:sp>
        <p:nvSpPr>
          <p:cNvPr id="4" name="スライド番号プレースホルダー 3"/>
          <p:cNvSpPr>
            <a:spLocks noGrp="1"/>
          </p:cNvSpPr>
          <p:nvPr>
            <p:ph type="sldNum" sz="quarter" idx="12"/>
          </p:nvPr>
        </p:nvSpPr>
        <p:spPr/>
        <p:txBody>
          <a:bodyPr/>
          <a:lstStyle/>
          <a:p>
            <a:fld id="{D098EA03-250D-4104-8890-E771F9AE47C9}" type="slidenum">
              <a:rPr kumimoji="1" lang="ja-JP" altLang="en-US" smtClean="0"/>
              <a:t>59</a:t>
            </a:fld>
            <a:endParaRPr kumimoji="1" lang="ja-JP" altLang="en-US"/>
          </a:p>
        </p:txBody>
      </p:sp>
    </p:spTree>
    <p:extLst>
      <p:ext uri="{BB962C8B-B14F-4D97-AF65-F5344CB8AC3E}">
        <p14:creationId xmlns:p14="http://schemas.microsoft.com/office/powerpoint/2010/main" val="25621367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ja-JP"/>
              <a:t>Choosing a tagset</a:t>
            </a:r>
          </a:p>
        </p:txBody>
      </p:sp>
      <p:sp>
        <p:nvSpPr>
          <p:cNvPr id="7" name="コンテンツ プレースホルダー 6"/>
          <p:cNvSpPr>
            <a:spLocks noGrp="1"/>
          </p:cNvSpPr>
          <p:nvPr>
            <p:ph idx="1"/>
          </p:nvPr>
        </p:nvSpPr>
        <p:spPr/>
        <p:txBody>
          <a:bodyPr/>
          <a:lstStyle/>
          <a:p>
            <a:r>
              <a:rPr lang="en-US" altLang="ja-JP" dirty="0">
                <a:ea typeface="MS PGothic" panose="020B0600070205080204" pitchFamily="50" charset="-128"/>
              </a:rPr>
              <a:t>The choice of </a:t>
            </a:r>
            <a:r>
              <a:rPr lang="en-US" altLang="ja-JP" dirty="0" err="1">
                <a:ea typeface="MS PGothic" panose="020B0600070205080204" pitchFamily="50" charset="-128"/>
              </a:rPr>
              <a:t>tagset</a:t>
            </a:r>
            <a:r>
              <a:rPr lang="en-US" altLang="ja-JP" dirty="0">
                <a:ea typeface="MS PGothic" panose="020B0600070205080204" pitchFamily="50" charset="-128"/>
              </a:rPr>
              <a:t> greatly affects the difficulty of the problem</a:t>
            </a:r>
          </a:p>
          <a:p>
            <a:r>
              <a:rPr lang="en-US" altLang="ja-JP" dirty="0">
                <a:ea typeface="MS PGothic" panose="020B0600070205080204" pitchFamily="50" charset="-128"/>
              </a:rPr>
              <a:t>Need to strike a balance between</a:t>
            </a:r>
          </a:p>
          <a:p>
            <a:pPr lvl="1"/>
            <a:r>
              <a:rPr lang="en-US" altLang="ja-JP" dirty="0">
                <a:ea typeface="MS PGothic" panose="020B0600070205080204" pitchFamily="50" charset="-128"/>
              </a:rPr>
              <a:t>Getting better information about context </a:t>
            </a:r>
          </a:p>
          <a:p>
            <a:pPr lvl="1"/>
            <a:r>
              <a:rPr lang="en-US" altLang="ja-JP" dirty="0">
                <a:ea typeface="MS PGothic" panose="020B0600070205080204" pitchFamily="50" charset="-128"/>
              </a:rPr>
              <a:t>Make it possible for classifiers  to do their job</a:t>
            </a:r>
          </a:p>
          <a:p>
            <a:endParaRPr kumimoji="1" lang="ja-JP" altLang="en-US" dirty="0"/>
          </a:p>
        </p:txBody>
      </p:sp>
      <p:sp>
        <p:nvSpPr>
          <p:cNvPr id="5" name="スライド番号プレースホルダー 4"/>
          <p:cNvSpPr>
            <a:spLocks noGrp="1"/>
          </p:cNvSpPr>
          <p:nvPr>
            <p:ph type="sldNum" sz="quarter" idx="12"/>
          </p:nvPr>
        </p:nvSpPr>
        <p:spPr/>
        <p:txBody>
          <a:bodyPr/>
          <a:lstStyle/>
          <a:p>
            <a:fld id="{CB9F4109-3EAA-46E2-8175-2633802FA419}" type="slidenum">
              <a:rPr lang="en-US" altLang="ja-JP" smtClean="0"/>
              <a:pPr/>
              <a:t>60</a:t>
            </a:fld>
            <a:endParaRPr lang="en-US" altLang="ja-JP"/>
          </a:p>
        </p:txBody>
      </p:sp>
    </p:spTree>
    <p:extLst>
      <p:ext uri="{BB962C8B-B14F-4D97-AF65-F5344CB8AC3E}">
        <p14:creationId xmlns:p14="http://schemas.microsoft.com/office/powerpoint/2010/main" val="24945876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ja-JP"/>
              <a:t>Some of the best-known Tagsets</a:t>
            </a:r>
          </a:p>
        </p:txBody>
      </p:sp>
      <p:sp>
        <p:nvSpPr>
          <p:cNvPr id="38915" name="Rectangle 3"/>
          <p:cNvSpPr>
            <a:spLocks noGrp="1" noChangeArrowheads="1"/>
          </p:cNvSpPr>
          <p:nvPr>
            <p:ph type="body" idx="1"/>
          </p:nvPr>
        </p:nvSpPr>
        <p:spPr/>
        <p:txBody>
          <a:bodyPr/>
          <a:lstStyle/>
          <a:p>
            <a:r>
              <a:rPr lang="en-US" altLang="ja-JP"/>
              <a:t>Brown corpus: 87 tags</a:t>
            </a:r>
          </a:p>
          <a:p>
            <a:pPr lvl="1"/>
            <a:r>
              <a:rPr lang="en-US" altLang="ja-JP"/>
              <a:t>(more when tags are combined)</a:t>
            </a:r>
          </a:p>
          <a:p>
            <a:r>
              <a:rPr lang="en-US" altLang="ja-JP"/>
              <a:t>Penn Treebank: 45 tags</a:t>
            </a:r>
          </a:p>
          <a:p>
            <a:r>
              <a:rPr lang="en-US" altLang="ja-JP"/>
              <a:t>Lancaster UCREL C5 (used to tag the BNC): 61 tags</a:t>
            </a:r>
          </a:p>
          <a:p>
            <a:r>
              <a:rPr lang="en-US" altLang="ja-JP"/>
              <a:t>Lancaster C7: 145 tags!</a:t>
            </a:r>
          </a:p>
        </p:txBody>
      </p:sp>
      <p:sp>
        <p:nvSpPr>
          <p:cNvPr id="5" name="スライド番号プレースホルダー 4"/>
          <p:cNvSpPr>
            <a:spLocks noGrp="1"/>
          </p:cNvSpPr>
          <p:nvPr>
            <p:ph type="sldNum" sz="quarter" idx="12"/>
          </p:nvPr>
        </p:nvSpPr>
        <p:spPr/>
        <p:txBody>
          <a:bodyPr/>
          <a:lstStyle/>
          <a:p>
            <a:fld id="{503B0211-8A8F-43D1-85E5-F5C52E9DE155}" type="slidenum">
              <a:rPr lang="en-US" altLang="ja-JP" smtClean="0"/>
              <a:pPr/>
              <a:t>61</a:t>
            </a:fld>
            <a:endParaRPr lang="en-US" altLang="ja-JP"/>
          </a:p>
        </p:txBody>
      </p:sp>
    </p:spTree>
    <p:extLst>
      <p:ext uri="{BB962C8B-B14F-4D97-AF65-F5344CB8AC3E}">
        <p14:creationId xmlns:p14="http://schemas.microsoft.com/office/powerpoint/2010/main" val="7413974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ja-JP"/>
              <a:t>Tagging methods</a:t>
            </a:r>
          </a:p>
        </p:txBody>
      </p:sp>
      <p:sp>
        <p:nvSpPr>
          <p:cNvPr id="44035" name="Rectangle 3"/>
          <p:cNvSpPr>
            <a:spLocks noGrp="1" noChangeArrowheads="1"/>
          </p:cNvSpPr>
          <p:nvPr>
            <p:ph type="body" idx="1"/>
          </p:nvPr>
        </p:nvSpPr>
        <p:spPr/>
        <p:txBody>
          <a:bodyPr/>
          <a:lstStyle/>
          <a:p>
            <a:r>
              <a:rPr lang="en-US" altLang="ja-JP" dirty="0"/>
              <a:t>Hand-coded</a:t>
            </a:r>
          </a:p>
          <a:p>
            <a:r>
              <a:rPr lang="en-US" altLang="ja-JP" dirty="0"/>
              <a:t>Statistical taggers</a:t>
            </a:r>
          </a:p>
          <a:p>
            <a:pPr lvl="1"/>
            <a:r>
              <a:rPr lang="en-US" altLang="ja-JP" dirty="0"/>
              <a:t>N-Gram Tagging</a:t>
            </a:r>
          </a:p>
          <a:p>
            <a:pPr lvl="1"/>
            <a:r>
              <a:rPr lang="en-US" altLang="ja-JP" dirty="0"/>
              <a:t>HMM</a:t>
            </a:r>
          </a:p>
          <a:p>
            <a:pPr lvl="1"/>
            <a:r>
              <a:rPr lang="en-US" altLang="ja-JP" dirty="0"/>
              <a:t>(Maximum Entropy)</a:t>
            </a:r>
          </a:p>
          <a:p>
            <a:r>
              <a:rPr lang="en-US" altLang="ja-JP" dirty="0"/>
              <a:t>Brill (transformation-based) tagger</a:t>
            </a:r>
          </a:p>
        </p:txBody>
      </p:sp>
      <p:sp>
        <p:nvSpPr>
          <p:cNvPr id="4" name="スライド番号プレースホルダー 3"/>
          <p:cNvSpPr>
            <a:spLocks noGrp="1"/>
          </p:cNvSpPr>
          <p:nvPr>
            <p:ph type="sldNum" sz="quarter" idx="12"/>
          </p:nvPr>
        </p:nvSpPr>
        <p:spPr/>
        <p:txBody>
          <a:bodyPr/>
          <a:lstStyle/>
          <a:p>
            <a:fld id="{D098EA03-250D-4104-8890-E771F9AE47C9}" type="slidenum">
              <a:rPr kumimoji="1" lang="ja-JP" altLang="en-US" smtClean="0"/>
              <a:t>62</a:t>
            </a:fld>
            <a:endParaRPr kumimoji="1" lang="ja-JP" altLang="en-US"/>
          </a:p>
        </p:txBody>
      </p:sp>
    </p:spTree>
    <p:extLst>
      <p:ext uri="{BB962C8B-B14F-4D97-AF65-F5344CB8AC3E}">
        <p14:creationId xmlns:p14="http://schemas.microsoft.com/office/powerpoint/2010/main" val="36722482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ja-JP"/>
              <a:t>Hand-coded Tagger</a:t>
            </a:r>
          </a:p>
        </p:txBody>
      </p:sp>
      <p:sp>
        <p:nvSpPr>
          <p:cNvPr id="46083" name="Rectangle 3"/>
          <p:cNvSpPr>
            <a:spLocks noGrp="1" noChangeArrowheads="1"/>
          </p:cNvSpPr>
          <p:nvPr>
            <p:ph type="body" idx="1"/>
          </p:nvPr>
        </p:nvSpPr>
        <p:spPr/>
        <p:txBody>
          <a:bodyPr/>
          <a:lstStyle/>
          <a:p>
            <a:r>
              <a:rPr lang="en-US" altLang="ja-JP"/>
              <a:t>The Regular Expression Tagger </a:t>
            </a:r>
          </a:p>
        </p:txBody>
      </p:sp>
      <p:pic>
        <p:nvPicPr>
          <p:cNvPr id="460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1174" y="2543813"/>
            <a:ext cx="9134475" cy="381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スライド番号プレースホルダー 3"/>
          <p:cNvSpPr>
            <a:spLocks noGrp="1"/>
          </p:cNvSpPr>
          <p:nvPr>
            <p:ph type="sldNum" sz="quarter" idx="12"/>
          </p:nvPr>
        </p:nvSpPr>
        <p:spPr/>
        <p:txBody>
          <a:bodyPr/>
          <a:lstStyle/>
          <a:p>
            <a:fld id="{D098EA03-250D-4104-8890-E771F9AE47C9}" type="slidenum">
              <a:rPr kumimoji="1" lang="ja-JP" altLang="en-US" smtClean="0"/>
              <a:t>63</a:t>
            </a:fld>
            <a:endParaRPr kumimoji="1" lang="ja-JP" altLang="en-US"/>
          </a:p>
        </p:txBody>
      </p:sp>
    </p:spTree>
    <p:extLst>
      <p:ext uri="{BB962C8B-B14F-4D97-AF65-F5344CB8AC3E}">
        <p14:creationId xmlns:p14="http://schemas.microsoft.com/office/powerpoint/2010/main" val="4597472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ltLang="ja-JP"/>
              <a:t>Unigram Tagger</a:t>
            </a:r>
          </a:p>
        </p:txBody>
      </p:sp>
      <p:sp>
        <p:nvSpPr>
          <p:cNvPr id="10" name="コンテンツ プレースホルダー 9"/>
          <p:cNvSpPr>
            <a:spLocks noGrp="1"/>
          </p:cNvSpPr>
          <p:nvPr>
            <p:ph idx="1"/>
          </p:nvPr>
        </p:nvSpPr>
        <p:spPr/>
        <p:txBody>
          <a:bodyPr>
            <a:normAutofit/>
          </a:bodyPr>
          <a:lstStyle/>
          <a:p>
            <a:r>
              <a:rPr lang="en-US" altLang="ja-JP" dirty="0">
                <a:ea typeface="MS PGothic" panose="020B0600070205080204" pitchFamily="50" charset="-128"/>
              </a:rPr>
              <a:t>Unigram taggers are based on a simple statistical algorithm: for each token, assign the tag that is most likely for that particular token. </a:t>
            </a:r>
          </a:p>
          <a:p>
            <a:pPr lvl="1"/>
            <a:r>
              <a:rPr lang="en-US" altLang="ja-JP" sz="2000" dirty="0">
                <a:ea typeface="MS PGothic" panose="020B0600070205080204" pitchFamily="50" charset="-128"/>
              </a:rPr>
              <a:t>For example, it will assign the tag JJ to any occurrence of the word </a:t>
            </a:r>
            <a:r>
              <a:rPr lang="en-US" altLang="ja-JP" sz="2000" i="1" dirty="0">
                <a:ea typeface="MS PGothic" panose="020B0600070205080204" pitchFamily="50" charset="-128"/>
              </a:rPr>
              <a:t>frequent</a:t>
            </a:r>
            <a:r>
              <a:rPr lang="en-US" altLang="ja-JP" sz="2000" dirty="0">
                <a:ea typeface="MS PGothic" panose="020B0600070205080204" pitchFamily="50" charset="-128"/>
              </a:rPr>
              <a:t>, since </a:t>
            </a:r>
            <a:r>
              <a:rPr lang="en-US" altLang="ja-JP" sz="2000" i="1" dirty="0">
                <a:ea typeface="MS PGothic" panose="020B0600070205080204" pitchFamily="50" charset="-128"/>
              </a:rPr>
              <a:t>frequent</a:t>
            </a:r>
            <a:r>
              <a:rPr lang="en-US" altLang="ja-JP" sz="2000" dirty="0">
                <a:ea typeface="MS PGothic" panose="020B0600070205080204" pitchFamily="50" charset="-128"/>
              </a:rPr>
              <a:t> is used as an adjective (e.g. </a:t>
            </a:r>
            <a:r>
              <a:rPr lang="en-US" altLang="ja-JP" sz="2000" i="1" dirty="0">
                <a:ea typeface="MS PGothic" panose="020B0600070205080204" pitchFamily="50" charset="-128"/>
              </a:rPr>
              <a:t>a frequent word</a:t>
            </a:r>
            <a:r>
              <a:rPr lang="en-US" altLang="ja-JP" sz="2000" dirty="0">
                <a:ea typeface="MS PGothic" panose="020B0600070205080204" pitchFamily="50" charset="-128"/>
              </a:rPr>
              <a:t>) more often than it is used as a verb (e.g. </a:t>
            </a:r>
            <a:r>
              <a:rPr lang="en-US" altLang="ja-JP" sz="2000" i="1" dirty="0">
                <a:ea typeface="MS PGothic" panose="020B0600070205080204" pitchFamily="50" charset="-128"/>
              </a:rPr>
              <a:t>I frequent this cafe</a:t>
            </a:r>
            <a:r>
              <a:rPr lang="en-US" altLang="ja-JP" sz="2000" dirty="0">
                <a:ea typeface="MS PGothic" panose="020B0600070205080204" pitchFamily="50" charset="-128"/>
              </a:rPr>
              <a:t>).</a:t>
            </a:r>
            <a:r>
              <a:rPr lang="en-US" altLang="ja-JP" sz="2800" dirty="0">
                <a:ea typeface="MS PGothic" panose="020B0600070205080204" pitchFamily="50" charset="-128"/>
              </a:rPr>
              <a:t> </a:t>
            </a:r>
          </a:p>
        </p:txBody>
      </p:sp>
      <p:sp>
        <p:nvSpPr>
          <p:cNvPr id="14" name="Rectangle 3"/>
          <p:cNvSpPr txBox="1">
            <a:spLocks noChangeArrowheads="1"/>
          </p:cNvSpPr>
          <p:nvPr/>
        </p:nvSpPr>
        <p:spPr>
          <a:xfrm>
            <a:off x="1981200" y="1752600"/>
            <a:ext cx="8001000" cy="2286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1"/>
            <a:endParaRPr lang="en-US" altLang="ja-JP" dirty="0">
              <a:ea typeface="MS PGothic" panose="020B0600070205080204" pitchFamily="50" charset="-128"/>
            </a:endParaRPr>
          </a:p>
        </p:txBody>
      </p:sp>
      <p:graphicFrame>
        <p:nvGraphicFramePr>
          <p:cNvPr id="15" name="Object 4"/>
          <p:cNvGraphicFramePr>
            <a:graphicFrameLocks noChangeAspect="1"/>
          </p:cNvGraphicFramePr>
          <p:nvPr/>
        </p:nvGraphicFramePr>
        <p:xfrm>
          <a:off x="4876800" y="4495801"/>
          <a:ext cx="1689100" cy="614363"/>
        </p:xfrm>
        <a:graphic>
          <a:graphicData uri="http://schemas.openxmlformats.org/presentationml/2006/ole">
            <mc:AlternateContent xmlns:mc="http://schemas.openxmlformats.org/markup-compatibility/2006">
              <mc:Choice xmlns:v="urn:schemas-microsoft-com:vml" Requires="v">
                <p:oleObj name="Equation" r:id="rId3" imgW="558720" imgH="203040" progId="Equation.3">
                  <p:embed/>
                </p:oleObj>
              </mc:Choice>
              <mc:Fallback>
                <p:oleObj name="Equation" r:id="rId3" imgW="558720" imgH="203040" progId="Equation.3">
                  <p:embed/>
                  <p:pic>
                    <p:nvPicPr>
                      <p:cNvPr id="1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4495801"/>
                        <a:ext cx="1689100" cy="61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スライド番号プレースホルダー 10"/>
          <p:cNvSpPr>
            <a:spLocks noGrp="1"/>
          </p:cNvSpPr>
          <p:nvPr>
            <p:ph type="sldNum" sz="quarter" idx="12"/>
          </p:nvPr>
        </p:nvSpPr>
        <p:spPr/>
        <p:txBody>
          <a:bodyPr/>
          <a:lstStyle/>
          <a:p>
            <a:fld id="{D098EA03-250D-4104-8890-E771F9AE47C9}" type="slidenum">
              <a:rPr kumimoji="1" lang="ja-JP" altLang="en-US" smtClean="0"/>
              <a:t>64</a:t>
            </a:fld>
            <a:endParaRPr kumimoji="1" lang="ja-JP" altLang="en-US"/>
          </a:p>
        </p:txBody>
      </p:sp>
    </p:spTree>
    <p:extLst>
      <p:ext uri="{BB962C8B-B14F-4D97-AF65-F5344CB8AC3E}">
        <p14:creationId xmlns:p14="http://schemas.microsoft.com/office/powerpoint/2010/main" val="86194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ja-JP"/>
              <a:t>Unigram Tagger</a:t>
            </a:r>
          </a:p>
        </p:txBody>
      </p:sp>
      <p:sp>
        <p:nvSpPr>
          <p:cNvPr id="5" name="コンテンツ プレースホルダー 4"/>
          <p:cNvSpPr>
            <a:spLocks noGrp="1"/>
          </p:cNvSpPr>
          <p:nvPr>
            <p:ph idx="1"/>
          </p:nvPr>
        </p:nvSpPr>
        <p:spPr>
          <a:xfrm>
            <a:off x="838200" y="1825625"/>
            <a:ext cx="10515600" cy="3203575"/>
          </a:xfrm>
        </p:spPr>
        <p:txBody>
          <a:bodyPr>
            <a:normAutofit fontScale="70000" lnSpcReduction="20000"/>
          </a:bodyPr>
          <a:lstStyle/>
          <a:p>
            <a:pPr>
              <a:lnSpc>
                <a:spcPct val="100000"/>
              </a:lnSpc>
            </a:pPr>
            <a:r>
              <a:rPr lang="en-US" altLang="ja-JP" dirty="0">
                <a:ea typeface="MS PGothic" panose="020B0600070205080204" pitchFamily="50" charset="-128"/>
              </a:rPr>
              <a:t>We </a:t>
            </a:r>
            <a:r>
              <a:rPr lang="en-US" altLang="ja-JP" b="1" dirty="0">
                <a:ea typeface="MS PGothic" panose="020B0600070205080204" pitchFamily="50" charset="-128"/>
              </a:rPr>
              <a:t>train</a:t>
            </a:r>
            <a:r>
              <a:rPr lang="en-US" altLang="ja-JP" dirty="0">
                <a:ea typeface="MS PGothic" panose="020B0600070205080204" pitchFamily="50" charset="-128"/>
              </a:rPr>
              <a:t> a </a:t>
            </a:r>
            <a:r>
              <a:rPr lang="en-US" altLang="ja-JP" dirty="0" err="1">
                <a:ea typeface="MS PGothic" panose="020B0600070205080204" pitchFamily="50" charset="-128"/>
              </a:rPr>
              <a:t>UnigramTagger</a:t>
            </a:r>
            <a:r>
              <a:rPr lang="en-US" altLang="ja-JP" dirty="0">
                <a:ea typeface="MS PGothic" panose="020B0600070205080204" pitchFamily="50" charset="-128"/>
              </a:rPr>
              <a:t> by specifying tagged sentence data as a parameter when we initialize the tagger. The training process involves inspecting the tag of each word and storing the most likely tag for any word in a dictionary, stored inside the tagger.</a:t>
            </a:r>
          </a:p>
          <a:p>
            <a:pPr>
              <a:lnSpc>
                <a:spcPct val="100000"/>
              </a:lnSpc>
            </a:pPr>
            <a:r>
              <a:rPr lang="en-US" altLang="ja-JP" dirty="0">
                <a:ea typeface="MS PGothic" panose="020B0600070205080204" pitchFamily="50" charset="-128"/>
              </a:rPr>
              <a:t>We must be careful not to test it on the same data. A tagger that simply memorized its training data and made no attempt to construct a general model would get a perfect score, but would also be useless for tagging new text. </a:t>
            </a:r>
          </a:p>
          <a:p>
            <a:pPr>
              <a:lnSpc>
                <a:spcPct val="100000"/>
              </a:lnSpc>
            </a:pPr>
            <a:r>
              <a:rPr lang="en-US" altLang="ja-JP" dirty="0">
                <a:ea typeface="MS PGothic" panose="020B0600070205080204" pitchFamily="50" charset="-128"/>
              </a:rPr>
              <a:t>Instead, we should split the data, training on 90% and testing on the remaining 10% (or 75% and 25%)</a:t>
            </a:r>
          </a:p>
          <a:p>
            <a:pPr>
              <a:lnSpc>
                <a:spcPct val="100000"/>
              </a:lnSpc>
            </a:pPr>
            <a:r>
              <a:rPr lang="en-US" altLang="ja-JP" dirty="0">
                <a:ea typeface="MS PGothic" panose="020B0600070205080204" pitchFamily="50" charset="-128"/>
              </a:rPr>
              <a:t>Calculate performance on </a:t>
            </a:r>
            <a:r>
              <a:rPr lang="en-US" altLang="ja-JP" i="1" dirty="0">
                <a:ea typeface="MS PGothic" panose="020B0600070205080204" pitchFamily="50" charset="-128"/>
              </a:rPr>
              <a:t>previously unseen</a:t>
            </a:r>
            <a:r>
              <a:rPr lang="en-US" altLang="ja-JP" dirty="0">
                <a:ea typeface="MS PGothic" panose="020B0600070205080204" pitchFamily="50" charset="-128"/>
              </a:rPr>
              <a:t> text. </a:t>
            </a:r>
          </a:p>
          <a:p>
            <a:pPr lvl="1">
              <a:lnSpc>
                <a:spcPct val="100000"/>
              </a:lnSpc>
            </a:pPr>
            <a:r>
              <a:rPr lang="en-US" altLang="ja-JP" dirty="0">
                <a:ea typeface="MS PGothic" panose="020B0600070205080204" pitchFamily="50" charset="-128"/>
              </a:rPr>
              <a:t>Note: this is </a:t>
            </a:r>
            <a:r>
              <a:rPr lang="en-US" altLang="ja-JP" b="1" dirty="0">
                <a:ea typeface="MS PGothic" panose="020B0600070205080204" pitchFamily="50" charset="-128"/>
              </a:rPr>
              <a:t>general procedure for learning systems</a:t>
            </a:r>
          </a:p>
        </p:txBody>
      </p:sp>
      <p:pic>
        <p:nvPicPr>
          <p:cNvPr id="54279" name="Picture 7" descr="Snap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1" y="5029200"/>
            <a:ext cx="5476875" cy="1574800"/>
          </a:xfrm>
          <a:prstGeom prst="rect">
            <a:avLst/>
          </a:prstGeom>
          <a:noFill/>
          <a:extLst>
            <a:ext uri="{909E8E84-426E-40DD-AFC4-6F175D3DCCD1}">
              <a14:hiddenFill xmlns:a14="http://schemas.microsoft.com/office/drawing/2010/main">
                <a:solidFill>
                  <a:srgbClr val="FFFFFF"/>
                </a:solidFill>
              </a14:hiddenFill>
            </a:ext>
          </a:extLst>
        </p:spPr>
      </p:pic>
      <p:sp>
        <p:nvSpPr>
          <p:cNvPr id="6" name="スライド番号プレースホルダー 5"/>
          <p:cNvSpPr>
            <a:spLocks noGrp="1"/>
          </p:cNvSpPr>
          <p:nvPr>
            <p:ph type="sldNum" sz="quarter" idx="12"/>
          </p:nvPr>
        </p:nvSpPr>
        <p:spPr/>
        <p:txBody>
          <a:bodyPr/>
          <a:lstStyle/>
          <a:p>
            <a:fld id="{D098EA03-250D-4104-8890-E771F9AE47C9}" type="slidenum">
              <a:rPr kumimoji="1" lang="ja-JP" altLang="en-US" smtClean="0"/>
              <a:t>65</a:t>
            </a:fld>
            <a:endParaRPr kumimoji="1" lang="ja-JP" altLang="en-US"/>
          </a:p>
        </p:txBody>
      </p:sp>
    </p:spTree>
    <p:extLst>
      <p:ext uri="{BB962C8B-B14F-4D97-AF65-F5344CB8AC3E}">
        <p14:creationId xmlns:p14="http://schemas.microsoft.com/office/powerpoint/2010/main" val="8854068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ltLang="ja-JP"/>
              <a:t>N-Gram Tagging</a:t>
            </a:r>
          </a:p>
        </p:txBody>
      </p:sp>
      <p:sp>
        <p:nvSpPr>
          <p:cNvPr id="8" name="コンテンツ プレースホルダー 7"/>
          <p:cNvSpPr>
            <a:spLocks noGrp="1"/>
          </p:cNvSpPr>
          <p:nvPr>
            <p:ph idx="1"/>
          </p:nvPr>
        </p:nvSpPr>
        <p:spPr>
          <a:xfrm>
            <a:off x="838200" y="1825626"/>
            <a:ext cx="10515600" cy="2206048"/>
          </a:xfrm>
        </p:spPr>
        <p:txBody>
          <a:bodyPr>
            <a:normAutofit fontScale="92500" lnSpcReduction="20000"/>
          </a:bodyPr>
          <a:lstStyle/>
          <a:p>
            <a:r>
              <a:rPr lang="en-US" altLang="ja-JP" dirty="0">
                <a:ea typeface="MS PGothic" panose="020B0600070205080204" pitchFamily="50" charset="-128"/>
              </a:rPr>
              <a:t>An </a:t>
            </a:r>
            <a:r>
              <a:rPr lang="en-US" altLang="ja-JP" b="1" dirty="0">
                <a:ea typeface="MS PGothic" panose="020B0600070205080204" pitchFamily="50" charset="-128"/>
              </a:rPr>
              <a:t>n-gram tagger</a:t>
            </a:r>
            <a:r>
              <a:rPr lang="en-US" altLang="ja-JP" dirty="0">
                <a:ea typeface="MS PGothic" panose="020B0600070205080204" pitchFamily="50" charset="-128"/>
              </a:rPr>
              <a:t> is a generalization of a unigram tagger whose context is the current word together with the part-of-speech tags of the </a:t>
            </a:r>
            <a:r>
              <a:rPr lang="en-US" altLang="ja-JP" i="1" dirty="0">
                <a:ea typeface="MS PGothic" panose="020B0600070205080204" pitchFamily="50" charset="-128"/>
              </a:rPr>
              <a:t>n-1</a:t>
            </a:r>
            <a:r>
              <a:rPr lang="en-US" altLang="ja-JP" dirty="0">
                <a:ea typeface="MS PGothic" panose="020B0600070205080204" pitchFamily="50" charset="-128"/>
              </a:rPr>
              <a:t> preceding tokens </a:t>
            </a:r>
          </a:p>
          <a:p>
            <a:r>
              <a:rPr lang="en-US" altLang="ja-JP" dirty="0">
                <a:ea typeface="MS PGothic" panose="020B0600070205080204" pitchFamily="50" charset="-128"/>
              </a:rPr>
              <a:t>A 1-gram tagger is another term for a unigram tagger: i.e., the context used to tag a token is just the text of the token itself. 2-gram taggers are also called </a:t>
            </a:r>
            <a:r>
              <a:rPr lang="en-US" altLang="ja-JP" i="1" dirty="0">
                <a:ea typeface="MS PGothic" panose="020B0600070205080204" pitchFamily="50" charset="-128"/>
              </a:rPr>
              <a:t>bigram taggers</a:t>
            </a:r>
            <a:r>
              <a:rPr lang="en-US" altLang="ja-JP" dirty="0">
                <a:ea typeface="MS PGothic" panose="020B0600070205080204" pitchFamily="50" charset="-128"/>
              </a:rPr>
              <a:t>, and 3-gram taggers are called </a:t>
            </a:r>
            <a:r>
              <a:rPr lang="en-US" altLang="ja-JP" i="1" dirty="0">
                <a:ea typeface="MS PGothic" panose="020B0600070205080204" pitchFamily="50" charset="-128"/>
              </a:rPr>
              <a:t>trigram taggers</a:t>
            </a:r>
            <a:r>
              <a:rPr lang="en-US" altLang="ja-JP" dirty="0">
                <a:ea typeface="MS PGothic" panose="020B0600070205080204" pitchFamily="50" charset="-128"/>
              </a:rPr>
              <a:t>.</a:t>
            </a:r>
          </a:p>
          <a:p>
            <a:endParaRPr kumimoji="1" lang="ja-JP" altLang="en-US" dirty="0"/>
          </a:p>
        </p:txBody>
      </p:sp>
      <p:sp>
        <p:nvSpPr>
          <p:cNvPr id="14" name="Rectangle 3"/>
          <p:cNvSpPr txBox="1">
            <a:spLocks noChangeArrowheads="1"/>
          </p:cNvSpPr>
          <p:nvPr/>
        </p:nvSpPr>
        <p:spPr>
          <a:xfrm>
            <a:off x="1981200" y="1600200"/>
            <a:ext cx="8001000" cy="2819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en-US" altLang="ja-JP" sz="2000" dirty="0">
              <a:ea typeface="MS PGothic" panose="020B0600070205080204" pitchFamily="50" charset="-128"/>
            </a:endParaRPr>
          </a:p>
        </p:txBody>
      </p:sp>
      <p:pic>
        <p:nvPicPr>
          <p:cNvPr id="15" name="Picture 4" descr="Snap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1" y="4114800"/>
            <a:ext cx="5172075" cy="182880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5"/>
          <p:cNvSpPr>
            <a:spLocks noChangeArrowheads="1"/>
          </p:cNvSpPr>
          <p:nvPr/>
        </p:nvSpPr>
        <p:spPr bwMode="auto">
          <a:xfrm>
            <a:off x="4906964" y="5866091"/>
            <a:ext cx="168828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ja-JP">
                <a:ea typeface="MS PGothic" panose="020B0600070205080204" pitchFamily="50" charset="-128"/>
              </a:rPr>
              <a:t>trigram tagger</a:t>
            </a:r>
          </a:p>
        </p:txBody>
      </p:sp>
      <p:graphicFrame>
        <p:nvGraphicFramePr>
          <p:cNvPr id="17" name="Object 6"/>
          <p:cNvGraphicFramePr>
            <a:graphicFrameLocks noChangeAspect="1"/>
          </p:cNvGraphicFramePr>
          <p:nvPr/>
        </p:nvGraphicFramePr>
        <p:xfrm>
          <a:off x="7081838" y="6005514"/>
          <a:ext cx="2900362" cy="509587"/>
        </p:xfrm>
        <a:graphic>
          <a:graphicData uri="http://schemas.openxmlformats.org/presentationml/2006/ole">
            <mc:AlternateContent xmlns:mc="http://schemas.openxmlformats.org/markup-compatibility/2006">
              <mc:Choice xmlns:v="urn:schemas-microsoft-com:vml" Requires="v">
                <p:oleObj name="Equation" r:id="rId4" imgW="1155600" imgH="203040" progId="Equation.3">
                  <p:embed/>
                </p:oleObj>
              </mc:Choice>
              <mc:Fallback>
                <p:oleObj name="Equation" r:id="rId4" imgW="1155600" imgH="203040" progId="Equation.3">
                  <p:embed/>
                  <p:pic>
                    <p:nvPicPr>
                      <p:cNvPr id="1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1838" y="6005514"/>
                        <a:ext cx="2900362"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スライド番号プレースホルダー 8"/>
          <p:cNvSpPr>
            <a:spLocks noGrp="1"/>
          </p:cNvSpPr>
          <p:nvPr>
            <p:ph type="sldNum" sz="quarter" idx="12"/>
          </p:nvPr>
        </p:nvSpPr>
        <p:spPr/>
        <p:txBody>
          <a:bodyPr/>
          <a:lstStyle/>
          <a:p>
            <a:fld id="{D098EA03-250D-4104-8890-E771F9AE47C9}" type="slidenum">
              <a:rPr kumimoji="1" lang="ja-JP" altLang="en-US" smtClean="0"/>
              <a:t>66</a:t>
            </a:fld>
            <a:endParaRPr kumimoji="1" lang="ja-JP" altLang="en-US"/>
          </a:p>
        </p:txBody>
      </p:sp>
    </p:spTree>
    <p:extLst>
      <p:ext uri="{BB962C8B-B14F-4D97-AF65-F5344CB8AC3E}">
        <p14:creationId xmlns:p14="http://schemas.microsoft.com/office/powerpoint/2010/main" val="225467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altLang="ja-JP"/>
              <a:t>N-Gram Tagging</a:t>
            </a:r>
          </a:p>
        </p:txBody>
      </p:sp>
      <p:sp>
        <p:nvSpPr>
          <p:cNvPr id="91139" name="Rectangle 3"/>
          <p:cNvSpPr>
            <a:spLocks noGrp="1" noChangeArrowheads="1"/>
          </p:cNvSpPr>
          <p:nvPr>
            <p:ph type="body" idx="1"/>
          </p:nvPr>
        </p:nvSpPr>
        <p:spPr/>
        <p:txBody>
          <a:bodyPr/>
          <a:lstStyle/>
          <a:p>
            <a:r>
              <a:rPr lang="en-US" altLang="ja-JP"/>
              <a:t>Why not 10-gram taggers?</a:t>
            </a:r>
          </a:p>
        </p:txBody>
      </p:sp>
      <p:grpSp>
        <p:nvGrpSpPr>
          <p:cNvPr id="91144" name="Group 8"/>
          <p:cNvGrpSpPr>
            <a:grpSpLocks/>
          </p:cNvGrpSpPr>
          <p:nvPr/>
        </p:nvGrpSpPr>
        <p:grpSpPr bwMode="auto">
          <a:xfrm>
            <a:off x="1981200" y="2514600"/>
            <a:ext cx="8026400" cy="2927350"/>
            <a:chOff x="288" y="1584"/>
            <a:chExt cx="5056" cy="1844"/>
          </a:xfrm>
        </p:grpSpPr>
        <p:pic>
          <p:nvPicPr>
            <p:cNvPr id="91140" name="Picture 4" descr="Snap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 y="1584"/>
              <a:ext cx="5056" cy="1844"/>
            </a:xfrm>
            <a:prstGeom prst="rect">
              <a:avLst/>
            </a:prstGeom>
            <a:noFill/>
            <a:extLst>
              <a:ext uri="{909E8E84-426E-40DD-AFC4-6F175D3DCCD1}">
                <a14:hiddenFill xmlns:a14="http://schemas.microsoft.com/office/drawing/2010/main">
                  <a:solidFill>
                    <a:srgbClr val="FFFFFF"/>
                  </a:solidFill>
                </a14:hiddenFill>
              </a:ext>
            </a:extLst>
          </p:spPr>
        </p:pic>
        <p:sp>
          <p:nvSpPr>
            <p:cNvPr id="91141" name="Oval 5"/>
            <p:cNvSpPr>
              <a:spLocks noChangeArrowheads="1"/>
            </p:cNvSpPr>
            <p:nvPr/>
          </p:nvSpPr>
          <p:spPr bwMode="auto">
            <a:xfrm>
              <a:off x="2832" y="2736"/>
              <a:ext cx="480" cy="192"/>
            </a:xfrm>
            <a:prstGeom prst="ellipse">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91142" name="Oval 6"/>
            <p:cNvSpPr>
              <a:spLocks noChangeArrowheads="1"/>
            </p:cNvSpPr>
            <p:nvPr/>
          </p:nvSpPr>
          <p:spPr bwMode="auto">
            <a:xfrm>
              <a:off x="3456" y="3120"/>
              <a:ext cx="480" cy="192"/>
            </a:xfrm>
            <a:prstGeom prst="ellipse">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91143" name="Oval 7"/>
            <p:cNvSpPr>
              <a:spLocks noChangeArrowheads="1"/>
            </p:cNvSpPr>
            <p:nvPr/>
          </p:nvSpPr>
          <p:spPr bwMode="auto">
            <a:xfrm>
              <a:off x="1728" y="2736"/>
              <a:ext cx="480" cy="192"/>
            </a:xfrm>
            <a:prstGeom prst="ellipse">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sp>
        <p:nvSpPr>
          <p:cNvPr id="4" name="スライド番号プレースホルダー 3"/>
          <p:cNvSpPr>
            <a:spLocks noGrp="1"/>
          </p:cNvSpPr>
          <p:nvPr>
            <p:ph type="sldNum" sz="quarter" idx="12"/>
          </p:nvPr>
        </p:nvSpPr>
        <p:spPr/>
        <p:txBody>
          <a:bodyPr/>
          <a:lstStyle/>
          <a:p>
            <a:fld id="{D098EA03-250D-4104-8890-E771F9AE47C9}" type="slidenum">
              <a:rPr kumimoji="1" lang="ja-JP" altLang="en-US" smtClean="0"/>
              <a:t>67</a:t>
            </a:fld>
            <a:endParaRPr kumimoji="1" lang="ja-JP" altLang="en-US"/>
          </a:p>
        </p:txBody>
      </p:sp>
    </p:spTree>
    <p:extLst>
      <p:ext uri="{BB962C8B-B14F-4D97-AF65-F5344CB8AC3E}">
        <p14:creationId xmlns:p14="http://schemas.microsoft.com/office/powerpoint/2010/main" val="34801574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ltLang="ja-JP"/>
              <a:t>N-Gram Tagging</a:t>
            </a:r>
          </a:p>
        </p:txBody>
      </p:sp>
      <p:sp>
        <p:nvSpPr>
          <p:cNvPr id="3" name="コンテンツ プレースホルダー 2"/>
          <p:cNvSpPr>
            <a:spLocks noGrp="1"/>
          </p:cNvSpPr>
          <p:nvPr>
            <p:ph idx="1"/>
          </p:nvPr>
        </p:nvSpPr>
        <p:spPr/>
        <p:txBody>
          <a:bodyPr/>
          <a:lstStyle/>
          <a:p>
            <a:pPr>
              <a:lnSpc>
                <a:spcPct val="80000"/>
              </a:lnSpc>
            </a:pPr>
            <a:r>
              <a:rPr lang="en-US" altLang="ja-JP" dirty="0">
                <a:ea typeface="MS PGothic" panose="020B0600070205080204" pitchFamily="50" charset="-128"/>
              </a:rPr>
              <a:t>Why not 10-gram taggers?</a:t>
            </a:r>
          </a:p>
          <a:p>
            <a:pPr>
              <a:lnSpc>
                <a:spcPct val="80000"/>
              </a:lnSpc>
            </a:pPr>
            <a:r>
              <a:rPr lang="en-US" altLang="ja-JP" dirty="0">
                <a:ea typeface="MS PGothic" panose="020B0600070205080204" pitchFamily="50" charset="-128"/>
              </a:rPr>
              <a:t>As </a:t>
            </a:r>
            <a:r>
              <a:rPr lang="en-US" altLang="ja-JP" i="1" dirty="0">
                <a:ea typeface="MS PGothic" panose="020B0600070205080204" pitchFamily="50" charset="-128"/>
              </a:rPr>
              <a:t>n</a:t>
            </a:r>
            <a:r>
              <a:rPr lang="en-US" altLang="ja-JP" dirty="0">
                <a:ea typeface="MS PGothic" panose="020B0600070205080204" pitchFamily="50" charset="-128"/>
              </a:rPr>
              <a:t> gets larger, the specificity of the contexts increases, as does the chance that the data we wish to tag contains contexts that were not present in the training data. </a:t>
            </a:r>
          </a:p>
          <a:p>
            <a:pPr>
              <a:lnSpc>
                <a:spcPct val="80000"/>
              </a:lnSpc>
            </a:pPr>
            <a:r>
              <a:rPr lang="en-US" altLang="ja-JP" dirty="0">
                <a:ea typeface="MS PGothic" panose="020B0600070205080204" pitchFamily="50" charset="-128"/>
              </a:rPr>
              <a:t>This is known as the </a:t>
            </a:r>
            <a:r>
              <a:rPr lang="en-US" altLang="ja-JP" b="1" i="1" dirty="0">
                <a:ea typeface="MS PGothic" panose="020B0600070205080204" pitchFamily="50" charset="-128"/>
              </a:rPr>
              <a:t>sparse data</a:t>
            </a:r>
            <a:r>
              <a:rPr lang="en-US" altLang="ja-JP" dirty="0">
                <a:ea typeface="MS PGothic" panose="020B0600070205080204" pitchFamily="50" charset="-128"/>
              </a:rPr>
              <a:t> problem, and is quite pervasive in NLP. As a consequence, there is a trade-off between the accuracy and the coverage of our results (and this is related to the precision/recall trade-off</a:t>
            </a:r>
            <a:r>
              <a:rPr lang="en-US" altLang="ja-JP" b="1" dirty="0">
                <a:ea typeface="MS PGothic" panose="020B0600070205080204" pitchFamily="50" charset="-128"/>
              </a:rPr>
              <a:t>)</a:t>
            </a:r>
          </a:p>
          <a:p>
            <a:endParaRPr kumimoji="1" lang="ja-JP" altLang="en-US" dirty="0"/>
          </a:p>
        </p:txBody>
      </p:sp>
      <p:sp>
        <p:nvSpPr>
          <p:cNvPr id="4" name="スライド番号プレースホルダー 3"/>
          <p:cNvSpPr>
            <a:spLocks noGrp="1"/>
          </p:cNvSpPr>
          <p:nvPr>
            <p:ph type="sldNum" sz="quarter" idx="12"/>
          </p:nvPr>
        </p:nvSpPr>
        <p:spPr/>
        <p:txBody>
          <a:bodyPr/>
          <a:lstStyle/>
          <a:p>
            <a:fld id="{D098EA03-250D-4104-8890-E771F9AE47C9}" type="slidenum">
              <a:rPr kumimoji="1" lang="ja-JP" altLang="en-US" smtClean="0"/>
              <a:t>68</a:t>
            </a:fld>
            <a:endParaRPr kumimoji="1" lang="ja-JP" altLang="en-US"/>
          </a:p>
        </p:txBody>
      </p:sp>
    </p:spTree>
    <p:extLst>
      <p:ext uri="{BB962C8B-B14F-4D97-AF65-F5344CB8AC3E}">
        <p14:creationId xmlns:p14="http://schemas.microsoft.com/office/powerpoint/2010/main" val="13618611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ja-JP"/>
              <a:t>Markov Model Tagger</a:t>
            </a:r>
          </a:p>
        </p:txBody>
      </p:sp>
      <p:sp>
        <p:nvSpPr>
          <p:cNvPr id="3" name="コンテンツ プレースホルダー 2"/>
          <p:cNvSpPr>
            <a:spLocks noGrp="1"/>
          </p:cNvSpPr>
          <p:nvPr>
            <p:ph idx="1"/>
          </p:nvPr>
        </p:nvSpPr>
        <p:spPr/>
        <p:txBody>
          <a:bodyPr/>
          <a:lstStyle/>
          <a:p>
            <a:r>
              <a:rPr lang="en-US" altLang="ja-JP" dirty="0">
                <a:ea typeface="MS PGothic" panose="020B0600070205080204" pitchFamily="50" charset="-128"/>
              </a:rPr>
              <a:t>Bigram tagger</a:t>
            </a:r>
          </a:p>
          <a:p>
            <a:r>
              <a:rPr lang="en-US" altLang="ja-JP" dirty="0">
                <a:ea typeface="MS PGothic" panose="020B0600070205080204" pitchFamily="50" charset="-128"/>
              </a:rPr>
              <a:t>Assumptions:</a:t>
            </a:r>
          </a:p>
          <a:p>
            <a:pPr lvl="1"/>
            <a:r>
              <a:rPr lang="en-US" altLang="ja-JP" dirty="0">
                <a:ea typeface="MS PGothic" panose="020B0600070205080204" pitchFamily="50" charset="-128"/>
              </a:rPr>
              <a:t>Words are independent of each other</a:t>
            </a:r>
          </a:p>
          <a:p>
            <a:pPr lvl="1"/>
            <a:r>
              <a:rPr lang="en-US" altLang="ja-JP" dirty="0">
                <a:ea typeface="MS PGothic" panose="020B0600070205080204" pitchFamily="50" charset="-128"/>
              </a:rPr>
              <a:t>A word identity depends only on its tag</a:t>
            </a:r>
          </a:p>
          <a:p>
            <a:pPr lvl="1"/>
            <a:r>
              <a:rPr lang="en-US" altLang="ja-JP" dirty="0">
                <a:ea typeface="MS PGothic" panose="020B0600070205080204" pitchFamily="50" charset="-128"/>
              </a:rPr>
              <a:t>A tag depends only on the previous tag</a:t>
            </a:r>
          </a:p>
          <a:p>
            <a:r>
              <a:rPr lang="en-US" altLang="ja-JP" dirty="0">
                <a:ea typeface="MS PGothic" panose="020B0600070205080204" pitchFamily="50" charset="-128"/>
              </a:rPr>
              <a:t>How does a GM with these assumption look like?</a:t>
            </a:r>
          </a:p>
        </p:txBody>
      </p:sp>
      <p:sp>
        <p:nvSpPr>
          <p:cNvPr id="4" name="スライド番号プレースホルダー 3"/>
          <p:cNvSpPr>
            <a:spLocks noGrp="1"/>
          </p:cNvSpPr>
          <p:nvPr>
            <p:ph type="sldNum" sz="quarter" idx="12"/>
          </p:nvPr>
        </p:nvSpPr>
        <p:spPr/>
        <p:txBody>
          <a:bodyPr/>
          <a:lstStyle/>
          <a:p>
            <a:fld id="{D098EA03-250D-4104-8890-E771F9AE47C9}" type="slidenum">
              <a:rPr kumimoji="1" lang="ja-JP" altLang="en-US" smtClean="0"/>
              <a:t>69</a:t>
            </a:fld>
            <a:endParaRPr kumimoji="1" lang="ja-JP" altLang="en-US"/>
          </a:p>
        </p:txBody>
      </p:sp>
    </p:spTree>
    <p:extLst>
      <p:ext uri="{BB962C8B-B14F-4D97-AF65-F5344CB8AC3E}">
        <p14:creationId xmlns:p14="http://schemas.microsoft.com/office/powerpoint/2010/main" val="2905232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ltLang="ja-JP"/>
              <a:t>Markov Model Tagger</a:t>
            </a:r>
          </a:p>
        </p:txBody>
      </p:sp>
      <p:grpSp>
        <p:nvGrpSpPr>
          <p:cNvPr id="58394" name="Group 26"/>
          <p:cNvGrpSpPr>
            <a:grpSpLocks/>
          </p:cNvGrpSpPr>
          <p:nvPr/>
        </p:nvGrpSpPr>
        <p:grpSpPr bwMode="auto">
          <a:xfrm>
            <a:off x="3505201" y="1676400"/>
            <a:ext cx="625475" cy="2209800"/>
            <a:chOff x="1296" y="1392"/>
            <a:chExt cx="394" cy="1392"/>
          </a:xfrm>
        </p:grpSpPr>
        <p:sp>
          <p:nvSpPr>
            <p:cNvPr id="58372" name="Line 4"/>
            <p:cNvSpPr>
              <a:spLocks noChangeShapeType="1"/>
            </p:cNvSpPr>
            <p:nvPr/>
          </p:nvSpPr>
          <p:spPr bwMode="auto">
            <a:xfrm>
              <a:off x="1483" y="1776"/>
              <a:ext cx="0"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nvGrpSpPr>
            <p:cNvPr id="58381" name="Group 13"/>
            <p:cNvGrpSpPr>
              <a:grpSpLocks/>
            </p:cNvGrpSpPr>
            <p:nvPr/>
          </p:nvGrpSpPr>
          <p:grpSpPr bwMode="auto">
            <a:xfrm>
              <a:off x="1296" y="1392"/>
              <a:ext cx="394" cy="1392"/>
              <a:chOff x="1610" y="1392"/>
              <a:chExt cx="394" cy="1392"/>
            </a:xfrm>
          </p:grpSpPr>
          <p:sp>
            <p:nvSpPr>
              <p:cNvPr id="58377" name="Oval 9"/>
              <p:cNvSpPr>
                <a:spLocks noChangeArrowheads="1"/>
              </p:cNvSpPr>
              <p:nvPr/>
            </p:nvSpPr>
            <p:spPr bwMode="auto">
              <a:xfrm>
                <a:off x="1610" y="1392"/>
                <a:ext cx="394" cy="38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8378" name="Text Box 10"/>
              <p:cNvSpPr txBox="1">
                <a:spLocks noChangeArrowheads="1"/>
              </p:cNvSpPr>
              <p:nvPr/>
            </p:nvSpPr>
            <p:spPr bwMode="auto">
              <a:xfrm>
                <a:off x="1690" y="1440"/>
                <a:ext cx="233" cy="288"/>
              </a:xfrm>
              <a:prstGeom prst="rect">
                <a:avLst/>
              </a:prstGeom>
              <a:noFill/>
              <a:ln>
                <a:noFill/>
              </a:ln>
              <a:effectLst/>
              <a:extLst>
                <a:ext uri="{909E8E84-426E-40DD-AFC4-6F175D3DCCD1}">
                  <a14:hiddenFill xmlns:a14="http://schemas.microsoft.com/office/drawing/2010/main">
                    <a:solidFill>
                      <a:srgbClr val="B2B2B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400">
                    <a:latin typeface="Times New Roman" panose="02020603050405020304" pitchFamily="18" charset="0"/>
                    <a:ea typeface="MS PGothic" panose="020B0600070205080204" pitchFamily="50" charset="-128"/>
                  </a:rPr>
                  <a:t>t</a:t>
                </a:r>
                <a:r>
                  <a:rPr lang="en-US" altLang="ja-JP" sz="2400" baseline="-25000">
                    <a:latin typeface="Times New Roman" panose="02020603050405020304" pitchFamily="18" charset="0"/>
                    <a:ea typeface="MS PGothic" panose="020B0600070205080204" pitchFamily="50" charset="-128"/>
                  </a:rPr>
                  <a:t>1</a:t>
                </a:r>
              </a:p>
            </p:txBody>
          </p:sp>
          <p:sp>
            <p:nvSpPr>
              <p:cNvPr id="58379" name="Oval 11"/>
              <p:cNvSpPr>
                <a:spLocks noChangeArrowheads="1"/>
              </p:cNvSpPr>
              <p:nvPr/>
            </p:nvSpPr>
            <p:spPr bwMode="auto">
              <a:xfrm>
                <a:off x="1610" y="2400"/>
                <a:ext cx="394" cy="38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8380" name="Text Box 12"/>
              <p:cNvSpPr txBox="1">
                <a:spLocks noChangeArrowheads="1"/>
              </p:cNvSpPr>
              <p:nvPr/>
            </p:nvSpPr>
            <p:spPr bwMode="auto">
              <a:xfrm>
                <a:off x="1648" y="2448"/>
                <a:ext cx="319" cy="288"/>
              </a:xfrm>
              <a:prstGeom prst="rect">
                <a:avLst/>
              </a:prstGeom>
              <a:noFill/>
              <a:ln>
                <a:noFill/>
              </a:ln>
              <a:effectLst/>
              <a:extLst>
                <a:ext uri="{909E8E84-426E-40DD-AFC4-6F175D3DCCD1}">
                  <a14:hiddenFill xmlns:a14="http://schemas.microsoft.com/office/drawing/2010/main">
                    <a:solidFill>
                      <a:srgbClr val="B2B2B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400">
                    <a:latin typeface="Times New Roman" panose="02020603050405020304" pitchFamily="18" charset="0"/>
                    <a:ea typeface="MS PGothic" panose="020B0600070205080204" pitchFamily="50" charset="-128"/>
                  </a:rPr>
                  <a:t>w</a:t>
                </a:r>
                <a:r>
                  <a:rPr lang="en-US" altLang="ja-JP" sz="2400" baseline="-25000">
                    <a:latin typeface="Times New Roman" panose="02020603050405020304" pitchFamily="18" charset="0"/>
                    <a:ea typeface="MS PGothic" panose="020B0600070205080204" pitchFamily="50" charset="-128"/>
                  </a:rPr>
                  <a:t>1</a:t>
                </a:r>
              </a:p>
            </p:txBody>
          </p:sp>
        </p:grpSp>
      </p:grpSp>
      <p:grpSp>
        <p:nvGrpSpPr>
          <p:cNvPr id="58395" name="Group 27"/>
          <p:cNvGrpSpPr>
            <a:grpSpLocks/>
          </p:cNvGrpSpPr>
          <p:nvPr/>
        </p:nvGrpSpPr>
        <p:grpSpPr bwMode="auto">
          <a:xfrm>
            <a:off x="5105401" y="1676400"/>
            <a:ext cx="625475" cy="2209800"/>
            <a:chOff x="2304" y="1392"/>
            <a:chExt cx="394" cy="1392"/>
          </a:xfrm>
        </p:grpSpPr>
        <p:sp>
          <p:nvSpPr>
            <p:cNvPr id="58382" name="Line 14"/>
            <p:cNvSpPr>
              <a:spLocks noChangeShapeType="1"/>
            </p:cNvSpPr>
            <p:nvPr/>
          </p:nvSpPr>
          <p:spPr bwMode="auto">
            <a:xfrm>
              <a:off x="2491" y="1776"/>
              <a:ext cx="0"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nvGrpSpPr>
            <p:cNvPr id="58383" name="Group 15"/>
            <p:cNvGrpSpPr>
              <a:grpSpLocks/>
            </p:cNvGrpSpPr>
            <p:nvPr/>
          </p:nvGrpSpPr>
          <p:grpSpPr bwMode="auto">
            <a:xfrm>
              <a:off x="2304" y="1392"/>
              <a:ext cx="394" cy="1392"/>
              <a:chOff x="1610" y="1392"/>
              <a:chExt cx="394" cy="1392"/>
            </a:xfrm>
          </p:grpSpPr>
          <p:sp>
            <p:nvSpPr>
              <p:cNvPr id="58384" name="Oval 16"/>
              <p:cNvSpPr>
                <a:spLocks noChangeArrowheads="1"/>
              </p:cNvSpPr>
              <p:nvPr/>
            </p:nvSpPr>
            <p:spPr bwMode="auto">
              <a:xfrm>
                <a:off x="1610" y="1392"/>
                <a:ext cx="394" cy="38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8385" name="Text Box 17"/>
              <p:cNvSpPr txBox="1">
                <a:spLocks noChangeArrowheads="1"/>
              </p:cNvSpPr>
              <p:nvPr/>
            </p:nvSpPr>
            <p:spPr bwMode="auto">
              <a:xfrm>
                <a:off x="1690" y="1440"/>
                <a:ext cx="233" cy="288"/>
              </a:xfrm>
              <a:prstGeom prst="rect">
                <a:avLst/>
              </a:prstGeom>
              <a:noFill/>
              <a:ln>
                <a:noFill/>
              </a:ln>
              <a:effectLst/>
              <a:extLst>
                <a:ext uri="{909E8E84-426E-40DD-AFC4-6F175D3DCCD1}">
                  <a14:hiddenFill xmlns:a14="http://schemas.microsoft.com/office/drawing/2010/main">
                    <a:solidFill>
                      <a:srgbClr val="B2B2B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400">
                    <a:latin typeface="Times New Roman" panose="02020603050405020304" pitchFamily="18" charset="0"/>
                    <a:ea typeface="MS PGothic" panose="020B0600070205080204" pitchFamily="50" charset="-128"/>
                  </a:rPr>
                  <a:t>t</a:t>
                </a:r>
                <a:r>
                  <a:rPr lang="en-US" altLang="ja-JP" sz="2400" baseline="-25000">
                    <a:latin typeface="Times New Roman" panose="02020603050405020304" pitchFamily="18" charset="0"/>
                    <a:ea typeface="MS PGothic" panose="020B0600070205080204" pitchFamily="50" charset="-128"/>
                  </a:rPr>
                  <a:t>2</a:t>
                </a:r>
              </a:p>
            </p:txBody>
          </p:sp>
          <p:sp>
            <p:nvSpPr>
              <p:cNvPr id="58386" name="Oval 18"/>
              <p:cNvSpPr>
                <a:spLocks noChangeArrowheads="1"/>
              </p:cNvSpPr>
              <p:nvPr/>
            </p:nvSpPr>
            <p:spPr bwMode="auto">
              <a:xfrm>
                <a:off x="1610" y="2400"/>
                <a:ext cx="394" cy="38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8387" name="Text Box 19"/>
              <p:cNvSpPr txBox="1">
                <a:spLocks noChangeArrowheads="1"/>
              </p:cNvSpPr>
              <p:nvPr/>
            </p:nvSpPr>
            <p:spPr bwMode="auto">
              <a:xfrm>
                <a:off x="1648" y="2448"/>
                <a:ext cx="319" cy="288"/>
              </a:xfrm>
              <a:prstGeom prst="rect">
                <a:avLst/>
              </a:prstGeom>
              <a:noFill/>
              <a:ln>
                <a:noFill/>
              </a:ln>
              <a:effectLst/>
              <a:extLst>
                <a:ext uri="{909E8E84-426E-40DD-AFC4-6F175D3DCCD1}">
                  <a14:hiddenFill xmlns:a14="http://schemas.microsoft.com/office/drawing/2010/main">
                    <a:solidFill>
                      <a:srgbClr val="B2B2B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400">
                    <a:latin typeface="Times New Roman" panose="02020603050405020304" pitchFamily="18" charset="0"/>
                    <a:ea typeface="MS PGothic" panose="020B0600070205080204" pitchFamily="50" charset="-128"/>
                  </a:rPr>
                  <a:t>w</a:t>
                </a:r>
                <a:r>
                  <a:rPr lang="en-US" altLang="ja-JP" sz="2400" baseline="-25000">
                    <a:latin typeface="Times New Roman" panose="02020603050405020304" pitchFamily="18" charset="0"/>
                    <a:ea typeface="MS PGothic" panose="020B0600070205080204" pitchFamily="50" charset="-128"/>
                  </a:rPr>
                  <a:t>2</a:t>
                </a:r>
              </a:p>
            </p:txBody>
          </p:sp>
        </p:grpSp>
      </p:grpSp>
      <p:grpSp>
        <p:nvGrpSpPr>
          <p:cNvPr id="58396" name="Group 28"/>
          <p:cNvGrpSpPr>
            <a:grpSpLocks/>
          </p:cNvGrpSpPr>
          <p:nvPr/>
        </p:nvGrpSpPr>
        <p:grpSpPr bwMode="auto">
          <a:xfrm>
            <a:off x="7848601" y="1676400"/>
            <a:ext cx="625475" cy="2209800"/>
            <a:chOff x="4032" y="1440"/>
            <a:chExt cx="394" cy="1392"/>
          </a:xfrm>
        </p:grpSpPr>
        <p:sp>
          <p:nvSpPr>
            <p:cNvPr id="58388" name="Line 20"/>
            <p:cNvSpPr>
              <a:spLocks noChangeShapeType="1"/>
            </p:cNvSpPr>
            <p:nvPr/>
          </p:nvSpPr>
          <p:spPr bwMode="auto">
            <a:xfrm>
              <a:off x="4219" y="1824"/>
              <a:ext cx="0"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nvGrpSpPr>
            <p:cNvPr id="58389" name="Group 21"/>
            <p:cNvGrpSpPr>
              <a:grpSpLocks/>
            </p:cNvGrpSpPr>
            <p:nvPr/>
          </p:nvGrpSpPr>
          <p:grpSpPr bwMode="auto">
            <a:xfrm>
              <a:off x="4032" y="1440"/>
              <a:ext cx="394" cy="1392"/>
              <a:chOff x="1610" y="1392"/>
              <a:chExt cx="394" cy="1392"/>
            </a:xfrm>
          </p:grpSpPr>
          <p:sp>
            <p:nvSpPr>
              <p:cNvPr id="58390" name="Oval 22"/>
              <p:cNvSpPr>
                <a:spLocks noChangeArrowheads="1"/>
              </p:cNvSpPr>
              <p:nvPr/>
            </p:nvSpPr>
            <p:spPr bwMode="auto">
              <a:xfrm>
                <a:off x="1610" y="1392"/>
                <a:ext cx="394" cy="38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8391" name="Text Box 23"/>
              <p:cNvSpPr txBox="1">
                <a:spLocks noChangeArrowheads="1"/>
              </p:cNvSpPr>
              <p:nvPr/>
            </p:nvSpPr>
            <p:spPr bwMode="auto">
              <a:xfrm>
                <a:off x="1690" y="1440"/>
                <a:ext cx="233" cy="288"/>
              </a:xfrm>
              <a:prstGeom prst="rect">
                <a:avLst/>
              </a:prstGeom>
              <a:noFill/>
              <a:ln>
                <a:noFill/>
              </a:ln>
              <a:effectLst/>
              <a:extLst>
                <a:ext uri="{909E8E84-426E-40DD-AFC4-6F175D3DCCD1}">
                  <a14:hiddenFill xmlns:a14="http://schemas.microsoft.com/office/drawing/2010/main">
                    <a:solidFill>
                      <a:srgbClr val="B2B2B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400">
                    <a:latin typeface="Times New Roman" panose="02020603050405020304" pitchFamily="18" charset="0"/>
                    <a:ea typeface="MS PGothic" panose="020B0600070205080204" pitchFamily="50" charset="-128"/>
                  </a:rPr>
                  <a:t>t</a:t>
                </a:r>
                <a:r>
                  <a:rPr lang="en-US" altLang="ja-JP" sz="2400" baseline="-25000">
                    <a:latin typeface="Times New Roman" panose="02020603050405020304" pitchFamily="18" charset="0"/>
                    <a:ea typeface="MS PGothic" panose="020B0600070205080204" pitchFamily="50" charset="-128"/>
                  </a:rPr>
                  <a:t>n</a:t>
                </a:r>
              </a:p>
            </p:txBody>
          </p:sp>
          <p:sp>
            <p:nvSpPr>
              <p:cNvPr id="58392" name="Oval 24"/>
              <p:cNvSpPr>
                <a:spLocks noChangeArrowheads="1"/>
              </p:cNvSpPr>
              <p:nvPr/>
            </p:nvSpPr>
            <p:spPr bwMode="auto">
              <a:xfrm>
                <a:off x="1610" y="2400"/>
                <a:ext cx="394" cy="38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8393" name="Text Box 25"/>
              <p:cNvSpPr txBox="1">
                <a:spLocks noChangeArrowheads="1"/>
              </p:cNvSpPr>
              <p:nvPr/>
            </p:nvSpPr>
            <p:spPr bwMode="auto">
              <a:xfrm>
                <a:off x="1648" y="2448"/>
                <a:ext cx="319" cy="288"/>
              </a:xfrm>
              <a:prstGeom prst="rect">
                <a:avLst/>
              </a:prstGeom>
              <a:noFill/>
              <a:ln>
                <a:noFill/>
              </a:ln>
              <a:effectLst/>
              <a:extLst>
                <a:ext uri="{909E8E84-426E-40DD-AFC4-6F175D3DCCD1}">
                  <a14:hiddenFill xmlns:a14="http://schemas.microsoft.com/office/drawing/2010/main">
                    <a:solidFill>
                      <a:srgbClr val="B2B2B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400">
                    <a:latin typeface="Times New Roman" panose="02020603050405020304" pitchFamily="18" charset="0"/>
                    <a:ea typeface="MS PGothic" panose="020B0600070205080204" pitchFamily="50" charset="-128"/>
                  </a:rPr>
                  <a:t>w</a:t>
                </a:r>
                <a:r>
                  <a:rPr lang="en-US" altLang="ja-JP" sz="2400" baseline="-25000">
                    <a:latin typeface="Times New Roman" panose="02020603050405020304" pitchFamily="18" charset="0"/>
                    <a:ea typeface="MS PGothic" panose="020B0600070205080204" pitchFamily="50" charset="-128"/>
                  </a:rPr>
                  <a:t>n</a:t>
                </a:r>
              </a:p>
            </p:txBody>
          </p:sp>
        </p:grpSp>
      </p:grpSp>
      <p:sp>
        <p:nvSpPr>
          <p:cNvPr id="58397" name="Line 29"/>
          <p:cNvSpPr>
            <a:spLocks noChangeShapeType="1"/>
          </p:cNvSpPr>
          <p:nvPr/>
        </p:nvSpPr>
        <p:spPr bwMode="auto">
          <a:xfrm>
            <a:off x="4114800" y="1981200"/>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58398" name="Line 30"/>
          <p:cNvSpPr>
            <a:spLocks noChangeShapeType="1"/>
          </p:cNvSpPr>
          <p:nvPr/>
        </p:nvSpPr>
        <p:spPr bwMode="auto">
          <a:xfrm>
            <a:off x="5715000" y="1981200"/>
            <a:ext cx="2133600" cy="0"/>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aphicFrame>
        <p:nvGraphicFramePr>
          <p:cNvPr id="32" name="Object 31"/>
          <p:cNvGraphicFramePr>
            <a:graphicFrameLocks noChangeAspect="1"/>
          </p:cNvGraphicFramePr>
          <p:nvPr/>
        </p:nvGraphicFramePr>
        <p:xfrm>
          <a:off x="2362200" y="4495800"/>
          <a:ext cx="7848600" cy="776288"/>
        </p:xfrm>
        <a:graphic>
          <a:graphicData uri="http://schemas.openxmlformats.org/presentationml/2006/ole">
            <mc:AlternateContent xmlns:mc="http://schemas.openxmlformats.org/markup-compatibility/2006">
              <mc:Choice xmlns:v="urn:schemas-microsoft-com:vml" Requires="v">
                <p:oleObj name="Equation" r:id="rId2" imgW="3466800" imgH="342720" progId="Equation.3">
                  <p:embed/>
                </p:oleObj>
              </mc:Choice>
              <mc:Fallback>
                <p:oleObj name="Equation" r:id="rId2" imgW="3466800" imgH="342720" progId="Equation.3">
                  <p:embed/>
                  <p:pic>
                    <p:nvPicPr>
                      <p:cNvPr id="32" name="Object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4495800"/>
                        <a:ext cx="7848600"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スライド番号プレースホルダー 6"/>
          <p:cNvSpPr>
            <a:spLocks noGrp="1"/>
          </p:cNvSpPr>
          <p:nvPr>
            <p:ph type="sldNum" sz="quarter" idx="12"/>
          </p:nvPr>
        </p:nvSpPr>
        <p:spPr/>
        <p:txBody>
          <a:bodyPr/>
          <a:lstStyle/>
          <a:p>
            <a:fld id="{D098EA03-250D-4104-8890-E771F9AE47C9}" type="slidenum">
              <a:rPr kumimoji="1" lang="ja-JP" altLang="en-US" smtClean="0"/>
              <a:t>70</a:t>
            </a:fld>
            <a:endParaRPr kumimoji="1" lang="ja-JP" altLang="en-US"/>
          </a:p>
        </p:txBody>
      </p:sp>
    </p:spTree>
    <p:extLst>
      <p:ext uri="{BB962C8B-B14F-4D97-AF65-F5344CB8AC3E}">
        <p14:creationId xmlns:p14="http://schemas.microsoft.com/office/powerpoint/2010/main" val="249932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ltLang="ja-JP"/>
              <a:t>Markov Model Tagger Training</a:t>
            </a:r>
          </a:p>
        </p:txBody>
      </p:sp>
      <p:sp>
        <p:nvSpPr>
          <p:cNvPr id="17" name="Rectangle 3"/>
          <p:cNvSpPr txBox="1">
            <a:spLocks noChangeArrowheads="1"/>
          </p:cNvSpPr>
          <p:nvPr/>
        </p:nvSpPr>
        <p:spPr>
          <a:xfrm>
            <a:off x="1905000" y="2133601"/>
            <a:ext cx="83058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400" dirty="0">
                <a:ea typeface="MS PGothic" panose="020B0600070205080204" pitchFamily="50" charset="-128"/>
              </a:rPr>
              <a:t>For all of tags </a:t>
            </a:r>
            <a:r>
              <a:rPr lang="en-US" altLang="ja-JP" sz="2400" i="1" dirty="0" err="1">
                <a:ea typeface="MS PGothic" panose="020B0600070205080204" pitchFamily="50" charset="-128"/>
              </a:rPr>
              <a:t>t</a:t>
            </a:r>
            <a:r>
              <a:rPr lang="en-US" altLang="ja-JP" sz="2400" i="1" baseline="-25000" dirty="0" err="1">
                <a:ea typeface="MS PGothic" panose="020B0600070205080204" pitchFamily="50" charset="-128"/>
              </a:rPr>
              <a:t>i</a:t>
            </a:r>
            <a:r>
              <a:rPr lang="en-US" altLang="ja-JP" sz="2400" i="1" baseline="-25000" dirty="0">
                <a:ea typeface="MS PGothic" panose="020B0600070205080204" pitchFamily="50" charset="-128"/>
              </a:rPr>
              <a:t> </a:t>
            </a:r>
            <a:r>
              <a:rPr lang="en-US" altLang="ja-JP" sz="2400" dirty="0">
                <a:ea typeface="MS PGothic" panose="020B0600070205080204" pitchFamily="50" charset="-128"/>
              </a:rPr>
              <a:t>do</a:t>
            </a:r>
          </a:p>
          <a:p>
            <a:pPr lvl="1"/>
            <a:r>
              <a:rPr lang="en-US" altLang="ja-JP" dirty="0">
                <a:ea typeface="MS PGothic" panose="020B0600070205080204" pitchFamily="50" charset="-128"/>
              </a:rPr>
              <a:t>For all tags </a:t>
            </a:r>
            <a:r>
              <a:rPr lang="en-US" altLang="ja-JP" sz="2000" i="1" dirty="0" err="1">
                <a:ea typeface="MS PGothic" panose="020B0600070205080204" pitchFamily="50" charset="-128"/>
              </a:rPr>
              <a:t>t</a:t>
            </a:r>
            <a:r>
              <a:rPr lang="en-US" altLang="ja-JP" sz="2000" i="1" baseline="-25000" dirty="0" err="1">
                <a:ea typeface="MS PGothic" panose="020B0600070205080204" pitchFamily="50" charset="-128"/>
              </a:rPr>
              <a:t>j</a:t>
            </a:r>
            <a:r>
              <a:rPr lang="en-US" altLang="ja-JP" i="1" baseline="-25000" dirty="0">
                <a:ea typeface="MS PGothic" panose="020B0600070205080204" pitchFamily="50" charset="-128"/>
              </a:rPr>
              <a:t> </a:t>
            </a:r>
            <a:r>
              <a:rPr lang="en-US" altLang="ja-JP" sz="2000" dirty="0">
                <a:ea typeface="MS PGothic" panose="020B0600070205080204" pitchFamily="50" charset="-128"/>
              </a:rPr>
              <a:t>do</a:t>
            </a:r>
            <a:endParaRPr lang="en-US" altLang="ja-JP" dirty="0">
              <a:ea typeface="MS PGothic" panose="020B0600070205080204" pitchFamily="50" charset="-128"/>
            </a:endParaRPr>
          </a:p>
          <a:p>
            <a:pPr lvl="1"/>
            <a:endParaRPr lang="en-US" altLang="ja-JP" sz="1200" dirty="0">
              <a:ea typeface="MS PGothic" panose="020B0600070205080204" pitchFamily="50" charset="-128"/>
            </a:endParaRPr>
          </a:p>
          <a:p>
            <a:pPr lvl="1"/>
            <a:endParaRPr lang="en-US" altLang="ja-JP" sz="1200" dirty="0">
              <a:ea typeface="MS PGothic" panose="020B0600070205080204" pitchFamily="50" charset="-128"/>
            </a:endParaRPr>
          </a:p>
          <a:p>
            <a:pPr lvl="1"/>
            <a:r>
              <a:rPr lang="en-US" altLang="ja-JP" dirty="0">
                <a:ea typeface="MS PGothic" panose="020B0600070205080204" pitchFamily="50" charset="-128"/>
              </a:rPr>
              <a:t>end</a:t>
            </a:r>
            <a:endParaRPr lang="en-US" altLang="ja-JP" sz="2000" dirty="0">
              <a:ea typeface="MS PGothic" panose="020B0600070205080204" pitchFamily="50" charset="-128"/>
            </a:endParaRPr>
          </a:p>
          <a:p>
            <a:pPr>
              <a:buFontTx/>
              <a:buNone/>
            </a:pPr>
            <a:r>
              <a:rPr lang="en-US" altLang="ja-JP" sz="2400" dirty="0">
                <a:ea typeface="MS PGothic" panose="020B0600070205080204" pitchFamily="50" charset="-128"/>
              </a:rPr>
              <a:t>	</a:t>
            </a:r>
          </a:p>
          <a:p>
            <a:r>
              <a:rPr lang="en-US" altLang="ja-JP" sz="2400" dirty="0">
                <a:ea typeface="MS PGothic" panose="020B0600070205080204" pitchFamily="50" charset="-128"/>
              </a:rPr>
              <a:t>For all of tags </a:t>
            </a:r>
            <a:r>
              <a:rPr lang="en-US" altLang="ja-JP" sz="2400" i="1" dirty="0" err="1">
                <a:ea typeface="MS PGothic" panose="020B0600070205080204" pitchFamily="50" charset="-128"/>
              </a:rPr>
              <a:t>t</a:t>
            </a:r>
            <a:r>
              <a:rPr lang="en-US" altLang="ja-JP" sz="2400" i="1" baseline="-25000" dirty="0" err="1">
                <a:ea typeface="MS PGothic" panose="020B0600070205080204" pitchFamily="50" charset="-128"/>
              </a:rPr>
              <a:t>i</a:t>
            </a:r>
            <a:r>
              <a:rPr lang="en-US" altLang="ja-JP" sz="2400" i="1" baseline="-25000" dirty="0">
                <a:ea typeface="MS PGothic" panose="020B0600070205080204" pitchFamily="50" charset="-128"/>
              </a:rPr>
              <a:t> </a:t>
            </a:r>
            <a:r>
              <a:rPr lang="en-US" altLang="ja-JP" sz="2400" dirty="0">
                <a:ea typeface="MS PGothic" panose="020B0600070205080204" pitchFamily="50" charset="-128"/>
              </a:rPr>
              <a:t>do</a:t>
            </a:r>
          </a:p>
          <a:p>
            <a:pPr lvl="1"/>
            <a:r>
              <a:rPr lang="en-US" altLang="ja-JP" dirty="0">
                <a:ea typeface="MS PGothic" panose="020B0600070205080204" pitchFamily="50" charset="-128"/>
              </a:rPr>
              <a:t>For all words </a:t>
            </a:r>
            <a:r>
              <a:rPr lang="en-US" altLang="ja-JP" sz="2000" i="1" dirty="0" err="1">
                <a:ea typeface="MS PGothic" panose="020B0600070205080204" pitchFamily="50" charset="-128"/>
              </a:rPr>
              <a:t>w</a:t>
            </a:r>
            <a:r>
              <a:rPr lang="en-US" altLang="ja-JP" sz="2000" i="1" baseline="-25000" dirty="0" err="1">
                <a:ea typeface="MS PGothic" panose="020B0600070205080204" pitchFamily="50" charset="-128"/>
              </a:rPr>
              <a:t>i</a:t>
            </a:r>
            <a:r>
              <a:rPr lang="en-US" altLang="ja-JP" i="1" baseline="-25000" dirty="0">
                <a:ea typeface="MS PGothic" panose="020B0600070205080204" pitchFamily="50" charset="-128"/>
              </a:rPr>
              <a:t> </a:t>
            </a:r>
            <a:r>
              <a:rPr lang="en-US" altLang="ja-JP" sz="2000" dirty="0">
                <a:ea typeface="MS PGothic" panose="020B0600070205080204" pitchFamily="50" charset="-128"/>
              </a:rPr>
              <a:t>do</a:t>
            </a:r>
            <a:endParaRPr lang="en-US" altLang="ja-JP" dirty="0">
              <a:ea typeface="MS PGothic" panose="020B0600070205080204" pitchFamily="50" charset="-128"/>
            </a:endParaRPr>
          </a:p>
          <a:p>
            <a:endParaRPr lang="en-US" altLang="ja-JP" sz="2400" dirty="0">
              <a:ea typeface="MS PGothic" panose="020B0600070205080204" pitchFamily="50" charset="-128"/>
            </a:endParaRPr>
          </a:p>
          <a:p>
            <a:endParaRPr lang="en-US" altLang="ja-JP" sz="2400" dirty="0">
              <a:ea typeface="MS PGothic" panose="020B0600070205080204" pitchFamily="50" charset="-128"/>
            </a:endParaRPr>
          </a:p>
          <a:p>
            <a:endParaRPr lang="en-US" altLang="ja-JP" sz="2400" dirty="0">
              <a:ea typeface="MS PGothic" panose="020B0600070205080204" pitchFamily="50" charset="-128"/>
            </a:endParaRPr>
          </a:p>
          <a:p>
            <a:endParaRPr lang="en-US" altLang="ja-JP" sz="2400" dirty="0">
              <a:ea typeface="MS PGothic" panose="020B0600070205080204" pitchFamily="50" charset="-128"/>
            </a:endParaRPr>
          </a:p>
          <a:p>
            <a:pPr lvl="1"/>
            <a:endParaRPr lang="en-US" altLang="ja-JP" dirty="0">
              <a:ea typeface="MS PGothic" panose="020B0600070205080204" pitchFamily="50" charset="-128"/>
            </a:endParaRPr>
          </a:p>
          <a:p>
            <a:pPr lvl="2"/>
            <a:endParaRPr lang="en-US" altLang="ja-JP" dirty="0">
              <a:ea typeface="MS PGothic" panose="020B0600070205080204" pitchFamily="50" charset="-128"/>
            </a:endParaRPr>
          </a:p>
        </p:txBody>
      </p:sp>
      <p:graphicFrame>
        <p:nvGraphicFramePr>
          <p:cNvPr id="18" name="Object 4"/>
          <p:cNvGraphicFramePr>
            <a:graphicFrameLocks noChangeAspect="1"/>
          </p:cNvGraphicFramePr>
          <p:nvPr/>
        </p:nvGraphicFramePr>
        <p:xfrm>
          <a:off x="3556924" y="2870994"/>
          <a:ext cx="1866900" cy="760413"/>
        </p:xfrm>
        <a:graphic>
          <a:graphicData uri="http://schemas.openxmlformats.org/presentationml/2006/ole">
            <mc:AlternateContent xmlns:mc="http://schemas.openxmlformats.org/markup-compatibility/2006">
              <mc:Choice xmlns:v="urn:schemas-microsoft-com:vml" Requires="v">
                <p:oleObj name="数式" r:id="rId2" imgW="1028520" imgH="419040" progId="Equation.3">
                  <p:embed/>
                </p:oleObj>
              </mc:Choice>
              <mc:Fallback>
                <p:oleObj name="数式" r:id="rId2" imgW="1028520" imgH="419040" progId="Equation.3">
                  <p:embed/>
                  <p:pic>
                    <p:nvPicPr>
                      <p:cNvPr id="18" name="Object 4"/>
                      <p:cNvPicPr>
                        <a:picLocks noChangeAspect="1" noChangeArrowheads="1"/>
                      </p:cNvPicPr>
                      <p:nvPr/>
                    </p:nvPicPr>
                    <p:blipFill>
                      <a:blip r:embed="rId3"/>
                      <a:srcRect/>
                      <a:stretch>
                        <a:fillRect/>
                      </a:stretch>
                    </p:blipFill>
                    <p:spPr bwMode="auto">
                      <a:xfrm>
                        <a:off x="3556924" y="2870994"/>
                        <a:ext cx="1866900" cy="76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7"/>
          <p:cNvGraphicFramePr>
            <a:graphicFrameLocks noChangeAspect="1"/>
          </p:cNvGraphicFramePr>
          <p:nvPr/>
        </p:nvGraphicFramePr>
        <p:xfrm>
          <a:off x="3442624" y="5075931"/>
          <a:ext cx="1981200" cy="717550"/>
        </p:xfrm>
        <a:graphic>
          <a:graphicData uri="http://schemas.openxmlformats.org/presentationml/2006/ole">
            <mc:AlternateContent xmlns:mc="http://schemas.openxmlformats.org/markup-compatibility/2006">
              <mc:Choice xmlns:v="urn:schemas-microsoft-com:vml" Requires="v">
                <p:oleObj name="Equation" r:id="rId4" imgW="1155600" imgH="419040" progId="Equation.3">
                  <p:embed/>
                </p:oleObj>
              </mc:Choice>
              <mc:Fallback>
                <p:oleObj name="Equation" r:id="rId4" imgW="1155600" imgH="419040" progId="Equation.3">
                  <p:embed/>
                  <p:pic>
                    <p:nvPicPr>
                      <p:cNvPr id="19"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2624" y="5075931"/>
                        <a:ext cx="1981200"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Text Box 9"/>
          <p:cNvSpPr txBox="1">
            <a:spLocks noChangeArrowheads="1"/>
          </p:cNvSpPr>
          <p:nvPr/>
        </p:nvSpPr>
        <p:spPr bwMode="auto">
          <a:xfrm>
            <a:off x="6429894" y="3045154"/>
            <a:ext cx="3504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600" i="1" dirty="0">
                <a:ea typeface="MS PGothic" panose="020B0600070205080204" pitchFamily="50" charset="-128"/>
              </a:rPr>
              <a:t>C(</a:t>
            </a:r>
            <a:r>
              <a:rPr lang="en-US" altLang="ja-JP" sz="1600" i="1" dirty="0" err="1">
                <a:ea typeface="MS PGothic" panose="020B0600070205080204" pitchFamily="50" charset="-128"/>
              </a:rPr>
              <a:t>t</a:t>
            </a:r>
            <a:r>
              <a:rPr lang="en-US" altLang="ja-JP" sz="1600" i="1" baseline="-25000" dirty="0" err="1">
                <a:ea typeface="MS PGothic" panose="020B0600070205080204" pitchFamily="50" charset="-128"/>
              </a:rPr>
              <a:t>j</a:t>
            </a:r>
            <a:r>
              <a:rPr lang="en-US" altLang="ja-JP" sz="1600" i="1" dirty="0" err="1">
                <a:ea typeface="MS PGothic" panose="020B0600070205080204" pitchFamily="50" charset="-128"/>
              </a:rPr>
              <a:t>,t</a:t>
            </a:r>
            <a:r>
              <a:rPr lang="en-US" altLang="ja-JP" sz="1600" i="1" baseline="-25000" dirty="0" err="1">
                <a:ea typeface="MS PGothic" panose="020B0600070205080204" pitchFamily="50" charset="-128"/>
              </a:rPr>
              <a:t>i</a:t>
            </a:r>
            <a:r>
              <a:rPr lang="en-US" altLang="ja-JP" sz="1600" i="1" dirty="0">
                <a:ea typeface="MS PGothic" panose="020B0600070205080204" pitchFamily="50" charset="-128"/>
              </a:rPr>
              <a:t>)</a:t>
            </a:r>
            <a:r>
              <a:rPr lang="en-US" altLang="ja-JP" sz="1600" dirty="0">
                <a:ea typeface="MS PGothic" panose="020B0600070205080204" pitchFamily="50" charset="-128"/>
              </a:rPr>
              <a:t> = number of occurrences of </a:t>
            </a:r>
          </a:p>
          <a:p>
            <a:r>
              <a:rPr lang="en-US" altLang="ja-JP" sz="1600" dirty="0">
                <a:ea typeface="MS PGothic" panose="020B0600070205080204" pitchFamily="50" charset="-128"/>
              </a:rPr>
              <a:t>              </a:t>
            </a:r>
            <a:r>
              <a:rPr lang="en-US" altLang="ja-JP" sz="1600" i="1" dirty="0" err="1">
                <a:ea typeface="MS PGothic" panose="020B0600070205080204" pitchFamily="50" charset="-128"/>
              </a:rPr>
              <a:t>t</a:t>
            </a:r>
            <a:r>
              <a:rPr lang="en-US" altLang="ja-JP" sz="1600" i="1" baseline="-25000" dirty="0" err="1">
                <a:ea typeface="MS PGothic" panose="020B0600070205080204" pitchFamily="50" charset="-128"/>
              </a:rPr>
              <a:t>j</a:t>
            </a:r>
            <a:r>
              <a:rPr lang="en-US" altLang="ja-JP" sz="1600" dirty="0">
                <a:ea typeface="MS PGothic" panose="020B0600070205080204" pitchFamily="50" charset="-128"/>
              </a:rPr>
              <a:t> followed by </a:t>
            </a:r>
            <a:r>
              <a:rPr lang="en-US" altLang="ja-JP" sz="1600" i="1" dirty="0" err="1">
                <a:ea typeface="MS PGothic" panose="020B0600070205080204" pitchFamily="50" charset="-128"/>
              </a:rPr>
              <a:t>t</a:t>
            </a:r>
            <a:r>
              <a:rPr lang="en-US" altLang="ja-JP" sz="1600" i="1" baseline="-25000" dirty="0" err="1">
                <a:ea typeface="MS PGothic" panose="020B0600070205080204" pitchFamily="50" charset="-128"/>
              </a:rPr>
              <a:t>i</a:t>
            </a:r>
            <a:endParaRPr lang="en-US" altLang="ja-JP" sz="1600" i="1" baseline="-25000" dirty="0">
              <a:ea typeface="MS PGothic" panose="020B0600070205080204" pitchFamily="50" charset="-128"/>
            </a:endParaRPr>
          </a:p>
        </p:txBody>
      </p:sp>
      <p:sp>
        <p:nvSpPr>
          <p:cNvPr id="21" name="Text Box 10"/>
          <p:cNvSpPr txBox="1">
            <a:spLocks noChangeArrowheads="1"/>
          </p:cNvSpPr>
          <p:nvPr/>
        </p:nvSpPr>
        <p:spPr bwMode="auto">
          <a:xfrm>
            <a:off x="6408156" y="5142318"/>
            <a:ext cx="38026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600" i="1" dirty="0">
                <a:ea typeface="MS PGothic" panose="020B0600070205080204" pitchFamily="50" charset="-128"/>
              </a:rPr>
              <a:t>C(</a:t>
            </a:r>
            <a:r>
              <a:rPr lang="en-US" altLang="ja-JP" sz="1600" i="1" dirty="0" err="1">
                <a:ea typeface="MS PGothic" panose="020B0600070205080204" pitchFamily="50" charset="-128"/>
              </a:rPr>
              <a:t>w</a:t>
            </a:r>
            <a:r>
              <a:rPr lang="en-US" altLang="ja-JP" sz="1600" i="1" baseline="-25000" dirty="0" err="1">
                <a:ea typeface="MS PGothic" panose="020B0600070205080204" pitchFamily="50" charset="-128"/>
              </a:rPr>
              <a:t>j</a:t>
            </a:r>
            <a:r>
              <a:rPr lang="en-US" altLang="ja-JP" sz="1600" i="1" dirty="0">
                <a:ea typeface="MS PGothic" panose="020B0600070205080204" pitchFamily="50" charset="-128"/>
              </a:rPr>
              <a:t>, </a:t>
            </a:r>
            <a:r>
              <a:rPr lang="en-US" altLang="ja-JP" sz="1600" i="1" dirty="0" err="1">
                <a:ea typeface="MS PGothic" panose="020B0600070205080204" pitchFamily="50" charset="-128"/>
              </a:rPr>
              <a:t>t</a:t>
            </a:r>
            <a:r>
              <a:rPr lang="en-US" altLang="ja-JP" sz="1600" i="1" baseline="-25000" dirty="0" err="1">
                <a:ea typeface="MS PGothic" panose="020B0600070205080204" pitchFamily="50" charset="-128"/>
              </a:rPr>
              <a:t>j</a:t>
            </a:r>
            <a:r>
              <a:rPr lang="en-US" altLang="ja-JP" sz="1600" i="1" dirty="0">
                <a:ea typeface="MS PGothic" panose="020B0600070205080204" pitchFamily="50" charset="-128"/>
              </a:rPr>
              <a:t>)</a:t>
            </a:r>
            <a:r>
              <a:rPr lang="en-US" altLang="ja-JP" sz="1600" dirty="0">
                <a:ea typeface="MS PGothic" panose="020B0600070205080204" pitchFamily="50" charset="-128"/>
              </a:rPr>
              <a:t> = number of occurrences of </a:t>
            </a:r>
          </a:p>
          <a:p>
            <a:r>
              <a:rPr lang="en-US" altLang="ja-JP" sz="1600" dirty="0">
                <a:ea typeface="MS PGothic" panose="020B0600070205080204" pitchFamily="50" charset="-128"/>
              </a:rPr>
              <a:t>     </a:t>
            </a:r>
            <a:r>
              <a:rPr lang="en-US" altLang="ja-JP" sz="1600" i="1" dirty="0" err="1">
                <a:ea typeface="MS PGothic" panose="020B0600070205080204" pitchFamily="50" charset="-128"/>
              </a:rPr>
              <a:t>w</a:t>
            </a:r>
            <a:r>
              <a:rPr lang="en-US" altLang="ja-JP" sz="1600" i="1" baseline="-25000" dirty="0" err="1">
                <a:ea typeface="MS PGothic" panose="020B0600070205080204" pitchFamily="50" charset="-128"/>
              </a:rPr>
              <a:t>i</a:t>
            </a:r>
            <a:r>
              <a:rPr lang="en-US" altLang="ja-JP" sz="1600" dirty="0">
                <a:ea typeface="MS PGothic" panose="020B0600070205080204" pitchFamily="50" charset="-128"/>
              </a:rPr>
              <a:t> that are labeled as followed as </a:t>
            </a:r>
            <a:r>
              <a:rPr lang="en-US" altLang="ja-JP" sz="1600" i="1" dirty="0" err="1">
                <a:ea typeface="MS PGothic" panose="020B0600070205080204" pitchFamily="50" charset="-128"/>
              </a:rPr>
              <a:t>t</a:t>
            </a:r>
            <a:r>
              <a:rPr lang="en-US" altLang="ja-JP" sz="1600" i="1" baseline="-25000" dirty="0" err="1">
                <a:ea typeface="MS PGothic" panose="020B0600070205080204" pitchFamily="50" charset="-128"/>
              </a:rPr>
              <a:t>i</a:t>
            </a:r>
            <a:endParaRPr lang="en-US" altLang="ja-JP" sz="1600" i="1" baseline="-25000" dirty="0">
              <a:ea typeface="MS PGothic" panose="020B0600070205080204" pitchFamily="50" charset="-128"/>
            </a:endParaRPr>
          </a:p>
        </p:txBody>
      </p:sp>
      <p:graphicFrame>
        <p:nvGraphicFramePr>
          <p:cNvPr id="22" name="Object 11"/>
          <p:cNvGraphicFramePr>
            <a:graphicFrameLocks noChangeAspect="1"/>
          </p:cNvGraphicFramePr>
          <p:nvPr/>
        </p:nvGraphicFramePr>
        <p:xfrm>
          <a:off x="2285286" y="1420019"/>
          <a:ext cx="7848600" cy="776288"/>
        </p:xfrm>
        <a:graphic>
          <a:graphicData uri="http://schemas.openxmlformats.org/presentationml/2006/ole">
            <mc:AlternateContent xmlns:mc="http://schemas.openxmlformats.org/markup-compatibility/2006">
              <mc:Choice xmlns:v="urn:schemas-microsoft-com:vml" Requires="v">
                <p:oleObj name="Equation" r:id="rId6" imgW="3466800" imgH="342720" progId="Equation.3">
                  <p:embed/>
                </p:oleObj>
              </mc:Choice>
              <mc:Fallback>
                <p:oleObj name="Equation" r:id="rId6" imgW="3466800" imgH="342720" progId="Equation.3">
                  <p:embed/>
                  <p:pic>
                    <p:nvPicPr>
                      <p:cNvPr id="22"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5286" y="1420019"/>
                        <a:ext cx="7848600"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スライド番号プレースホルダー 9"/>
          <p:cNvSpPr>
            <a:spLocks noGrp="1"/>
          </p:cNvSpPr>
          <p:nvPr>
            <p:ph type="sldNum" sz="quarter" idx="12"/>
          </p:nvPr>
        </p:nvSpPr>
        <p:spPr/>
        <p:txBody>
          <a:bodyPr/>
          <a:lstStyle/>
          <a:p>
            <a:fld id="{D098EA03-250D-4104-8890-E771F9AE47C9}" type="slidenum">
              <a:rPr kumimoji="1" lang="ja-JP" altLang="en-US" smtClean="0"/>
              <a:t>71</a:t>
            </a:fld>
            <a:endParaRPr kumimoji="1" lang="ja-JP" altLang="en-US"/>
          </a:p>
        </p:txBody>
      </p:sp>
    </p:spTree>
    <p:extLst>
      <p:ext uri="{BB962C8B-B14F-4D97-AF65-F5344CB8AC3E}">
        <p14:creationId xmlns:p14="http://schemas.microsoft.com/office/powerpoint/2010/main" val="26379569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ja-JP"/>
              <a:t>Markov Model Tagger Estimation</a:t>
            </a:r>
            <a:endParaRPr lang="en-US" altLang="ja-JP" dirty="0"/>
          </a:p>
        </p:txBody>
      </p:sp>
      <p:sp>
        <p:nvSpPr>
          <p:cNvPr id="16" name="コンテンツ プレースホルダー 15"/>
          <p:cNvSpPr>
            <a:spLocks noGrp="1"/>
          </p:cNvSpPr>
          <p:nvPr>
            <p:ph idx="1"/>
          </p:nvPr>
        </p:nvSpPr>
        <p:spPr/>
        <p:txBody>
          <a:bodyPr/>
          <a:lstStyle/>
          <a:p>
            <a:endParaRPr lang="en-US" altLang="ja-JP" dirty="0">
              <a:ea typeface="MS PGothic" panose="020B0600070205080204" pitchFamily="50" charset="-128"/>
            </a:endParaRPr>
          </a:p>
          <a:p>
            <a:endParaRPr lang="en-US" altLang="ja-JP" dirty="0">
              <a:ea typeface="MS PGothic" panose="020B0600070205080204" pitchFamily="50" charset="-128"/>
            </a:endParaRPr>
          </a:p>
          <a:p>
            <a:r>
              <a:rPr lang="en-US" altLang="ja-JP" dirty="0">
                <a:ea typeface="MS PGothic" panose="020B0600070205080204" pitchFamily="50" charset="-128"/>
              </a:rPr>
              <a:t>Goal/Estimation:</a:t>
            </a:r>
          </a:p>
          <a:p>
            <a:pPr lvl="1"/>
            <a:r>
              <a:rPr lang="en-US" altLang="ja-JP" dirty="0">
                <a:ea typeface="MS PGothic" panose="020B0600070205080204" pitchFamily="50" charset="-128"/>
              </a:rPr>
              <a:t>Find the optimal tag sequence for a given sentence</a:t>
            </a:r>
          </a:p>
          <a:p>
            <a:pPr lvl="1"/>
            <a:endParaRPr lang="en-US" altLang="ja-JP" dirty="0">
              <a:ea typeface="MS PGothic" panose="020B0600070205080204" pitchFamily="50" charset="-128"/>
            </a:endParaRPr>
          </a:p>
          <a:p>
            <a:pPr lvl="1"/>
            <a:endParaRPr lang="en-US" altLang="ja-JP" dirty="0">
              <a:ea typeface="MS PGothic" panose="020B0600070205080204" pitchFamily="50" charset="-128"/>
            </a:endParaRPr>
          </a:p>
          <a:p>
            <a:pPr lvl="1"/>
            <a:endParaRPr lang="en-US" altLang="ja-JP" dirty="0">
              <a:ea typeface="MS PGothic" panose="020B0600070205080204" pitchFamily="50" charset="-128"/>
            </a:endParaRPr>
          </a:p>
          <a:p>
            <a:pPr lvl="1"/>
            <a:r>
              <a:rPr lang="en-US" altLang="ja-JP" dirty="0">
                <a:ea typeface="MS PGothic" panose="020B0600070205080204" pitchFamily="50" charset="-128"/>
              </a:rPr>
              <a:t>The Viterbi algorithm</a:t>
            </a:r>
          </a:p>
        </p:txBody>
      </p:sp>
      <p:sp>
        <p:nvSpPr>
          <p:cNvPr id="24" name="Rectangle 12"/>
          <p:cNvSpPr txBox="1">
            <a:spLocks noChangeArrowheads="1"/>
          </p:cNvSpPr>
          <p:nvPr/>
        </p:nvSpPr>
        <p:spPr>
          <a:xfrm>
            <a:off x="2209800" y="2590800"/>
            <a:ext cx="7315200" cy="3962400"/>
          </a:xfrm>
          <a:prstGeom prst="rect">
            <a:avLst/>
          </a:prstGeom>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en-US" altLang="ja-JP" dirty="0">
              <a:ea typeface="MS PGothic" panose="020B0600070205080204" pitchFamily="50" charset="-128"/>
            </a:endParaRPr>
          </a:p>
        </p:txBody>
      </p:sp>
      <p:graphicFrame>
        <p:nvGraphicFramePr>
          <p:cNvPr id="25" name="Object 8"/>
          <p:cNvGraphicFramePr>
            <a:graphicFrameLocks noChangeAspect="1"/>
          </p:cNvGraphicFramePr>
          <p:nvPr/>
        </p:nvGraphicFramePr>
        <p:xfrm>
          <a:off x="2209800" y="2067719"/>
          <a:ext cx="7848600" cy="776288"/>
        </p:xfrm>
        <a:graphic>
          <a:graphicData uri="http://schemas.openxmlformats.org/presentationml/2006/ole">
            <mc:AlternateContent xmlns:mc="http://schemas.openxmlformats.org/markup-compatibility/2006">
              <mc:Choice xmlns:v="urn:schemas-microsoft-com:vml" Requires="v">
                <p:oleObj name="Equation" r:id="rId2" imgW="3466800" imgH="342720" progId="Equation.3">
                  <p:embed/>
                </p:oleObj>
              </mc:Choice>
              <mc:Fallback>
                <p:oleObj name="Equation" r:id="rId2" imgW="3466800" imgH="342720" progId="Equation.3">
                  <p:embed/>
                  <p:pic>
                    <p:nvPicPr>
                      <p:cNvPr id="25"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067719"/>
                        <a:ext cx="7848600"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Object 13"/>
          <p:cNvGraphicFramePr>
            <a:graphicFrameLocks noChangeAspect="1"/>
          </p:cNvGraphicFramePr>
          <p:nvPr/>
        </p:nvGraphicFramePr>
        <p:xfrm>
          <a:off x="2933700" y="3795712"/>
          <a:ext cx="5867400" cy="776288"/>
        </p:xfrm>
        <a:graphic>
          <a:graphicData uri="http://schemas.openxmlformats.org/presentationml/2006/ole">
            <mc:AlternateContent xmlns:mc="http://schemas.openxmlformats.org/markup-compatibility/2006">
              <mc:Choice xmlns:v="urn:schemas-microsoft-com:vml" Requires="v">
                <p:oleObj name="Equation" r:id="rId4" imgW="2400120" imgH="317160" progId="Equation.3">
                  <p:embed/>
                </p:oleObj>
              </mc:Choice>
              <mc:Fallback>
                <p:oleObj name="Equation" r:id="rId4" imgW="2400120" imgH="317160" progId="Equation.3">
                  <p:embed/>
                  <p:pic>
                    <p:nvPicPr>
                      <p:cNvPr id="26"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3700" y="3795712"/>
                        <a:ext cx="5867400"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スライド番号プレースホルダー 16"/>
          <p:cNvSpPr>
            <a:spLocks noGrp="1"/>
          </p:cNvSpPr>
          <p:nvPr>
            <p:ph type="sldNum" sz="quarter" idx="12"/>
          </p:nvPr>
        </p:nvSpPr>
        <p:spPr/>
        <p:txBody>
          <a:bodyPr/>
          <a:lstStyle/>
          <a:p>
            <a:fld id="{D098EA03-250D-4104-8890-E771F9AE47C9}" type="slidenum">
              <a:rPr kumimoji="1" lang="ja-JP" altLang="en-US" smtClean="0"/>
              <a:t>72</a:t>
            </a:fld>
            <a:endParaRPr kumimoji="1" lang="ja-JP" altLang="en-US"/>
          </a:p>
        </p:txBody>
      </p:sp>
    </p:spTree>
    <p:extLst>
      <p:ext uri="{BB962C8B-B14F-4D97-AF65-F5344CB8AC3E}">
        <p14:creationId xmlns:p14="http://schemas.microsoft.com/office/powerpoint/2010/main" val="14853702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ltLang="ja-JP"/>
              <a:t>Sequence free tagging? </a:t>
            </a:r>
          </a:p>
        </p:txBody>
      </p:sp>
      <p:sp>
        <p:nvSpPr>
          <p:cNvPr id="3" name="コンテンツ プレースホルダー 2"/>
          <p:cNvSpPr>
            <a:spLocks noGrp="1"/>
          </p:cNvSpPr>
          <p:nvPr>
            <p:ph idx="1"/>
          </p:nvPr>
        </p:nvSpPr>
        <p:spPr/>
        <p:txBody>
          <a:bodyPr/>
          <a:lstStyle/>
          <a:p>
            <a:endParaRPr kumimoji="1" lang="ja-JP" altLang="en-US"/>
          </a:p>
        </p:txBody>
      </p:sp>
      <p:sp>
        <p:nvSpPr>
          <p:cNvPr id="70660" name="Text Box 4"/>
          <p:cNvSpPr txBox="1">
            <a:spLocks noChangeArrowheads="1"/>
          </p:cNvSpPr>
          <p:nvPr/>
        </p:nvSpPr>
        <p:spPr bwMode="auto">
          <a:xfrm>
            <a:off x="8048625" y="6553201"/>
            <a:ext cx="27318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400">
                <a:ea typeface="MS PGothic" panose="020B0600070205080204" pitchFamily="50" charset="-128"/>
              </a:rPr>
              <a:t>From Dan Klein’s cs 288 slides</a:t>
            </a:r>
          </a:p>
        </p:txBody>
      </p:sp>
      <p:pic>
        <p:nvPicPr>
          <p:cNvPr id="70661" name="Picture 5" descr="Snap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130" y="1825625"/>
            <a:ext cx="9015153" cy="4294060"/>
          </a:xfrm>
          <a:prstGeom prst="rect">
            <a:avLst/>
          </a:prstGeom>
          <a:noFill/>
          <a:extLst>
            <a:ext uri="{909E8E84-426E-40DD-AFC4-6F175D3DCCD1}">
              <a14:hiddenFill xmlns:a14="http://schemas.microsoft.com/office/drawing/2010/main">
                <a:solidFill>
                  <a:srgbClr val="FFFFFF"/>
                </a:solidFill>
              </a14:hiddenFill>
            </a:ext>
          </a:extLst>
        </p:spPr>
      </p:pic>
      <p:sp>
        <p:nvSpPr>
          <p:cNvPr id="4" name="スライド番号プレースホルダー 3"/>
          <p:cNvSpPr>
            <a:spLocks noGrp="1"/>
          </p:cNvSpPr>
          <p:nvPr>
            <p:ph type="sldNum" sz="quarter" idx="12"/>
          </p:nvPr>
        </p:nvSpPr>
        <p:spPr/>
        <p:txBody>
          <a:bodyPr/>
          <a:lstStyle/>
          <a:p>
            <a:fld id="{D098EA03-250D-4104-8890-E771F9AE47C9}" type="slidenum">
              <a:rPr kumimoji="1" lang="ja-JP" altLang="en-US" smtClean="0"/>
              <a:t>73</a:t>
            </a:fld>
            <a:endParaRPr kumimoji="1" lang="ja-JP" altLang="en-US"/>
          </a:p>
        </p:txBody>
      </p:sp>
    </p:spTree>
    <p:extLst>
      <p:ext uri="{BB962C8B-B14F-4D97-AF65-F5344CB8AC3E}">
        <p14:creationId xmlns:p14="http://schemas.microsoft.com/office/powerpoint/2010/main" val="36416281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ja-JP"/>
              <a:t>Sequence free tagging? </a:t>
            </a:r>
          </a:p>
        </p:txBody>
      </p:sp>
      <p:sp>
        <p:nvSpPr>
          <p:cNvPr id="4" name="コンテンツ プレースホルダー 3"/>
          <p:cNvSpPr>
            <a:spLocks noGrp="1"/>
          </p:cNvSpPr>
          <p:nvPr>
            <p:ph idx="1"/>
          </p:nvPr>
        </p:nvSpPr>
        <p:spPr>
          <a:xfrm>
            <a:off x="838200" y="5410199"/>
            <a:ext cx="10515600" cy="766763"/>
          </a:xfrm>
        </p:spPr>
        <p:txBody>
          <a:bodyPr>
            <a:normAutofit fontScale="85000" lnSpcReduction="10000"/>
          </a:bodyPr>
          <a:lstStyle/>
          <a:p>
            <a:r>
              <a:rPr lang="en-US" altLang="ja-JP" dirty="0">
                <a:ea typeface="MS PGothic" panose="020B0600070205080204" pitchFamily="50" charset="-128"/>
              </a:rPr>
              <a:t>Solution: maximum entropy sequence models (MEMMs- maximum entropy </a:t>
            </a:r>
            <a:r>
              <a:rPr lang="en-US" altLang="ja-JP" dirty="0" err="1">
                <a:ea typeface="MS PGothic" panose="020B0600070205080204" pitchFamily="50" charset="-128"/>
              </a:rPr>
              <a:t>markov</a:t>
            </a:r>
            <a:r>
              <a:rPr lang="en-US" altLang="ja-JP" dirty="0">
                <a:ea typeface="MS PGothic" panose="020B0600070205080204" pitchFamily="50" charset="-128"/>
              </a:rPr>
              <a:t> models, CRFs– conditional random fields)</a:t>
            </a:r>
          </a:p>
          <a:p>
            <a:endParaRPr kumimoji="1" lang="ja-JP" altLang="en-US" dirty="0"/>
          </a:p>
        </p:txBody>
      </p:sp>
      <p:sp>
        <p:nvSpPr>
          <p:cNvPr id="71684" name="Text Box 4"/>
          <p:cNvSpPr txBox="1">
            <a:spLocks noChangeArrowheads="1"/>
          </p:cNvSpPr>
          <p:nvPr/>
        </p:nvSpPr>
        <p:spPr bwMode="auto">
          <a:xfrm>
            <a:off x="8048625" y="6553201"/>
            <a:ext cx="27318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400">
                <a:ea typeface="MS PGothic" panose="020B0600070205080204" pitchFamily="50" charset="-128"/>
              </a:rPr>
              <a:t>From Dan Klein’s cs 288 slides</a:t>
            </a:r>
          </a:p>
        </p:txBody>
      </p:sp>
      <p:pic>
        <p:nvPicPr>
          <p:cNvPr id="71686" name="Picture 6" descr="Snap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1" y="1412080"/>
            <a:ext cx="6981825" cy="3810000"/>
          </a:xfrm>
          <a:prstGeom prst="rect">
            <a:avLst/>
          </a:prstGeom>
          <a:noFill/>
          <a:extLst>
            <a:ext uri="{909E8E84-426E-40DD-AFC4-6F175D3DCCD1}">
              <a14:hiddenFill xmlns:a14="http://schemas.microsoft.com/office/drawing/2010/main">
                <a:solidFill>
                  <a:srgbClr val="FFFFFF"/>
                </a:solidFill>
              </a14:hiddenFill>
            </a:ext>
          </a:extLst>
        </p:spPr>
      </p:pic>
      <p:sp>
        <p:nvSpPr>
          <p:cNvPr id="5" name="スライド番号プレースホルダー 4"/>
          <p:cNvSpPr>
            <a:spLocks noGrp="1"/>
          </p:cNvSpPr>
          <p:nvPr>
            <p:ph type="sldNum" sz="quarter" idx="12"/>
          </p:nvPr>
        </p:nvSpPr>
        <p:spPr/>
        <p:txBody>
          <a:bodyPr/>
          <a:lstStyle/>
          <a:p>
            <a:fld id="{D098EA03-250D-4104-8890-E771F9AE47C9}" type="slidenum">
              <a:rPr kumimoji="1" lang="ja-JP" altLang="en-US" smtClean="0"/>
              <a:t>74</a:t>
            </a:fld>
            <a:endParaRPr kumimoji="1" lang="ja-JP" altLang="en-US"/>
          </a:p>
        </p:txBody>
      </p:sp>
    </p:spTree>
    <p:extLst>
      <p:ext uri="{BB962C8B-B14F-4D97-AF65-F5344CB8AC3E}">
        <p14:creationId xmlns:p14="http://schemas.microsoft.com/office/powerpoint/2010/main" val="20144297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ltLang="ja-JP"/>
              <a:t>Rule-Based Tagger</a:t>
            </a:r>
          </a:p>
        </p:txBody>
      </p:sp>
      <p:sp>
        <p:nvSpPr>
          <p:cNvPr id="72707" name="Rectangle 3"/>
          <p:cNvSpPr>
            <a:spLocks noGrp="1" noChangeArrowheads="1"/>
          </p:cNvSpPr>
          <p:nvPr>
            <p:ph idx="1"/>
          </p:nvPr>
        </p:nvSpPr>
        <p:spPr/>
        <p:txBody>
          <a:bodyPr/>
          <a:lstStyle/>
          <a:p>
            <a:r>
              <a:rPr lang="en-US" altLang="ja-JP" dirty="0"/>
              <a:t>The Linguistic Complaint</a:t>
            </a:r>
          </a:p>
          <a:p>
            <a:pPr lvl="1"/>
            <a:r>
              <a:rPr lang="en-US" altLang="ja-JP" dirty="0"/>
              <a:t>Where is the linguistic knowledge of a tagger?</a:t>
            </a:r>
          </a:p>
          <a:p>
            <a:pPr lvl="1"/>
            <a:r>
              <a:rPr lang="en-US" altLang="ja-JP" dirty="0"/>
              <a:t>Just massive tables of numbers</a:t>
            </a:r>
          </a:p>
          <a:p>
            <a:pPr lvl="1"/>
            <a:r>
              <a:rPr lang="en-US" altLang="ja-JP" dirty="0"/>
              <a:t>Aren’t there any linguistic insights that could emerge from the data?</a:t>
            </a:r>
          </a:p>
          <a:p>
            <a:pPr lvl="1"/>
            <a:r>
              <a:rPr lang="en-US" altLang="ja-JP" dirty="0"/>
              <a:t>Could thus use handcrafted sets of rules to tag input sentences, for example, if input follows a determiner tag it as a noun.</a:t>
            </a:r>
          </a:p>
          <a:p>
            <a:pPr lvl="1"/>
            <a:endParaRPr lang="en-US" altLang="ja-JP" dirty="0"/>
          </a:p>
        </p:txBody>
      </p:sp>
      <p:sp>
        <p:nvSpPr>
          <p:cNvPr id="6" name="スライド番号プレースホルダー 5"/>
          <p:cNvSpPr>
            <a:spLocks noGrp="1"/>
          </p:cNvSpPr>
          <p:nvPr>
            <p:ph type="sldNum" sz="quarter" idx="12"/>
          </p:nvPr>
        </p:nvSpPr>
        <p:spPr/>
        <p:txBody>
          <a:bodyPr/>
          <a:lstStyle/>
          <a:p>
            <a:fld id="{DE90E56C-37BC-4AC8-83B4-3160FFF0EE7E}" type="slidenum">
              <a:rPr lang="en-US" altLang="ja-JP" smtClean="0"/>
              <a:pPr/>
              <a:t>75</a:t>
            </a:fld>
            <a:endParaRPr lang="en-US" altLang="ja-JP"/>
          </a:p>
        </p:txBody>
      </p:sp>
      <p:graphicFrame>
        <p:nvGraphicFramePr>
          <p:cNvPr id="13" name="Object 4"/>
          <p:cNvGraphicFramePr>
            <a:graphicFrameLocks noChangeAspect="1"/>
          </p:cNvGraphicFramePr>
          <p:nvPr/>
        </p:nvGraphicFramePr>
        <p:xfrm>
          <a:off x="6234545" y="2648989"/>
          <a:ext cx="2286000" cy="401638"/>
        </p:xfrm>
        <a:graphic>
          <a:graphicData uri="http://schemas.openxmlformats.org/presentationml/2006/ole">
            <mc:AlternateContent xmlns:mc="http://schemas.openxmlformats.org/markup-compatibility/2006">
              <mc:Choice xmlns:v="urn:schemas-microsoft-com:vml" Requires="v">
                <p:oleObj name="Equation" r:id="rId3" imgW="1155600" imgH="203040" progId="Equation.3">
                  <p:embed/>
                </p:oleObj>
              </mc:Choice>
              <mc:Fallback>
                <p:oleObj name="Equation" r:id="rId3" imgW="1155600" imgH="203040" progId="Equation.3">
                  <p:embed/>
                  <p:pic>
                    <p:nvPicPr>
                      <p:cNvPr id="1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4545" y="2648989"/>
                        <a:ext cx="2286000" cy="40163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6872165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altLang="ja-JP" dirty="0"/>
              <a:t>The Brill tagger</a:t>
            </a:r>
            <a:br>
              <a:rPr lang="en-US" altLang="ja-JP" dirty="0"/>
            </a:br>
            <a:r>
              <a:rPr lang="en-US" altLang="ja-JP" sz="2800" dirty="0"/>
              <a:t>(transformation-based tagger)</a:t>
            </a:r>
          </a:p>
        </p:txBody>
      </p:sp>
      <p:sp>
        <p:nvSpPr>
          <p:cNvPr id="73731" name="Rectangle 3"/>
          <p:cNvSpPr>
            <a:spLocks noGrp="1" noChangeArrowheads="1"/>
          </p:cNvSpPr>
          <p:nvPr>
            <p:ph type="body" idx="1"/>
          </p:nvPr>
        </p:nvSpPr>
        <p:spPr/>
        <p:txBody>
          <a:bodyPr/>
          <a:lstStyle/>
          <a:p>
            <a:r>
              <a:rPr lang="en-US" altLang="ja-JP" dirty="0"/>
              <a:t>An example of Transformation-Based Learning </a:t>
            </a:r>
          </a:p>
          <a:p>
            <a:pPr lvl="1"/>
            <a:r>
              <a:rPr lang="en-US" altLang="ja-JP" dirty="0"/>
              <a:t>Basic idea: do a quick job first (using frequency), then revise it using contextual rules.</a:t>
            </a:r>
          </a:p>
          <a:p>
            <a:r>
              <a:rPr lang="en-US" altLang="ja-JP" dirty="0"/>
              <a:t>Very popular (freely available, works fairly well)</a:t>
            </a:r>
          </a:p>
          <a:p>
            <a:pPr lvl="1"/>
            <a:r>
              <a:rPr lang="en-US" altLang="ja-JP" dirty="0"/>
              <a:t>Probably the most widely used tagger (esp. outside NLP)</a:t>
            </a:r>
          </a:p>
          <a:p>
            <a:pPr lvl="1"/>
            <a:r>
              <a:rPr lang="en-US" altLang="ja-JP" dirty="0"/>
              <a:t>…. but not the most accurate: 96.6% (for</a:t>
            </a:r>
            <a:r>
              <a:rPr lang="ja-JP" altLang="en-US" dirty="0"/>
              <a:t> </a:t>
            </a:r>
            <a:r>
              <a:rPr lang="en-US" altLang="ja-JP" dirty="0"/>
              <a:t>same</a:t>
            </a:r>
            <a:r>
              <a:rPr lang="ja-JP" altLang="en-US" dirty="0"/>
              <a:t> </a:t>
            </a:r>
            <a:r>
              <a:rPr lang="en-US" altLang="ja-JP" dirty="0"/>
              <a:t>category)/ 82.0 % (general)</a:t>
            </a:r>
          </a:p>
          <a:p>
            <a:r>
              <a:rPr lang="en-US" altLang="ja-JP" dirty="0"/>
              <a:t>A supervised method: requires a tagged corpus</a:t>
            </a:r>
          </a:p>
          <a:p>
            <a:endParaRPr lang="en-US" altLang="ja-JP" dirty="0"/>
          </a:p>
        </p:txBody>
      </p:sp>
      <p:sp>
        <p:nvSpPr>
          <p:cNvPr id="5" name="スライド番号プレースホルダー 4"/>
          <p:cNvSpPr>
            <a:spLocks noGrp="1"/>
          </p:cNvSpPr>
          <p:nvPr>
            <p:ph type="sldNum" sz="quarter" idx="12"/>
          </p:nvPr>
        </p:nvSpPr>
        <p:spPr/>
        <p:txBody>
          <a:bodyPr/>
          <a:lstStyle/>
          <a:p>
            <a:fld id="{FBF939A7-3E2E-4827-A1F3-5A006D6DECE8}" type="slidenum">
              <a:rPr lang="en-US" altLang="ja-JP" smtClean="0"/>
              <a:pPr/>
              <a:t>76</a:t>
            </a:fld>
            <a:endParaRPr lang="en-US" altLang="ja-JP"/>
          </a:p>
        </p:txBody>
      </p:sp>
    </p:spTree>
    <p:extLst>
      <p:ext uri="{BB962C8B-B14F-4D97-AF65-F5344CB8AC3E}">
        <p14:creationId xmlns:p14="http://schemas.microsoft.com/office/powerpoint/2010/main" val="34560392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ja-JP"/>
              <a:t>Brill Tagging: In more detail</a:t>
            </a:r>
          </a:p>
        </p:txBody>
      </p:sp>
      <p:sp>
        <p:nvSpPr>
          <p:cNvPr id="3" name="コンテンツ プレースホルダー 2"/>
          <p:cNvSpPr>
            <a:spLocks noGrp="1"/>
          </p:cNvSpPr>
          <p:nvPr>
            <p:ph idx="1"/>
          </p:nvPr>
        </p:nvSpPr>
        <p:spPr/>
        <p:txBody>
          <a:bodyPr/>
          <a:lstStyle/>
          <a:p>
            <a:r>
              <a:rPr lang="en-US" altLang="ja-JP" dirty="0">
                <a:ea typeface="MS PGothic" panose="020B0600070205080204" pitchFamily="50" charset="-128"/>
              </a:rPr>
              <a:t>Start with simple (less accurate) rules…learn better ones from tagged corpus</a:t>
            </a:r>
          </a:p>
          <a:p>
            <a:pPr lvl="1"/>
            <a:r>
              <a:rPr lang="en-US" altLang="ja-JP" dirty="0">
                <a:ea typeface="MS PGothic" panose="020B0600070205080204" pitchFamily="50" charset="-128"/>
              </a:rPr>
              <a:t>Tag each word initially with most likely POS</a:t>
            </a:r>
          </a:p>
          <a:p>
            <a:pPr lvl="1"/>
            <a:r>
              <a:rPr lang="en-US" altLang="ja-JP" dirty="0">
                <a:ea typeface="MS PGothic" panose="020B0600070205080204" pitchFamily="50" charset="-128"/>
              </a:rPr>
              <a:t>Examine set of </a:t>
            </a:r>
            <a:r>
              <a:rPr lang="en-US" altLang="ja-JP" dirty="0">
                <a:solidFill>
                  <a:srgbClr val="6600CC"/>
                </a:solidFill>
                <a:ea typeface="MS PGothic" panose="020B0600070205080204" pitchFamily="50" charset="-128"/>
              </a:rPr>
              <a:t>transformations</a:t>
            </a:r>
            <a:r>
              <a:rPr lang="en-US" altLang="ja-JP" dirty="0">
                <a:solidFill>
                  <a:schemeClr val="accent1"/>
                </a:solidFill>
                <a:ea typeface="MS PGothic" panose="020B0600070205080204" pitchFamily="50" charset="-128"/>
              </a:rPr>
              <a:t> </a:t>
            </a:r>
            <a:r>
              <a:rPr lang="en-US" altLang="ja-JP" dirty="0">
                <a:ea typeface="MS PGothic" panose="020B0600070205080204" pitchFamily="50" charset="-128"/>
              </a:rPr>
              <a:t>to see which improves tagging decisions compared to tagged corpus </a:t>
            </a:r>
          </a:p>
          <a:p>
            <a:pPr lvl="1"/>
            <a:r>
              <a:rPr lang="en-US" altLang="ja-JP" dirty="0">
                <a:ea typeface="MS PGothic" panose="020B0600070205080204" pitchFamily="50" charset="-128"/>
              </a:rPr>
              <a:t>Re-tag corpus using best transformation</a:t>
            </a:r>
          </a:p>
          <a:p>
            <a:pPr lvl="1"/>
            <a:r>
              <a:rPr lang="en-US" altLang="ja-JP" dirty="0">
                <a:ea typeface="MS PGothic" panose="020B0600070205080204" pitchFamily="50" charset="-128"/>
              </a:rPr>
              <a:t>Repeat until, e.g., performance doesn’t improve</a:t>
            </a:r>
          </a:p>
          <a:p>
            <a:pPr lvl="1"/>
            <a:r>
              <a:rPr lang="en-US" altLang="ja-JP" dirty="0">
                <a:ea typeface="MS PGothic" panose="020B0600070205080204" pitchFamily="50" charset="-128"/>
              </a:rPr>
              <a:t>Result: tagging procedure (ordered list of transformations) which can be applied to new, untagged text</a:t>
            </a:r>
          </a:p>
          <a:p>
            <a:endParaRPr kumimoji="1" lang="ja-JP" altLang="en-US" dirty="0"/>
          </a:p>
        </p:txBody>
      </p:sp>
      <p:sp>
        <p:nvSpPr>
          <p:cNvPr id="4" name="スライド番号プレースホルダー 3"/>
          <p:cNvSpPr>
            <a:spLocks noGrp="1"/>
          </p:cNvSpPr>
          <p:nvPr>
            <p:ph type="sldNum" sz="quarter" idx="12"/>
          </p:nvPr>
        </p:nvSpPr>
        <p:spPr/>
        <p:txBody>
          <a:bodyPr/>
          <a:lstStyle/>
          <a:p>
            <a:fld id="{D098EA03-250D-4104-8890-E771F9AE47C9}" type="slidenum">
              <a:rPr kumimoji="1" lang="ja-JP" altLang="en-US" smtClean="0"/>
              <a:t>77</a:t>
            </a:fld>
            <a:endParaRPr kumimoji="1" lang="ja-JP" altLang="en-US"/>
          </a:p>
        </p:txBody>
      </p:sp>
    </p:spTree>
    <p:extLst>
      <p:ext uri="{BB962C8B-B14F-4D97-AF65-F5344CB8AC3E}">
        <p14:creationId xmlns:p14="http://schemas.microsoft.com/office/powerpoint/2010/main" val="35014594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0769A4-513D-F0D1-B237-A0DD5256E4E2}"/>
              </a:ext>
            </a:extLst>
          </p:cNvPr>
          <p:cNvSpPr>
            <a:spLocks noGrp="1"/>
          </p:cNvSpPr>
          <p:nvPr>
            <p:ph type="title"/>
          </p:nvPr>
        </p:nvSpPr>
        <p:spPr/>
        <p:txBody>
          <a:bodyPr/>
          <a:lstStyle/>
          <a:p>
            <a:r>
              <a:rPr kumimoji="1" lang="en-US" altLang="ja-JP" dirty="0"/>
              <a:t>Conclusion</a:t>
            </a:r>
            <a:endParaRPr kumimoji="1" lang="ja-JP" altLang="en-US" dirty="0"/>
          </a:p>
        </p:txBody>
      </p:sp>
      <p:sp>
        <p:nvSpPr>
          <p:cNvPr id="3" name="コンテンツ プレースホルダー 2">
            <a:extLst>
              <a:ext uri="{FF2B5EF4-FFF2-40B4-BE49-F238E27FC236}">
                <a16:creationId xmlns:a16="http://schemas.microsoft.com/office/drawing/2014/main" id="{099890E3-78F4-0276-408F-BA89B4B2987D}"/>
              </a:ext>
            </a:extLst>
          </p:cNvPr>
          <p:cNvSpPr>
            <a:spLocks noGrp="1"/>
          </p:cNvSpPr>
          <p:nvPr>
            <p:ph idx="1"/>
          </p:nvPr>
        </p:nvSpPr>
        <p:spPr/>
        <p:txBody>
          <a:bodyPr>
            <a:normAutofit/>
          </a:bodyPr>
          <a:lstStyle/>
          <a:p>
            <a:r>
              <a:rPr kumimoji="1" lang="en-US" altLang="ja-JP" dirty="0"/>
              <a:t>Google </a:t>
            </a:r>
            <a:r>
              <a:rPr kumimoji="1" lang="en-US" altLang="ja-JP" dirty="0" err="1"/>
              <a:t>Colab</a:t>
            </a:r>
            <a:r>
              <a:rPr kumimoji="1" lang="en-US" altLang="ja-JP" dirty="0"/>
              <a:t> </a:t>
            </a:r>
            <a:r>
              <a:rPr lang="en-US" altLang="ja-JP" dirty="0"/>
              <a:t>was installed NLTK, and you can use it now!</a:t>
            </a:r>
          </a:p>
          <a:p>
            <a:r>
              <a:rPr kumimoji="1" lang="en-US" altLang="ja-JP" dirty="0"/>
              <a:t>NLP Features:</a:t>
            </a:r>
          </a:p>
          <a:p>
            <a:pPr lvl="1"/>
            <a:r>
              <a:rPr kumimoji="1" lang="en-US" altLang="ja-JP" dirty="0"/>
              <a:t>Character (stream) </a:t>
            </a:r>
          </a:p>
          <a:p>
            <a:pPr lvl="1"/>
            <a:r>
              <a:rPr lang="en-US" altLang="ja-JP" dirty="0"/>
              <a:t>Word token (stream)</a:t>
            </a:r>
          </a:p>
          <a:p>
            <a:pPr lvl="1"/>
            <a:r>
              <a:rPr lang="en-US" altLang="ja-JP" dirty="0"/>
              <a:t>Collocation/</a:t>
            </a:r>
            <a:r>
              <a:rPr lang="en-US" altLang="ja-JP" dirty="0" err="1"/>
              <a:t>Cooccuration</a:t>
            </a:r>
            <a:endParaRPr lang="en-US" altLang="ja-JP" dirty="0"/>
          </a:p>
          <a:p>
            <a:pPr lvl="1"/>
            <a:r>
              <a:rPr lang="en-US" altLang="ja-JP" dirty="0"/>
              <a:t>Word Count / Frequency</a:t>
            </a:r>
          </a:p>
          <a:p>
            <a:pPr lvl="1"/>
            <a:r>
              <a:rPr lang="en-US" altLang="ja-JP" dirty="0"/>
              <a:t>Collocation/</a:t>
            </a:r>
            <a:r>
              <a:rPr lang="en-US" altLang="ja-JP" dirty="0" err="1"/>
              <a:t>Cooccuration</a:t>
            </a:r>
            <a:r>
              <a:rPr lang="en-US" altLang="ja-JP" dirty="0"/>
              <a:t> Frequency (Dependency)</a:t>
            </a:r>
          </a:p>
          <a:p>
            <a:pPr lvl="2"/>
            <a:r>
              <a:rPr kumimoji="1" lang="en-US" altLang="ja-JP" dirty="0"/>
              <a:t>N-Gram/Markov Chain</a:t>
            </a:r>
          </a:p>
          <a:p>
            <a:pPr lvl="1"/>
            <a:r>
              <a:rPr lang="en-US" altLang="ja-JP" dirty="0"/>
              <a:t>Meta-information (Tag, POS, etc.)</a:t>
            </a:r>
            <a:endParaRPr kumimoji="1" lang="en-US" altLang="ja-JP" dirty="0"/>
          </a:p>
          <a:p>
            <a:endParaRPr kumimoji="1" lang="ja-JP" altLang="en-US" dirty="0"/>
          </a:p>
        </p:txBody>
      </p:sp>
    </p:spTree>
    <p:extLst>
      <p:ext uri="{BB962C8B-B14F-4D97-AF65-F5344CB8AC3E}">
        <p14:creationId xmlns:p14="http://schemas.microsoft.com/office/powerpoint/2010/main" val="2329590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53.5|5.3"/>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7671</Words>
  <Application>Microsoft Office PowerPoint</Application>
  <PresentationFormat>ワイド画面</PresentationFormat>
  <Paragraphs>836</Paragraphs>
  <Slides>78</Slides>
  <Notes>41</Notes>
  <HiddenSlides>0</HiddenSlides>
  <MMClips>0</MMClips>
  <ScaleCrop>false</ScaleCrop>
  <HeadingPairs>
    <vt:vector size="8" baseType="variant">
      <vt:variant>
        <vt:lpstr>使用されているフォント</vt:lpstr>
      </vt:variant>
      <vt:variant>
        <vt:i4>10</vt:i4>
      </vt:variant>
      <vt:variant>
        <vt:lpstr>テーマ</vt:lpstr>
      </vt:variant>
      <vt:variant>
        <vt:i4>1</vt:i4>
      </vt:variant>
      <vt:variant>
        <vt:lpstr>埋め込まれた OLE サーバー</vt:lpstr>
      </vt:variant>
      <vt:variant>
        <vt:i4>2</vt:i4>
      </vt:variant>
      <vt:variant>
        <vt:lpstr>スライド タイトル</vt:lpstr>
      </vt:variant>
      <vt:variant>
        <vt:i4>78</vt:i4>
      </vt:variant>
    </vt:vector>
  </HeadingPairs>
  <TitlesOfParts>
    <vt:vector size="91" baseType="lpstr">
      <vt:lpstr>ＭＳ Ｐゴシック</vt:lpstr>
      <vt:lpstr>ＭＳ Ｐゴシック</vt:lpstr>
      <vt:lpstr>游ゴシック</vt:lpstr>
      <vt:lpstr>游ゴシック Light</vt:lpstr>
      <vt:lpstr>Arial</vt:lpstr>
      <vt:lpstr>Courier New</vt:lpstr>
      <vt:lpstr>Times</vt:lpstr>
      <vt:lpstr>Times New Roman</vt:lpstr>
      <vt:lpstr>Verdana</vt:lpstr>
      <vt:lpstr>Wingdings</vt:lpstr>
      <vt:lpstr>Office テーマ</vt:lpstr>
      <vt:lpstr>数式</vt:lpstr>
      <vt:lpstr>Equation</vt:lpstr>
      <vt:lpstr>NLTK Tutorial and NLP Features</vt:lpstr>
      <vt:lpstr>Coding Environment</vt:lpstr>
      <vt:lpstr>Google Colab and NLTK</vt:lpstr>
      <vt:lpstr>Google Colab and NLTK</vt:lpstr>
      <vt:lpstr>nltk.Text (Class)</vt:lpstr>
      <vt:lpstr>Collocation</vt:lpstr>
      <vt:lpstr>Concordance</vt:lpstr>
      <vt:lpstr>Count, Dispersion</vt:lpstr>
      <vt:lpstr>Similar</vt:lpstr>
      <vt:lpstr>Document Feature (List/set)</vt:lpstr>
      <vt:lpstr>PowerPoint プレゼンテーション</vt:lpstr>
      <vt:lpstr>Lexical Diversity</vt:lpstr>
      <vt:lpstr>Document Processing: List Operation</vt:lpstr>
      <vt:lpstr>Document Processing: List Operation</vt:lpstr>
      <vt:lpstr>Statistic Feature on Document</vt:lpstr>
      <vt:lpstr>Statistic Feature on Document</vt:lpstr>
      <vt:lpstr>Statistic Feature on Document</vt:lpstr>
      <vt:lpstr>Word Search using set theory</vt:lpstr>
      <vt:lpstr>Features</vt:lpstr>
      <vt:lpstr>Feature terminology</vt:lpstr>
      <vt:lpstr>Feature Types</vt:lpstr>
      <vt:lpstr>Feature Types</vt:lpstr>
      <vt:lpstr>Feature selection</vt:lpstr>
      <vt:lpstr>Feature selection</vt:lpstr>
      <vt:lpstr>Feature selection</vt:lpstr>
      <vt:lpstr>NLP Feature</vt:lpstr>
      <vt:lpstr>Feature: Character</vt:lpstr>
      <vt:lpstr>Feature: Word tokens</vt:lpstr>
      <vt:lpstr>Bag-of-Words</vt:lpstr>
      <vt:lpstr>The NLP Pipeline</vt:lpstr>
      <vt:lpstr>Stemming</vt:lpstr>
      <vt:lpstr>Text Normalization</vt:lpstr>
      <vt:lpstr>Lemmatization</vt:lpstr>
      <vt:lpstr>Tokenization</vt:lpstr>
      <vt:lpstr>Tokenization</vt:lpstr>
      <vt:lpstr>Segmentation</vt:lpstr>
      <vt:lpstr>Sentence Segmentation</vt:lpstr>
      <vt:lpstr>Feature: Word Token Frequency tf*idf weighting schema</vt:lpstr>
      <vt:lpstr>Feature: Collocations/Cooccurences</vt:lpstr>
      <vt:lpstr>Collocations</vt:lpstr>
      <vt:lpstr>Subclasses of collocations</vt:lpstr>
      <vt:lpstr>Finding collocations</vt:lpstr>
      <vt:lpstr>Finding collocations</vt:lpstr>
      <vt:lpstr>Cooccuration - Concordancer</vt:lpstr>
      <vt:lpstr>Cooccuration Matrix</vt:lpstr>
      <vt:lpstr>Collocation + Frequency =  Language Models</vt:lpstr>
      <vt:lpstr>Probabilistic Language Models</vt:lpstr>
      <vt:lpstr>Language Models</vt:lpstr>
      <vt:lpstr>Language Models</vt:lpstr>
      <vt:lpstr>Markov assumption: n-gram solution</vt:lpstr>
      <vt:lpstr> n-gram: Unigrams (n = 1)</vt:lpstr>
      <vt:lpstr> n-gram: Bigrams (n = 2)</vt:lpstr>
      <vt:lpstr> n-gram: Trigrams (n = 3)</vt:lpstr>
      <vt:lpstr>Choice of n</vt:lpstr>
      <vt:lpstr>Discrimination vs. Reliability</vt:lpstr>
      <vt:lpstr>Language Models</vt:lpstr>
      <vt:lpstr>Feature: Meta Information</vt:lpstr>
      <vt:lpstr>POS Disambiguation</vt:lpstr>
      <vt:lpstr>POS Disambiguation</vt:lpstr>
      <vt:lpstr>Choosing a tagset</vt:lpstr>
      <vt:lpstr>Some of the best-known Tagsets</vt:lpstr>
      <vt:lpstr>Tagging methods</vt:lpstr>
      <vt:lpstr>Hand-coded Tagger</vt:lpstr>
      <vt:lpstr>Unigram Tagger</vt:lpstr>
      <vt:lpstr>Unigram Tagger</vt:lpstr>
      <vt:lpstr>N-Gram Tagging</vt:lpstr>
      <vt:lpstr>N-Gram Tagging</vt:lpstr>
      <vt:lpstr>N-Gram Tagging</vt:lpstr>
      <vt:lpstr>Markov Model Tagger</vt:lpstr>
      <vt:lpstr>Markov Model Tagger</vt:lpstr>
      <vt:lpstr>Markov Model Tagger Training</vt:lpstr>
      <vt:lpstr>Markov Model Tagger Estimation</vt:lpstr>
      <vt:lpstr>Sequence free tagging? </vt:lpstr>
      <vt:lpstr>Sequence free tagging? </vt:lpstr>
      <vt:lpstr>Rule-Based Tagger</vt:lpstr>
      <vt:lpstr>The Brill tagger (transformation-based tagger)</vt:lpstr>
      <vt:lpstr>Brill Tagging: In more detail</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矢口勇一</dc:creator>
  <cp:lastModifiedBy>矢口勇一</cp:lastModifiedBy>
  <cp:revision>1</cp:revision>
  <dcterms:created xsi:type="dcterms:W3CDTF">2024-10-06T09:31:26Z</dcterms:created>
  <dcterms:modified xsi:type="dcterms:W3CDTF">2024-10-06T11:53:26Z</dcterms:modified>
</cp:coreProperties>
</file>